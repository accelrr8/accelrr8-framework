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1" r:id="rId1"/>
  </p:sldMasterIdLst>
  <p:notesMasterIdLst>
    <p:notesMasterId r:id="rId14"/>
  </p:notesMasterIdLst>
  <p:sldIdLst>
    <p:sldId id="256" r:id="rId2"/>
    <p:sldId id="429" r:id="rId3"/>
    <p:sldId id="291" r:id="rId4"/>
    <p:sldId id="434" r:id="rId5"/>
    <p:sldId id="428" r:id="rId6"/>
    <p:sldId id="433" r:id="rId7"/>
    <p:sldId id="422" r:id="rId8"/>
    <p:sldId id="423" r:id="rId9"/>
    <p:sldId id="431" r:id="rId10"/>
    <p:sldId id="432" r:id="rId11"/>
    <p:sldId id="424" r:id="rId12"/>
    <p:sldId id="419" r:id="rId13"/>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r:id="rId23" roundtripDataSignature="AMtx7mhwEp+Eio5qReXqYqUwMP31HB0A8A=="/>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00"/>
    <a:srgbClr val="00B050"/>
    <a:srgbClr val="FFFFFF"/>
    <a:srgbClr val="ED7D31"/>
    <a:srgbClr val="282828"/>
    <a:srgbClr val="F2F2F2"/>
    <a:srgbClr val="4472C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6489"/>
    <p:restoredTop sz="87008"/>
  </p:normalViewPr>
  <p:slideViewPr>
    <p:cSldViewPr snapToGrid="0">
      <p:cViewPr varScale="1">
        <p:scale>
          <a:sx n="123" d="100"/>
          <a:sy n="123" d="100"/>
        </p:scale>
        <p:origin x="1616"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26"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5"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23" Type="http://customschemas.google.com/relationships/presentationmetadata" Target="metadata"/><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Google Shape;87;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 name="Google Shape;88;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sz="1100" b="0" i="0" u="none" strike="noStrike" cap="none" dirty="0">
                <a:solidFill>
                  <a:srgbClr val="000000"/>
                </a:solidFill>
                <a:effectLst/>
                <a:latin typeface="Arial"/>
                <a:ea typeface="Arial"/>
                <a:cs typeface="Arial"/>
                <a:sym typeface="Arial"/>
              </a:rPr>
              <a:t>The AccelRR8 Framework is the conceptual foundation for the AccelRR8 Consortium Non-Profit. </a:t>
            </a:r>
          </a:p>
          <a:p>
            <a:r>
              <a:rPr lang="en-US" sz="1100" b="0" i="0" u="none" strike="noStrike" cap="none" dirty="0">
                <a:solidFill>
                  <a:srgbClr val="000000"/>
                </a:solidFill>
                <a:effectLst/>
                <a:latin typeface="Arial"/>
                <a:ea typeface="Arial"/>
                <a:cs typeface="Arial"/>
                <a:sym typeface="Arial"/>
              </a:rPr>
              <a:t>It is an actionable tool that helps IT Services leaders use proven methods to generate exponentially better products, services, financials, and inspiration in complex, large scale enterprises and ecosystems.</a:t>
            </a:r>
          </a:p>
          <a:p>
            <a:r>
              <a:rPr lang="en-US" sz="1100" b="0" i="0" u="none" strike="noStrike" cap="none" dirty="0">
                <a:solidFill>
                  <a:srgbClr val="000000"/>
                </a:solidFill>
                <a:effectLst/>
                <a:latin typeface="Arial"/>
                <a:ea typeface="Arial"/>
                <a:cs typeface="Arial"/>
                <a:sym typeface="Arial"/>
              </a:rPr>
              <a:t>We imagine the AccelRR8 Framework as an engine leaders can use to rocket to their aspirations. A rocket applies a force to its payload while it burns, accelerating its velocity faster and faster, and lifting it exponentially higher and higher off the ground.</a:t>
            </a:r>
          </a:p>
          <a:p>
            <a:r>
              <a:rPr lang="en-US" sz="1100" b="0" i="0" u="none" strike="noStrike" cap="none" dirty="0">
                <a:solidFill>
                  <a:srgbClr val="000000"/>
                </a:solidFill>
                <a:effectLst/>
                <a:latin typeface="Arial"/>
                <a:ea typeface="Arial"/>
                <a:cs typeface="Arial"/>
                <a:sym typeface="Arial"/>
              </a:rPr>
              <a:t>Like a rocket, the AccelRR8 Framework is packed with accelerators. Strap it to your change initiative and watch its velocity accelerate and its benefits climb exponentially higher.</a:t>
            </a:r>
          </a:p>
        </p:txBody>
      </p:sp>
    </p:spTree>
    <p:extLst>
      <p:ext uri="{BB962C8B-B14F-4D97-AF65-F5344CB8AC3E}">
        <p14:creationId xmlns:p14="http://schemas.microsoft.com/office/powerpoint/2010/main" val="263437027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a:extLst>
            <a:ext uri="{FF2B5EF4-FFF2-40B4-BE49-F238E27FC236}">
              <a16:creationId xmlns:a16="http://schemas.microsoft.com/office/drawing/2014/main" id="{EF45E209-6819-402D-B684-DBB910D097E8}"/>
            </a:ext>
          </a:extLst>
        </p:cNvPr>
        <p:cNvGrpSpPr/>
        <p:nvPr/>
      </p:nvGrpSpPr>
      <p:grpSpPr>
        <a:xfrm>
          <a:off x="0" y="0"/>
          <a:ext cx="0" cy="0"/>
          <a:chOff x="0" y="0"/>
          <a:chExt cx="0" cy="0"/>
        </a:xfrm>
      </p:grpSpPr>
      <p:sp>
        <p:nvSpPr>
          <p:cNvPr id="93" name="Google Shape;93;p2:notes">
            <a:extLst>
              <a:ext uri="{FF2B5EF4-FFF2-40B4-BE49-F238E27FC236}">
                <a16:creationId xmlns:a16="http://schemas.microsoft.com/office/drawing/2014/main" id="{7DF86E51-DD90-F58E-917A-78A0D35A8DC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dirty="0"/>
              <a:t>The AccelRR8 Consortium’s </a:t>
            </a:r>
            <a:r>
              <a:rPr lang="en-US" sz="1100" b="0" i="0" u="none" strike="noStrike" cap="none" dirty="0">
                <a:solidFill>
                  <a:srgbClr val="000000"/>
                </a:solidFill>
                <a:effectLst/>
                <a:latin typeface="Arial"/>
                <a:ea typeface="Arial"/>
                <a:cs typeface="Arial"/>
                <a:sym typeface="Arial"/>
              </a:rPr>
              <a:t>Mission is to help enterprising Tech Services industry leaders harness proven accelerators to grow value exponentially at scale</a:t>
            </a:r>
          </a:p>
          <a:p>
            <a:r>
              <a:rPr lang="en-US" sz="1100" b="0" i="0" u="none" strike="noStrike" cap="none" dirty="0">
                <a:solidFill>
                  <a:srgbClr val="000000"/>
                </a:solidFill>
                <a:effectLst/>
                <a:latin typeface="Arial"/>
                <a:ea typeface="Arial"/>
                <a:cs typeface="Arial"/>
                <a:sym typeface="Arial"/>
              </a:rPr>
              <a:t>Therefore, our entire Consortium revolves around our Center of Gravity, which is the set of proven accelerators that make it mathematically feasible to grow value exponentially</a:t>
            </a:r>
          </a:p>
          <a:p>
            <a:r>
              <a:rPr lang="en-US" sz="1100" b="0" i="0" u="none" strike="noStrike" cap="none" dirty="0">
                <a:solidFill>
                  <a:srgbClr val="000000"/>
                </a:solidFill>
                <a:effectLst/>
                <a:latin typeface="Arial"/>
                <a:ea typeface="Arial"/>
                <a:cs typeface="Arial"/>
                <a:sym typeface="Arial"/>
              </a:rPr>
              <a:t>So far, our research has isolated five proven accelerators; we’ll incorporate others (if any) as we identify them</a:t>
            </a:r>
          </a:p>
          <a:p>
            <a:pPr marL="0" lvl="0" indent="0" algn="l" rtl="0">
              <a:spcBef>
                <a:spcPts val="0"/>
              </a:spcBef>
              <a:spcAft>
                <a:spcPts val="0"/>
              </a:spcAft>
              <a:buNone/>
            </a:pPr>
            <a:r>
              <a:rPr lang="en-US" dirty="0"/>
              <a:t> </a:t>
            </a:r>
            <a:endParaRPr dirty="0"/>
          </a:p>
        </p:txBody>
      </p:sp>
      <p:sp>
        <p:nvSpPr>
          <p:cNvPr id="94" name="Google Shape;94;p2:notes">
            <a:extLst>
              <a:ext uri="{FF2B5EF4-FFF2-40B4-BE49-F238E27FC236}">
                <a16:creationId xmlns:a16="http://schemas.microsoft.com/office/drawing/2014/main" id="{BA855BE4-8D28-467F-58FC-1B052BE5DF7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1414865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a:extLst>
            <a:ext uri="{FF2B5EF4-FFF2-40B4-BE49-F238E27FC236}">
              <a16:creationId xmlns:a16="http://schemas.microsoft.com/office/drawing/2014/main" id="{F9FAFF65-BB80-BBDE-5B65-3069750D4045}"/>
            </a:ext>
          </a:extLst>
        </p:cNvPr>
        <p:cNvGrpSpPr/>
        <p:nvPr/>
      </p:nvGrpSpPr>
      <p:grpSpPr>
        <a:xfrm>
          <a:off x="0" y="0"/>
          <a:ext cx="0" cy="0"/>
          <a:chOff x="0" y="0"/>
          <a:chExt cx="0" cy="0"/>
        </a:xfrm>
      </p:grpSpPr>
      <p:sp>
        <p:nvSpPr>
          <p:cNvPr id="93" name="Google Shape;93;p2:notes">
            <a:extLst>
              <a:ext uri="{FF2B5EF4-FFF2-40B4-BE49-F238E27FC236}">
                <a16:creationId xmlns:a16="http://schemas.microsoft.com/office/drawing/2014/main" id="{BF1C864F-607F-BCE2-5622-334DD309172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Add comment on effect of quantum computing – will be a further accelerant of using this framework</a:t>
            </a:r>
          </a:p>
          <a:p>
            <a:pPr marL="0" lvl="0" indent="0" algn="l" rtl="0">
              <a:spcBef>
                <a:spcPts val="0"/>
              </a:spcBef>
              <a:spcAft>
                <a:spcPts val="0"/>
              </a:spcAft>
              <a:buNone/>
            </a:pPr>
            <a:r>
              <a:rPr lang="en-US" dirty="0"/>
              <a:t>We ought to get some university partners to do some research / theses on this stuff – do some modeling and simulation – you get the most value out of these 2 in this situation – could become an FFRDC</a:t>
            </a:r>
            <a:endParaRPr dirty="0"/>
          </a:p>
        </p:txBody>
      </p:sp>
      <p:sp>
        <p:nvSpPr>
          <p:cNvPr id="94" name="Google Shape;94;p2:notes">
            <a:extLst>
              <a:ext uri="{FF2B5EF4-FFF2-40B4-BE49-F238E27FC236}">
                <a16:creationId xmlns:a16="http://schemas.microsoft.com/office/drawing/2014/main" id="{4282D062-0F5E-36FA-4A75-D846E166479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5451393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Enterprise initiatives often achieve Value growth that can be modeled using a Compound Annual Growth Rate (CAGR), which is an approximation representing exponential growth using a compound-interest-like approach</a:t>
            </a:r>
          </a:p>
          <a:p>
            <a:pPr lvl="1"/>
            <a:r>
              <a:rPr lang="en-US" dirty="0"/>
              <a:t>Various traditional Value Growth Drivers contribute to this Value growth</a:t>
            </a:r>
          </a:p>
          <a:p>
            <a:r>
              <a:rPr lang="en-US" dirty="0"/>
              <a:t>However, Enterprises can accelerate Value growth using one or more Value Growth Accelerators</a:t>
            </a:r>
          </a:p>
        </p:txBody>
      </p:sp>
    </p:spTree>
    <p:extLst>
      <p:ext uri="{BB962C8B-B14F-4D97-AF65-F5344CB8AC3E}">
        <p14:creationId xmlns:p14="http://schemas.microsoft.com/office/powerpoint/2010/main" val="232256779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For example, businesses often achieve Valuation growth that can be modeled using a Compounding Annual Growth Rate (CAGR), which is an approximation representing exponential growth using a compound-interest-like approach</a:t>
            </a:r>
          </a:p>
          <a:p>
            <a:pPr lvl="1"/>
            <a:r>
              <a:rPr lang="en-US" dirty="0"/>
              <a:t>Various traditional Value Growth Drivers contribute to this Business Valuation growth</a:t>
            </a:r>
          </a:p>
          <a:p>
            <a:r>
              <a:rPr lang="en-US" dirty="0"/>
              <a:t>However, Enterprises can accelerate Business Valuation growth using one or more Value Growth Accelerators</a:t>
            </a:r>
          </a:p>
          <a:p>
            <a:endParaRPr lang="en-US" dirty="0"/>
          </a:p>
        </p:txBody>
      </p:sp>
    </p:spTree>
    <p:extLst>
      <p:ext uri="{BB962C8B-B14F-4D97-AF65-F5344CB8AC3E}">
        <p14:creationId xmlns:p14="http://schemas.microsoft.com/office/powerpoint/2010/main" val="235335105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a:p>
            <a:r>
              <a:rPr lang="en-US" dirty="0"/>
              <a:t>The benefits of each Value Growth Accelerator multiply when they are used together.</a:t>
            </a:r>
          </a:p>
          <a:p>
            <a:endParaRPr lang="en-US" dirty="0"/>
          </a:p>
        </p:txBody>
      </p:sp>
    </p:spTree>
    <p:extLst>
      <p:ext uri="{BB962C8B-B14F-4D97-AF65-F5344CB8AC3E}">
        <p14:creationId xmlns:p14="http://schemas.microsoft.com/office/powerpoint/2010/main" val="317501186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Each Value Growth Accelerator can accelerate growth continuously throughout the change initiative’s journey</a:t>
            </a:r>
          </a:p>
          <a:p>
            <a:r>
              <a:rPr lang="en-US" dirty="0"/>
              <a:t>To keep the change initiative’s rocket accelerating throughout its flight, each accelerator packed into the rocket has boosters that must be activated at each stage of the rocket’s flight.</a:t>
            </a:r>
          </a:p>
          <a:p>
            <a:endParaRPr lang="en-US" dirty="0"/>
          </a:p>
          <a:p>
            <a:endParaRPr lang="en-US" dirty="0"/>
          </a:p>
        </p:txBody>
      </p:sp>
    </p:spTree>
    <p:extLst>
      <p:ext uri="{BB962C8B-B14F-4D97-AF65-F5344CB8AC3E}">
        <p14:creationId xmlns:p14="http://schemas.microsoft.com/office/powerpoint/2010/main" val="134301653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47E919-369D-5AF1-F5B6-4DA252A5482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4B4A6A0-C698-53CB-C655-93EC73F05C47}"/>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4A4B40D9-0749-6E5F-A4BF-41ABC8AF4EB9}"/>
              </a:ext>
            </a:extLst>
          </p:cNvPr>
          <p:cNvSpPr>
            <a:spLocks noGrp="1"/>
          </p:cNvSpPr>
          <p:nvPr>
            <p:ph type="body" idx="1"/>
          </p:nvPr>
        </p:nvSpPr>
        <p:spPr/>
        <p:txBody>
          <a:bodyPr/>
          <a:lstStyle/>
          <a:p>
            <a:r>
              <a:rPr lang="en-US" dirty="0"/>
              <a:t>We find this is an easier way to visualize the stages of the rocket’s flight.</a:t>
            </a:r>
          </a:p>
          <a:p>
            <a:r>
              <a:rPr lang="en-US" dirty="0"/>
              <a:t>To keep the change initiative’s rocket accelerating throughout its flight, each accelerator packed into the rocket has boosters that must be activated at each stage of flight.</a:t>
            </a:r>
          </a:p>
          <a:p>
            <a:endParaRPr lang="en-US" dirty="0"/>
          </a:p>
          <a:p>
            <a:endParaRPr lang="en-US" dirty="0"/>
          </a:p>
          <a:p>
            <a:endParaRPr lang="en-US" dirty="0"/>
          </a:p>
          <a:p>
            <a:endParaRPr lang="en-US" dirty="0"/>
          </a:p>
          <a:p>
            <a:pPr marL="158750" indent="0">
              <a:buNone/>
            </a:pPr>
            <a:r>
              <a:rPr lang="en-US" dirty="0"/>
              <a:t>Other Notes:</a:t>
            </a:r>
          </a:p>
          <a:p>
            <a:r>
              <a:rPr lang="en-US" dirty="0"/>
              <a:t>Scale?  Enablers?  Accelerants? (are these the ingredients). Propellants?  Propel</a:t>
            </a:r>
          </a:p>
          <a:p>
            <a:r>
              <a:rPr lang="en-US" dirty="0"/>
              <a:t>1</a:t>
            </a:r>
            <a:r>
              <a:rPr lang="en-US" baseline="30000" dirty="0"/>
              <a:t>st</a:t>
            </a:r>
            <a:r>
              <a:rPr lang="en-US" dirty="0"/>
              <a:t> Stage, 2</a:t>
            </a:r>
            <a:r>
              <a:rPr lang="en-US" baseline="30000" dirty="0"/>
              <a:t>nd</a:t>
            </a:r>
            <a:r>
              <a:rPr lang="en-US" dirty="0"/>
              <a:t> Stage, 3</a:t>
            </a:r>
            <a:r>
              <a:rPr lang="en-US" baseline="30000" dirty="0"/>
              <a:t>rd</a:t>
            </a:r>
            <a:r>
              <a:rPr lang="en-US" dirty="0"/>
              <a:t> Stage</a:t>
            </a:r>
          </a:p>
          <a:p>
            <a:r>
              <a:rPr lang="en-US" dirty="0"/>
              <a:t>LEAN because too much weight / friction</a:t>
            </a:r>
          </a:p>
          <a:p>
            <a:r>
              <a:rPr lang="en-US" dirty="0"/>
              <a:t>Governance is the control system</a:t>
            </a:r>
          </a:p>
          <a:p>
            <a:r>
              <a:rPr lang="en-US" dirty="0"/>
              <a:t>It takes money to build the rocket</a:t>
            </a:r>
          </a:p>
        </p:txBody>
      </p:sp>
    </p:spTree>
    <p:extLst>
      <p:ext uri="{BB962C8B-B14F-4D97-AF65-F5344CB8AC3E}">
        <p14:creationId xmlns:p14="http://schemas.microsoft.com/office/powerpoint/2010/main" val="378046139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07AC5A-D236-3E7F-08E5-366224A5465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499B53-F205-3145-1B51-9DE5263767B9}"/>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2EE90680-8359-CE48-57AD-1F40B9875CE6}"/>
              </a:ext>
            </a:extLst>
          </p:cNvPr>
          <p:cNvSpPr>
            <a:spLocks noGrp="1"/>
          </p:cNvSpPr>
          <p:nvPr>
            <p:ph type="body" idx="1"/>
          </p:nvPr>
        </p:nvSpPr>
        <p:spPr/>
        <p:txBody>
          <a:bodyPr/>
          <a:lstStyle/>
          <a:p>
            <a:r>
              <a:rPr lang="en-US" dirty="0"/>
              <a:t>Look again at the AccelRR8 Framework in comparison to the previous graphic</a:t>
            </a:r>
          </a:p>
          <a:p>
            <a:r>
              <a:rPr lang="en-US" dirty="0"/>
              <a:t>On the left are the accelerators packed into the AccelRR8 Framework rocket.  Each has the potential to deliver the exponential benefits shown throughout the rocket’s journey from Launch through Climb to Soar.  </a:t>
            </a:r>
          </a:p>
          <a:p>
            <a:r>
              <a:rPr lang="en-US" dirty="0"/>
              <a:t>On the right in grey are the challenges leaders face when their change initiative (payload strapped to the AcceelRR8 Framework rocket) Climbs toward achieving exponential benefits at scale.  </a:t>
            </a:r>
          </a:p>
          <a:p>
            <a:r>
              <a:rPr lang="en-US" dirty="0"/>
              <a:t>At this Climb/Scale stage, using the proven Solutions shown to the right will activate the boosters in each accelerator, propelling the rocket past the challenges and soaring to success </a:t>
            </a:r>
          </a:p>
          <a:p>
            <a:endParaRPr lang="en-US" dirty="0"/>
          </a:p>
          <a:p>
            <a:r>
              <a:rPr lang="en-US" dirty="0"/>
              <a:t>“DRAG” – different levels of the atmosphere – different co-</a:t>
            </a:r>
            <a:r>
              <a:rPr lang="en-US" dirty="0" err="1"/>
              <a:t>efficients</a:t>
            </a:r>
            <a:endParaRPr lang="en-US" dirty="0"/>
          </a:p>
        </p:txBody>
      </p:sp>
    </p:spTree>
    <p:extLst>
      <p:ext uri="{BB962C8B-B14F-4D97-AF65-F5344CB8AC3E}">
        <p14:creationId xmlns:p14="http://schemas.microsoft.com/office/powerpoint/2010/main" val="415462680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In this view we show how to use the AccelRR8 Framework to launch and grow a change initiative’s value exponentially as it climbs toward achieving exponential benefits at scale.</a:t>
            </a:r>
          </a:p>
        </p:txBody>
      </p:sp>
    </p:spTree>
    <p:extLst>
      <p:ext uri="{BB962C8B-B14F-4D97-AF65-F5344CB8AC3E}">
        <p14:creationId xmlns:p14="http://schemas.microsoft.com/office/powerpoint/2010/main" val="311211508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en-US" dirty="0"/>
              <a:t>In this view we show in greater detail how to use the AccelRR8 Framework to launch and grow a change initiative’s value exponentially as it climbs toward achieving exponential benefits at scale.</a:t>
            </a:r>
          </a:p>
          <a:p>
            <a:pPr marL="457200" marR="0" lvl="0" indent="-298450" algn="l" defTabSz="914400" rtl="0" eaLnBrk="1" fontAlgn="auto" latinLnBrk="0" hangingPunct="1">
              <a:lnSpc>
                <a:spcPct val="100000"/>
              </a:lnSpc>
              <a:spcBef>
                <a:spcPts val="0"/>
              </a:spcBef>
              <a:spcAft>
                <a:spcPts val="0"/>
              </a:spcAft>
              <a:buClr>
                <a:srgbClr val="000000"/>
              </a:buClr>
              <a:buSzPts val="1100"/>
              <a:buFont typeface="Arial"/>
              <a:buChar char="●"/>
              <a:tabLst/>
              <a:defRPr/>
            </a:pPr>
            <a:r>
              <a:rPr lang="en-US" dirty="0"/>
              <a:t>Specific leading indicators of success are shown in both Launch and Climb / Scale stages.</a:t>
            </a:r>
          </a:p>
        </p:txBody>
      </p:sp>
    </p:spTree>
    <p:extLst>
      <p:ext uri="{BB962C8B-B14F-4D97-AF65-F5344CB8AC3E}">
        <p14:creationId xmlns:p14="http://schemas.microsoft.com/office/powerpoint/2010/main" val="413981584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reserve="1">
  <p:cSld name="Title Slide">
    <p:spTree>
      <p:nvGrpSpPr>
        <p:cNvPr id="1" name="Shape 12"/>
        <p:cNvGrpSpPr/>
        <p:nvPr/>
      </p:nvGrpSpPr>
      <p:grpSpPr>
        <a:xfrm>
          <a:off x="0" y="0"/>
          <a:ext cx="0" cy="0"/>
          <a:chOff x="0" y="0"/>
          <a:chExt cx="0" cy="0"/>
        </a:xfrm>
      </p:grpSpPr>
      <p:pic>
        <p:nvPicPr>
          <p:cNvPr id="13" name="Google Shape;13;p9"/>
          <p:cNvPicPr preferRelativeResize="0"/>
          <p:nvPr/>
        </p:nvPicPr>
        <p:blipFill rotWithShape="1">
          <a:blip r:embed="rId2">
            <a:alphaModFix/>
          </a:blip>
          <a:srcRect/>
          <a:stretch/>
        </p:blipFill>
        <p:spPr>
          <a:xfrm>
            <a:off x="-11724" y="-27804"/>
            <a:ext cx="12252960" cy="2242865"/>
          </a:xfrm>
          <a:prstGeom prst="rect">
            <a:avLst/>
          </a:prstGeom>
          <a:noFill/>
          <a:ln>
            <a:noFill/>
          </a:ln>
        </p:spPr>
      </p:pic>
      <p:sp>
        <p:nvSpPr>
          <p:cNvPr id="14" name="Google Shape;14;p9"/>
          <p:cNvSpPr/>
          <p:nvPr/>
        </p:nvSpPr>
        <p:spPr>
          <a:xfrm>
            <a:off x="10036908" y="136525"/>
            <a:ext cx="1914769" cy="1316404"/>
          </a:xfrm>
          <a:prstGeom prst="rect">
            <a:avLst/>
          </a:prstGeom>
          <a:solidFill>
            <a:schemeClr val="l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5" name="Google Shape;15;p9"/>
          <p:cNvSpPr txBox="1">
            <a:spLocks noGrp="1"/>
          </p:cNvSpPr>
          <p:nvPr>
            <p:ph type="ctrTitle"/>
          </p:nvPr>
        </p:nvSpPr>
        <p:spPr>
          <a:xfrm>
            <a:off x="1524000" y="2215660"/>
            <a:ext cx="9144000" cy="1915625"/>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6" name="Google Shape;16;p9"/>
          <p:cNvSpPr txBox="1">
            <a:spLocks noGrp="1"/>
          </p:cNvSpPr>
          <p:nvPr>
            <p:ph type="subTitle" idx="1"/>
          </p:nvPr>
        </p:nvSpPr>
        <p:spPr>
          <a:xfrm>
            <a:off x="1524000" y="4223361"/>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7" name="Google Shape;17;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8" name="Google Shape;18;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dirty="0"/>
              <a:t>Proprietary and Confidential Information</a:t>
            </a:r>
            <a:endParaRPr dirty="0"/>
          </a:p>
        </p:txBody>
      </p:sp>
      <p:sp>
        <p:nvSpPr>
          <p:cNvPr id="19" name="Google Shape;19;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pic>
        <p:nvPicPr>
          <p:cNvPr id="20" name="Google Shape;20;p9"/>
          <p:cNvPicPr preferRelativeResize="0"/>
          <p:nvPr/>
        </p:nvPicPr>
        <p:blipFill rotWithShape="1">
          <a:blip r:embed="rId3">
            <a:alphaModFix/>
          </a:blip>
          <a:srcRect/>
          <a:stretch/>
        </p:blipFill>
        <p:spPr>
          <a:xfrm>
            <a:off x="10156095" y="227868"/>
            <a:ext cx="1649044" cy="1133718"/>
          </a:xfrm>
          <a:prstGeom prst="rect">
            <a:avLst/>
          </a:prstGeom>
          <a:solidFill>
            <a:schemeClr val="lt1"/>
          </a:solidFill>
          <a:ln>
            <a:noFill/>
          </a:ln>
        </p:spPr>
      </p:pic>
    </p:spTree>
    <p:extLst>
      <p:ext uri="{BB962C8B-B14F-4D97-AF65-F5344CB8AC3E}">
        <p14:creationId xmlns:p14="http://schemas.microsoft.com/office/powerpoint/2010/main" val="37447188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reserve="1">
  <p:cSld name="Title and Content">
    <p:spTree>
      <p:nvGrpSpPr>
        <p:cNvPr id="1" name="Shape 23"/>
        <p:cNvGrpSpPr/>
        <p:nvPr/>
      </p:nvGrpSpPr>
      <p:grpSpPr>
        <a:xfrm>
          <a:off x="0" y="0"/>
          <a:ext cx="0" cy="0"/>
          <a:chOff x="0" y="0"/>
          <a:chExt cx="0" cy="0"/>
        </a:xfrm>
      </p:grpSpPr>
      <p:sp>
        <p:nvSpPr>
          <p:cNvPr id="24" name="Google Shape;24;p10"/>
          <p:cNvSpPr txBox="1">
            <a:spLocks noGrp="1"/>
          </p:cNvSpPr>
          <p:nvPr>
            <p:ph type="title"/>
          </p:nvPr>
        </p:nvSpPr>
        <p:spPr>
          <a:xfrm>
            <a:off x="838199" y="365125"/>
            <a:ext cx="8950569"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10"/>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6" name="Google Shape;26;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7748279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reserve="1">
  <p:cSld name="Section Header">
    <p:spTree>
      <p:nvGrpSpPr>
        <p:cNvPr id="1" name="Shape 34"/>
        <p:cNvGrpSpPr/>
        <p:nvPr/>
      </p:nvGrpSpPr>
      <p:grpSpPr>
        <a:xfrm>
          <a:off x="0" y="0"/>
          <a:ext cx="0" cy="0"/>
          <a:chOff x="0" y="0"/>
          <a:chExt cx="0" cy="0"/>
        </a:xfrm>
      </p:grpSpPr>
      <p:sp>
        <p:nvSpPr>
          <p:cNvPr id="35" name="Google Shape;35;p12"/>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6" name="Google Shape;36;p12"/>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37" name="Google Shape;37;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10085311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reserve="1">
  <p:cSld name="Two Content">
    <p:spTree>
      <p:nvGrpSpPr>
        <p:cNvPr id="1" name="Shape 40"/>
        <p:cNvGrpSpPr/>
        <p:nvPr/>
      </p:nvGrpSpPr>
      <p:grpSpPr>
        <a:xfrm>
          <a:off x="0" y="0"/>
          <a:ext cx="0" cy="0"/>
          <a:chOff x="0" y="0"/>
          <a:chExt cx="0" cy="0"/>
        </a:xfrm>
      </p:grpSpPr>
      <p:sp>
        <p:nvSpPr>
          <p:cNvPr id="41" name="Google Shape;41;p13"/>
          <p:cNvSpPr txBox="1">
            <a:spLocks noGrp="1"/>
          </p:cNvSpPr>
          <p:nvPr>
            <p:ph type="title"/>
          </p:nvPr>
        </p:nvSpPr>
        <p:spPr>
          <a:xfrm>
            <a:off x="838199" y="365125"/>
            <a:ext cx="8950569"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13"/>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3" name="Google Shape;43;p13"/>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4" name="Google Shape;44;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5" name="Google Shape;45;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6" name="Google Shape;46;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29712214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reserve="1">
  <p:cSld name="Comparison">
    <p:spTree>
      <p:nvGrpSpPr>
        <p:cNvPr id="1" name="Shape 47"/>
        <p:cNvGrpSpPr/>
        <p:nvPr/>
      </p:nvGrpSpPr>
      <p:grpSpPr>
        <a:xfrm>
          <a:off x="0" y="0"/>
          <a:ext cx="0" cy="0"/>
          <a:chOff x="0" y="0"/>
          <a:chExt cx="0" cy="0"/>
        </a:xfrm>
      </p:grpSpPr>
      <p:sp>
        <p:nvSpPr>
          <p:cNvPr id="48" name="Google Shape;48;p14"/>
          <p:cNvSpPr txBox="1">
            <a:spLocks noGrp="1"/>
          </p:cNvSpPr>
          <p:nvPr>
            <p:ph type="title"/>
          </p:nvPr>
        </p:nvSpPr>
        <p:spPr>
          <a:xfrm>
            <a:off x="839788" y="365125"/>
            <a:ext cx="8937258"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9" name="Google Shape;49;p14"/>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0" name="Google Shape;50;p14"/>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1" name="Google Shape;51;p14"/>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2" name="Google Shape;52;p14"/>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3" name="Google Shape;53;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4" name="Google Shape;54;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5" name="Google Shape;55;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20671992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ntent with Caption" type="objTx" preserve="1">
  <p:cSld name="Content with Caption">
    <p:spTree>
      <p:nvGrpSpPr>
        <p:cNvPr id="1" name="Shape 60"/>
        <p:cNvGrpSpPr/>
        <p:nvPr/>
      </p:nvGrpSpPr>
      <p:grpSpPr>
        <a:xfrm>
          <a:off x="0" y="0"/>
          <a:ext cx="0" cy="0"/>
          <a:chOff x="0" y="0"/>
          <a:chExt cx="0" cy="0"/>
        </a:xfrm>
      </p:grpSpPr>
      <p:sp>
        <p:nvSpPr>
          <p:cNvPr id="61" name="Google Shape;61;p16"/>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2" name="Google Shape;62;p16"/>
          <p:cNvSpPr txBox="1">
            <a:spLocks noGrp="1"/>
          </p:cNvSpPr>
          <p:nvPr>
            <p:ph type="body" idx="1"/>
          </p:nvPr>
        </p:nvSpPr>
        <p:spPr>
          <a:xfrm>
            <a:off x="5183188" y="1594339"/>
            <a:ext cx="6172200" cy="4266712"/>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3" name="Google Shape;63;p16"/>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4" name="Google Shape;64;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5" name="Google Shape;65;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11406457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Picture with Caption" type="picTx" preserve="1">
  <p:cSld name="Picture with Caption">
    <p:spTree>
      <p:nvGrpSpPr>
        <p:cNvPr id="1" name="Shape 67"/>
        <p:cNvGrpSpPr/>
        <p:nvPr/>
      </p:nvGrpSpPr>
      <p:grpSpPr>
        <a:xfrm>
          <a:off x="0" y="0"/>
          <a:ext cx="0" cy="0"/>
          <a:chOff x="0" y="0"/>
          <a:chExt cx="0" cy="0"/>
        </a:xfrm>
      </p:grpSpPr>
      <p:sp>
        <p:nvSpPr>
          <p:cNvPr id="68" name="Google Shape;68;p17"/>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9" name="Google Shape;69;p17"/>
          <p:cNvSpPr>
            <a:spLocks noGrp="1"/>
          </p:cNvSpPr>
          <p:nvPr>
            <p:ph type="pic" idx="2"/>
          </p:nvPr>
        </p:nvSpPr>
        <p:spPr>
          <a:xfrm>
            <a:off x="5183188" y="1594338"/>
            <a:ext cx="6172200" cy="4266712"/>
          </a:xfrm>
          <a:prstGeom prst="rect">
            <a:avLst/>
          </a:prstGeom>
          <a:noFill/>
          <a:ln>
            <a:noFill/>
          </a:ln>
        </p:spPr>
        <p:txBody>
          <a:bodyPr/>
          <a:lstStyle/>
          <a:p>
            <a:endParaRPr lang="en-US"/>
          </a:p>
        </p:txBody>
      </p:sp>
      <p:sp>
        <p:nvSpPr>
          <p:cNvPr id="70" name="Google Shape;70;p17"/>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1" name="Google Shape;71;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16959388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and Vertical Text" type="vertTx" preserve="1">
  <p:cSld name="Title and Vertical Text">
    <p:spTree>
      <p:nvGrpSpPr>
        <p:cNvPr id="1" name="Shape 74"/>
        <p:cNvGrpSpPr/>
        <p:nvPr/>
      </p:nvGrpSpPr>
      <p:grpSpPr>
        <a:xfrm>
          <a:off x="0" y="0"/>
          <a:ext cx="0" cy="0"/>
          <a:chOff x="0" y="0"/>
          <a:chExt cx="0" cy="0"/>
        </a:xfrm>
      </p:grpSpPr>
      <p:sp>
        <p:nvSpPr>
          <p:cNvPr id="75" name="Google Shape;75;p18"/>
          <p:cNvSpPr txBox="1">
            <a:spLocks noGrp="1"/>
          </p:cNvSpPr>
          <p:nvPr>
            <p:ph type="title"/>
          </p:nvPr>
        </p:nvSpPr>
        <p:spPr>
          <a:xfrm>
            <a:off x="838199" y="365125"/>
            <a:ext cx="8950569"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18"/>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1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12682566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Vertical Title and Text" type="vertTitleAndTx" preserve="1">
  <p:cSld name="Vertical Title and Text">
    <p:spTree>
      <p:nvGrpSpPr>
        <p:cNvPr id="1" name="Shape 80"/>
        <p:cNvGrpSpPr/>
        <p:nvPr/>
      </p:nvGrpSpPr>
      <p:grpSpPr>
        <a:xfrm>
          <a:off x="0" y="0"/>
          <a:ext cx="0" cy="0"/>
          <a:chOff x="0" y="0"/>
          <a:chExt cx="0" cy="0"/>
        </a:xfrm>
      </p:grpSpPr>
      <p:sp>
        <p:nvSpPr>
          <p:cNvPr id="81" name="Google Shape;81;p19"/>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2" name="Google Shape;82;p19"/>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3" name="Google Shape;83;p1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4" name="Google Shape;84;p1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5" name="Google Shape;85;p1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37768604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Only" type="titleOnly" preserve="1">
  <p:cSld name="Title Only">
    <p:spTree>
      <p:nvGrpSpPr>
        <p:cNvPr id="1" name="Shape 29"/>
        <p:cNvGrpSpPr/>
        <p:nvPr/>
      </p:nvGrpSpPr>
      <p:grpSpPr>
        <a:xfrm>
          <a:off x="0" y="0"/>
          <a:ext cx="0" cy="0"/>
          <a:chOff x="0" y="0"/>
          <a:chExt cx="0" cy="0"/>
        </a:xfrm>
      </p:grpSpPr>
      <p:sp>
        <p:nvSpPr>
          <p:cNvPr id="30" name="Google Shape;30;p11"/>
          <p:cNvSpPr txBox="1">
            <a:spLocks noGrp="1"/>
          </p:cNvSpPr>
          <p:nvPr>
            <p:ph type="title"/>
          </p:nvPr>
        </p:nvSpPr>
        <p:spPr>
          <a:xfrm>
            <a:off x="838199" y="365125"/>
            <a:ext cx="8950569"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 name="Google Shape;33;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37340506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514D81E-56A4-A0A2-279F-38C8B3343F43}"/>
              </a:ext>
            </a:extLst>
          </p:cNvPr>
          <p:cNvSpPr>
            <a:spLocks noGrp="1"/>
          </p:cNvSpPr>
          <p:nvPr>
            <p:ph type="dt" sz="half" idx="10"/>
          </p:nvPr>
        </p:nvSpPr>
        <p:spPr/>
        <p:txBody>
          <a:bodyPr/>
          <a:lstStyle/>
          <a:p>
            <a:fld id="{9DC09AF2-51A2-8243-A29F-680495D2BD2C}" type="datetimeFigureOut">
              <a:rPr lang="en-US" smtClean="0"/>
              <a:t>8/6/26</a:t>
            </a:fld>
            <a:endParaRPr lang="en-US"/>
          </a:p>
        </p:txBody>
      </p:sp>
      <p:sp>
        <p:nvSpPr>
          <p:cNvPr id="3" name="Footer Placeholder 2">
            <a:extLst>
              <a:ext uri="{FF2B5EF4-FFF2-40B4-BE49-F238E27FC236}">
                <a16:creationId xmlns:a16="http://schemas.microsoft.com/office/drawing/2014/main" id="{6D6CC58C-80F3-655C-2597-7F3B6D3170F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EA13EB0-DD69-7589-AA19-77F3D50D907F}"/>
              </a:ext>
            </a:extLst>
          </p:cNvPr>
          <p:cNvSpPr>
            <a:spLocks noGrp="1"/>
          </p:cNvSpPr>
          <p:nvPr>
            <p:ph type="sldNum" sz="quarter" idx="12"/>
          </p:nvPr>
        </p:nvSpPr>
        <p:spPr/>
        <p:txBody>
          <a:bodyPr/>
          <a:lstStyle/>
          <a:p>
            <a:fld id="{65D7FD95-7936-6347-9F0B-72114436EA6C}" type="slidenum">
              <a:rPr lang="en-US" smtClean="0"/>
              <a:t>‹#›</a:t>
            </a:fld>
            <a:endParaRPr lang="en-US"/>
          </a:p>
        </p:txBody>
      </p:sp>
    </p:spTree>
    <p:extLst>
      <p:ext uri="{BB962C8B-B14F-4D97-AF65-F5344CB8AC3E}">
        <p14:creationId xmlns:p14="http://schemas.microsoft.com/office/powerpoint/2010/main" val="17636319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lt1"/>
        </a:solidFill>
        <a:effectLst/>
      </p:bgPr>
    </p:bg>
    <p:spTree>
      <p:nvGrpSpPr>
        <p:cNvPr id="1" name="Shape 5"/>
        <p:cNvGrpSpPr/>
        <p:nvPr/>
      </p:nvGrpSpPr>
      <p:grpSpPr>
        <a:xfrm>
          <a:off x="0" y="0"/>
          <a:ext cx="0" cy="0"/>
          <a:chOff x="0" y="0"/>
          <a:chExt cx="0" cy="0"/>
        </a:xfrm>
      </p:grpSpPr>
      <p:sp>
        <p:nvSpPr>
          <p:cNvPr id="6" name="Google Shape;6;p8"/>
          <p:cNvSpPr txBox="1">
            <a:spLocks noGrp="1"/>
          </p:cNvSpPr>
          <p:nvPr>
            <p:ph type="title"/>
          </p:nvPr>
        </p:nvSpPr>
        <p:spPr>
          <a:xfrm>
            <a:off x="838199" y="365125"/>
            <a:ext cx="8950569"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8"/>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pic>
        <p:nvPicPr>
          <p:cNvPr id="11" name="Google Shape;11;p8"/>
          <p:cNvPicPr preferRelativeResize="0"/>
          <p:nvPr/>
        </p:nvPicPr>
        <p:blipFill rotWithShape="1">
          <a:blip r:embed="rId13">
            <a:alphaModFix/>
          </a:blip>
          <a:srcRect/>
          <a:stretch/>
        </p:blipFill>
        <p:spPr>
          <a:xfrm>
            <a:off x="10023232" y="136525"/>
            <a:ext cx="1914769" cy="1316404"/>
          </a:xfrm>
          <a:prstGeom prst="rect">
            <a:avLst/>
          </a:prstGeom>
          <a:solidFill>
            <a:schemeClr val="lt1"/>
          </a:solidFill>
          <a:ln>
            <a:noFill/>
          </a:ln>
        </p:spPr>
      </p:pic>
    </p:spTree>
    <p:extLst>
      <p:ext uri="{BB962C8B-B14F-4D97-AF65-F5344CB8AC3E}">
        <p14:creationId xmlns:p14="http://schemas.microsoft.com/office/powerpoint/2010/main" val="3380120530"/>
      </p:ext>
    </p:extLst>
  </p:cSld>
  <p:clrMap bg1="lt1" tx1="dk1" bg2="dk2" tx2="lt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83"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11.xml"/><Relationship Id="rId6" Type="http://schemas.openxmlformats.org/officeDocument/2006/relationships/hyperlink" Target="https://medium.com/@socialmedianp/use-the-accelrr8-framework-to-grow-value-exponentially-2754e04062ce" TargetMode="External"/><Relationship Id="rId5" Type="http://schemas.openxmlformats.org/officeDocument/2006/relationships/hyperlink" Target="https://medium.com/@socialmedianp/rocket-to-your-aspirations-using-the-accelrr8-framework-ed2eb71aee2c" TargetMode="External"/><Relationship Id="rId4" Type="http://schemas.openxmlformats.org/officeDocument/2006/relationships/image" Target="../media/image4.emf"/></Relationships>
</file>

<file path=ppt/slides/_rels/slide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3.xml"/><Relationship Id="rId1" Type="http://schemas.openxmlformats.org/officeDocument/2006/relationships/slideLayout" Target="../slideLayouts/slideLayout4.xml"/><Relationship Id="rId4" Type="http://schemas.openxmlformats.org/officeDocument/2006/relationships/hyperlink" Target="https://blog.ucsusa.org/doug-boucher/world-population-growth-exponential/" TargetMode="Externa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4.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5.xml"/><Relationship Id="rId1" Type="http://schemas.openxmlformats.org/officeDocument/2006/relationships/slideLayout" Target="../slideLayouts/slideLayout11.xml"/><Relationship Id="rId5" Type="http://schemas.openxmlformats.org/officeDocument/2006/relationships/image" Target="../media/image11.emf"/><Relationship Id="rId4" Type="http://schemas.openxmlformats.org/officeDocument/2006/relationships/image" Target="../media/image10.emf"/></Relationships>
</file>

<file path=ppt/slides/_rels/slide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6.xml"/><Relationship Id="rId1" Type="http://schemas.openxmlformats.org/officeDocument/2006/relationships/slideLayout" Target="../slideLayouts/slideLayout11.xml"/><Relationship Id="rId4" Type="http://schemas.openxmlformats.org/officeDocument/2006/relationships/image" Target="../media/image10.emf"/></Relationships>
</file>

<file path=ppt/slides/_rels/slide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7.xml"/><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8.xml"/><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notesSlide" Target="../notesSlides/notesSlide10.xml"/><Relationship Id="rId1" Type="http://schemas.openxmlformats.org/officeDocument/2006/relationships/slideLayout" Target="../slideLayouts/slideLayout11.xml"/><Relationship Id="rId4" Type="http://schemas.openxmlformats.org/officeDocument/2006/relationships/image" Target="../media/image3.jpeg"/></Relationships>
</file>

<file path=ppt/slides/_rels/slide1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1.xml"/><Relationship Id="rId1" Type="http://schemas.openxmlformats.org/officeDocument/2006/relationships/slideLayout" Target="../slideLayouts/slideLayout11.xml"/><Relationship Id="rId4" Type="http://schemas.openxmlformats.org/officeDocument/2006/relationships/image" Target="../media/image4.emf"/></Relationships>
</file>

<file path=ppt/slides/_rels/slide12.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notesSlide" Target="../notesSlides/notesSlide12.xml"/><Relationship Id="rId1" Type="http://schemas.openxmlformats.org/officeDocument/2006/relationships/slideLayout" Target="../slideLayouts/slideLayout11.xml"/><Relationship Id="rId4" Type="http://schemas.openxmlformats.org/officeDocument/2006/relationships/image" Target="../media/image3.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Google Shape;90;p1"/>
          <p:cNvSpPr txBox="1">
            <a:spLocks noGrp="1"/>
          </p:cNvSpPr>
          <p:nvPr>
            <p:ph type="ctrTitle"/>
          </p:nvPr>
        </p:nvSpPr>
        <p:spPr>
          <a:xfrm>
            <a:off x="1524000" y="2785676"/>
            <a:ext cx="9144000" cy="1915625"/>
          </a:xfrm>
          <a:prstGeom prst="rect">
            <a:avLst/>
          </a:prstGeom>
          <a:noFill/>
          <a:ln>
            <a:noFill/>
          </a:ln>
        </p:spPr>
        <p:txBody>
          <a:bodyPr spcFirstLastPara="1" wrap="square" lIns="91425" tIns="45700" rIns="91425" bIns="45700" anchor="b" anchorCtr="0">
            <a:normAutofit fontScale="90000"/>
          </a:bodyPr>
          <a:lstStyle/>
          <a:p>
            <a:br>
              <a:rPr lang="en-US" dirty="0"/>
            </a:br>
            <a:br>
              <a:rPr lang="en-US" dirty="0"/>
            </a:br>
            <a:r>
              <a:rPr lang="en-US" dirty="0"/>
              <a:t>AccelRR8 Framework</a:t>
            </a:r>
            <a:br>
              <a:rPr lang="en-US" dirty="0"/>
            </a:br>
            <a:r>
              <a:rPr lang="en-US" dirty="0"/>
              <a:t>Grow Value Exponentially</a:t>
            </a:r>
            <a:br>
              <a:rPr lang="en-US" dirty="0"/>
            </a:br>
            <a:endParaRPr sz="4000" dirty="0"/>
          </a:p>
        </p:txBody>
      </p:sp>
      <p:sp>
        <p:nvSpPr>
          <p:cNvPr id="91" name="Google Shape;91;p1"/>
          <p:cNvSpPr txBox="1">
            <a:spLocks noGrp="1"/>
          </p:cNvSpPr>
          <p:nvPr>
            <p:ph type="subTitle" idx="1"/>
          </p:nvPr>
        </p:nvSpPr>
        <p:spPr>
          <a:xfrm>
            <a:off x="1524000" y="4793377"/>
            <a:ext cx="9144000" cy="1655762"/>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1000"/>
              </a:spcBef>
              <a:spcAft>
                <a:spcPts val="0"/>
              </a:spcAft>
              <a:buClr>
                <a:schemeClr val="dk1"/>
              </a:buClr>
              <a:buSzPts val="2400"/>
              <a:buNone/>
            </a:pPr>
            <a:r>
              <a:rPr lang="en-US" dirty="0"/>
              <a:t>August 6, 2026</a:t>
            </a:r>
          </a:p>
        </p:txBody>
      </p:sp>
      <p:sp>
        <p:nvSpPr>
          <p:cNvPr id="2" name="Google Shape;18;p9">
            <a:extLst>
              <a:ext uri="{FF2B5EF4-FFF2-40B4-BE49-F238E27FC236}">
                <a16:creationId xmlns:a16="http://schemas.microsoft.com/office/drawing/2014/main" id="{3AD78C72-379A-E1B5-EFA1-9131465029E3}"/>
              </a:ext>
            </a:extLst>
          </p:cNvPr>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dirty="0"/>
              <a:t>Proprietary and Confidential Information</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63C2BE-5556-55B4-DA1C-90E871194737}"/>
            </a:ext>
          </a:extLst>
        </p:cNvPr>
        <p:cNvGrpSpPr/>
        <p:nvPr/>
      </p:nvGrpSpPr>
      <p:grpSpPr>
        <a:xfrm>
          <a:off x="0" y="0"/>
          <a:ext cx="0" cy="0"/>
          <a:chOff x="0" y="0"/>
          <a:chExt cx="0" cy="0"/>
        </a:xfrm>
      </p:grpSpPr>
      <p:pic>
        <p:nvPicPr>
          <p:cNvPr id="1026" name="Picture 2">
            <a:extLst>
              <a:ext uri="{FF2B5EF4-FFF2-40B4-BE49-F238E27FC236}">
                <a16:creationId xmlns:a16="http://schemas.microsoft.com/office/drawing/2014/main" id="{C5684B70-12FF-20FD-0C08-2DBB1D9DB34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1088" y="2493541"/>
            <a:ext cx="5079887" cy="2565079"/>
          </a:xfrm>
          <a:prstGeom prst="rect">
            <a:avLst/>
          </a:prstGeom>
          <a:noFill/>
          <a:extLst>
            <a:ext uri="{909E8E84-426E-40DD-AFC4-6F175D3DCCD1}">
              <a14:hiddenFill xmlns:a14="http://schemas.microsoft.com/office/drawing/2010/main">
                <a:solidFill>
                  <a:srgbClr val="FFFFFF"/>
                </a:solidFill>
              </a14:hiddenFill>
            </a:ext>
          </a:extLst>
        </p:spPr>
      </p:pic>
      <p:sp>
        <p:nvSpPr>
          <p:cNvPr id="22" name="Google Shape;96;p2">
            <a:extLst>
              <a:ext uri="{FF2B5EF4-FFF2-40B4-BE49-F238E27FC236}">
                <a16:creationId xmlns:a16="http://schemas.microsoft.com/office/drawing/2014/main" id="{8DC2EF46-D211-6D21-85BB-20C0C0F45AF1}"/>
              </a:ext>
            </a:extLst>
          </p:cNvPr>
          <p:cNvSpPr txBox="1">
            <a:spLocks/>
          </p:cNvSpPr>
          <p:nvPr/>
        </p:nvSpPr>
        <p:spPr>
          <a:xfrm>
            <a:off x="838199" y="365125"/>
            <a:ext cx="8950569" cy="1325563"/>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lvl="0">
              <a:lnSpc>
                <a:spcPct val="90000"/>
              </a:lnSpc>
              <a:buSzPts val="4400"/>
              <a:defRPr/>
            </a:pPr>
            <a:r>
              <a:rPr lang="en-US" sz="4400" dirty="0">
                <a:latin typeface="Calibri" panose="020F0502020204030204" pitchFamily="34" charset="0"/>
                <a:cs typeface="Calibri" panose="020F0502020204030204" pitchFamily="34" charset="0"/>
              </a:rPr>
              <a:t>Using the AccelRR8 Framework</a:t>
            </a:r>
            <a:br>
              <a:rPr lang="en-US" sz="4400" dirty="0">
                <a:latin typeface="Calibri" panose="020F0502020204030204" pitchFamily="34" charset="0"/>
                <a:cs typeface="Calibri" panose="020F0502020204030204" pitchFamily="34" charset="0"/>
              </a:rPr>
            </a:br>
            <a:r>
              <a:rPr lang="en-US" sz="4400" dirty="0">
                <a:latin typeface="Calibri" panose="020F0502020204030204" pitchFamily="34" charset="0"/>
                <a:cs typeface="Calibri" panose="020F0502020204030204" pitchFamily="34" charset="0"/>
              </a:rPr>
              <a:t>to grow value exponentially</a:t>
            </a:r>
          </a:p>
        </p:txBody>
      </p:sp>
      <p:pic>
        <p:nvPicPr>
          <p:cNvPr id="6" name="Picture 5">
            <a:extLst>
              <a:ext uri="{FF2B5EF4-FFF2-40B4-BE49-F238E27FC236}">
                <a16:creationId xmlns:a16="http://schemas.microsoft.com/office/drawing/2014/main" id="{32D25D34-D881-F4BE-DBB8-9B4E77AB3AFA}"/>
              </a:ext>
            </a:extLst>
          </p:cNvPr>
          <p:cNvPicPr>
            <a:picLocks noChangeAspect="1"/>
          </p:cNvPicPr>
          <p:nvPr/>
        </p:nvPicPr>
        <p:blipFill>
          <a:blip r:embed="rId4"/>
          <a:stretch>
            <a:fillRect/>
          </a:stretch>
        </p:blipFill>
        <p:spPr>
          <a:xfrm>
            <a:off x="6267057" y="2392956"/>
            <a:ext cx="5363855" cy="2892275"/>
          </a:xfrm>
          <a:prstGeom prst="rect">
            <a:avLst/>
          </a:prstGeom>
          <a:solidFill>
            <a:schemeClr val="bg1"/>
          </a:solidFill>
        </p:spPr>
      </p:pic>
      <p:sp>
        <p:nvSpPr>
          <p:cNvPr id="2" name="TextBox 1">
            <a:extLst>
              <a:ext uri="{FF2B5EF4-FFF2-40B4-BE49-F238E27FC236}">
                <a16:creationId xmlns:a16="http://schemas.microsoft.com/office/drawing/2014/main" id="{588C4B19-0952-AE5B-82AE-B331913C849B}"/>
              </a:ext>
            </a:extLst>
          </p:cNvPr>
          <p:cNvSpPr txBox="1"/>
          <p:nvPr/>
        </p:nvSpPr>
        <p:spPr>
          <a:xfrm>
            <a:off x="838199" y="2203373"/>
            <a:ext cx="819455" cy="307777"/>
          </a:xfrm>
          <a:prstGeom prst="rect">
            <a:avLst/>
          </a:prstGeom>
          <a:noFill/>
        </p:spPr>
        <p:txBody>
          <a:bodyPr wrap="none" rtlCol="0">
            <a:spAutoFit/>
          </a:bodyPr>
          <a:lstStyle/>
          <a:p>
            <a:r>
              <a:rPr lang="en-US" b="1" dirty="0"/>
              <a:t>Launch</a:t>
            </a:r>
          </a:p>
        </p:txBody>
      </p:sp>
      <p:sp>
        <p:nvSpPr>
          <p:cNvPr id="3" name="TextBox 2">
            <a:extLst>
              <a:ext uri="{FF2B5EF4-FFF2-40B4-BE49-F238E27FC236}">
                <a16:creationId xmlns:a16="http://schemas.microsoft.com/office/drawing/2014/main" id="{14EE40AE-CC93-DEB5-4744-F5B1E613A92B}"/>
              </a:ext>
            </a:extLst>
          </p:cNvPr>
          <p:cNvSpPr txBox="1"/>
          <p:nvPr/>
        </p:nvSpPr>
        <p:spPr>
          <a:xfrm>
            <a:off x="2779468" y="2203373"/>
            <a:ext cx="683200" cy="307777"/>
          </a:xfrm>
          <a:prstGeom prst="rect">
            <a:avLst/>
          </a:prstGeom>
          <a:noFill/>
        </p:spPr>
        <p:txBody>
          <a:bodyPr wrap="none" rtlCol="0">
            <a:spAutoFit/>
          </a:bodyPr>
          <a:lstStyle/>
          <a:p>
            <a:r>
              <a:rPr lang="en-US" b="1" dirty="0"/>
              <a:t>Climb</a:t>
            </a:r>
          </a:p>
        </p:txBody>
      </p:sp>
      <p:sp>
        <p:nvSpPr>
          <p:cNvPr id="4" name="TextBox 3">
            <a:extLst>
              <a:ext uri="{FF2B5EF4-FFF2-40B4-BE49-F238E27FC236}">
                <a16:creationId xmlns:a16="http://schemas.microsoft.com/office/drawing/2014/main" id="{156E9716-29D3-F8E9-0ED9-5C8A1F6A0B80}"/>
              </a:ext>
            </a:extLst>
          </p:cNvPr>
          <p:cNvSpPr txBox="1"/>
          <p:nvPr/>
        </p:nvSpPr>
        <p:spPr>
          <a:xfrm>
            <a:off x="4750508" y="2203373"/>
            <a:ext cx="583814" cy="307777"/>
          </a:xfrm>
          <a:prstGeom prst="rect">
            <a:avLst/>
          </a:prstGeom>
          <a:noFill/>
        </p:spPr>
        <p:txBody>
          <a:bodyPr wrap="none" rtlCol="0">
            <a:spAutoFit/>
          </a:bodyPr>
          <a:lstStyle/>
          <a:p>
            <a:r>
              <a:rPr lang="en-US" b="1" dirty="0"/>
              <a:t>Soar</a:t>
            </a:r>
          </a:p>
        </p:txBody>
      </p:sp>
      <p:sp>
        <p:nvSpPr>
          <p:cNvPr id="7" name="TextBox 6">
            <a:extLst>
              <a:ext uri="{FF2B5EF4-FFF2-40B4-BE49-F238E27FC236}">
                <a16:creationId xmlns:a16="http://schemas.microsoft.com/office/drawing/2014/main" id="{1C992BA6-8C0E-AA08-1282-E4537B328E65}"/>
              </a:ext>
            </a:extLst>
          </p:cNvPr>
          <p:cNvSpPr txBox="1"/>
          <p:nvPr/>
        </p:nvSpPr>
        <p:spPr>
          <a:xfrm>
            <a:off x="500634" y="6229468"/>
            <a:ext cx="5167773" cy="215444"/>
          </a:xfrm>
          <a:prstGeom prst="rect">
            <a:avLst/>
          </a:prstGeom>
          <a:noFill/>
        </p:spPr>
        <p:txBody>
          <a:bodyPr wrap="square">
            <a:spAutoFit/>
          </a:bodyPr>
          <a:lstStyle/>
          <a:p>
            <a:r>
              <a:rPr lang="en-US" sz="800" dirty="0">
                <a:hlinkClick r:id="rId5"/>
              </a:rPr>
              <a:t>https://medium.com/@socialmedianp/rocket-to-your-aspirations-using-the-accelrr8-framework-ed2eb71aee2c</a:t>
            </a:r>
            <a:r>
              <a:rPr lang="en-US" sz="800" dirty="0"/>
              <a:t> </a:t>
            </a:r>
          </a:p>
        </p:txBody>
      </p:sp>
      <p:sp>
        <p:nvSpPr>
          <p:cNvPr id="9" name="TextBox 8">
            <a:extLst>
              <a:ext uri="{FF2B5EF4-FFF2-40B4-BE49-F238E27FC236}">
                <a16:creationId xmlns:a16="http://schemas.microsoft.com/office/drawing/2014/main" id="{43799693-E480-E40E-D9BE-4CF8674A1C32}"/>
              </a:ext>
            </a:extLst>
          </p:cNvPr>
          <p:cNvSpPr txBox="1"/>
          <p:nvPr/>
        </p:nvSpPr>
        <p:spPr>
          <a:xfrm>
            <a:off x="6601142" y="6229468"/>
            <a:ext cx="5301417" cy="215444"/>
          </a:xfrm>
          <a:prstGeom prst="rect">
            <a:avLst/>
          </a:prstGeom>
          <a:noFill/>
        </p:spPr>
        <p:txBody>
          <a:bodyPr wrap="square">
            <a:spAutoFit/>
          </a:bodyPr>
          <a:lstStyle/>
          <a:p>
            <a:r>
              <a:rPr lang="en-US" sz="800" dirty="0">
                <a:hlinkClick r:id="rId6"/>
              </a:rPr>
              <a:t>https://medium.com/@socialmedianp/use-the-accelrr8-framework-to-grow-value-exponentially-2754e04062ce</a:t>
            </a:r>
            <a:r>
              <a:rPr lang="en-US" sz="800" dirty="0"/>
              <a:t> </a:t>
            </a:r>
          </a:p>
        </p:txBody>
      </p:sp>
    </p:spTree>
    <p:extLst>
      <p:ext uri="{BB962C8B-B14F-4D97-AF65-F5344CB8AC3E}">
        <p14:creationId xmlns:p14="http://schemas.microsoft.com/office/powerpoint/2010/main" val="15882153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5">
          <a:extLst>
            <a:ext uri="{FF2B5EF4-FFF2-40B4-BE49-F238E27FC236}">
              <a16:creationId xmlns:a16="http://schemas.microsoft.com/office/drawing/2014/main" id="{D466B099-5F4B-27F7-998D-EBAF4BD42B42}"/>
            </a:ext>
          </a:extLst>
        </p:cNvPr>
        <p:cNvGrpSpPr/>
        <p:nvPr/>
      </p:nvGrpSpPr>
      <p:grpSpPr>
        <a:xfrm>
          <a:off x="0" y="0"/>
          <a:ext cx="0" cy="0"/>
          <a:chOff x="0" y="0"/>
          <a:chExt cx="0" cy="0"/>
        </a:xfrm>
      </p:grpSpPr>
      <p:sp>
        <p:nvSpPr>
          <p:cNvPr id="13" name="Rectangle 12">
            <a:extLst>
              <a:ext uri="{FF2B5EF4-FFF2-40B4-BE49-F238E27FC236}">
                <a16:creationId xmlns:a16="http://schemas.microsoft.com/office/drawing/2014/main" id="{FBC2FEAB-52D6-6904-21B2-9B30A2E34532}"/>
              </a:ext>
            </a:extLst>
          </p:cNvPr>
          <p:cNvSpPr/>
          <p:nvPr/>
        </p:nvSpPr>
        <p:spPr>
          <a:xfrm>
            <a:off x="8110140" y="1756070"/>
            <a:ext cx="3857447" cy="4600280"/>
          </a:xfrm>
          <a:prstGeom prst="rect">
            <a:avLst/>
          </a:prstGeom>
          <a:solidFill>
            <a:schemeClr val="bg1"/>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1600" b="1" dirty="0">
                <a:solidFill>
                  <a:schemeClr val="tx1"/>
                </a:solidFill>
              </a:rPr>
              <a:t>…these 5 accelerators include:</a:t>
            </a:r>
            <a:br>
              <a:rPr lang="en-US" sz="1600" b="1" dirty="0">
                <a:solidFill>
                  <a:schemeClr val="tx1"/>
                </a:solidFill>
              </a:rPr>
            </a:br>
            <a:br>
              <a:rPr lang="en-US" sz="1600" b="1" dirty="0">
                <a:solidFill>
                  <a:schemeClr val="tx1"/>
                </a:solidFill>
              </a:rPr>
            </a:br>
            <a:endParaRPr lang="en-US" sz="1200" b="1" dirty="0">
              <a:solidFill>
                <a:schemeClr val="tx1"/>
              </a:solidFill>
            </a:endParaRPr>
          </a:p>
          <a:p>
            <a:pPr marL="179388" lvl="3" indent="-169863">
              <a:buFont typeface="Arial" panose="020B0604020202020204" pitchFamily="34" charset="0"/>
              <a:buChar char="•"/>
            </a:pPr>
            <a:r>
              <a:rPr lang="en-US" sz="1200" b="1" dirty="0">
                <a:solidFill>
                  <a:schemeClr val="tx1"/>
                </a:solidFill>
              </a:rPr>
              <a:t>Compounding Innovation: </a:t>
            </a:r>
            <a:r>
              <a:rPr lang="en-US" sz="1200" dirty="0">
                <a:solidFill>
                  <a:schemeClr val="tx1"/>
                </a:solidFill>
              </a:rPr>
              <a:t>continuous reinvestment of returns in innovation accelerates ROI via the </a:t>
            </a:r>
            <a:r>
              <a:rPr lang="en-US" sz="1200" b="1" dirty="0">
                <a:solidFill>
                  <a:srgbClr val="00B050"/>
                </a:solidFill>
              </a:rPr>
              <a:t>compound interest formula</a:t>
            </a:r>
            <a:r>
              <a:rPr lang="en-US" sz="1200" dirty="0">
                <a:solidFill>
                  <a:schemeClr val="tx1"/>
                </a:solidFill>
              </a:rPr>
              <a:t> </a:t>
            </a:r>
          </a:p>
          <a:p>
            <a:pPr marL="179388" lvl="3" indent="-169863">
              <a:buFont typeface="Arial" panose="020B0604020202020204" pitchFamily="34" charset="0"/>
              <a:buChar char="•"/>
            </a:pPr>
            <a:endParaRPr lang="en-US" sz="1200" dirty="0">
              <a:solidFill>
                <a:schemeClr val="tx1"/>
              </a:solidFill>
            </a:endParaRPr>
          </a:p>
          <a:p>
            <a:pPr marL="179388" lvl="3" indent="-169863">
              <a:buFont typeface="Arial" panose="020B0604020202020204" pitchFamily="34" charset="0"/>
              <a:buChar char="•"/>
            </a:pPr>
            <a:r>
              <a:rPr lang="en-US" sz="1200" b="1" dirty="0">
                <a:solidFill>
                  <a:schemeClr val="tx1"/>
                </a:solidFill>
              </a:rPr>
              <a:t>Network Effects: </a:t>
            </a:r>
            <a:r>
              <a:rPr lang="en-US" sz="1200" dirty="0">
                <a:solidFill>
                  <a:schemeClr val="tx1"/>
                </a:solidFill>
              </a:rPr>
              <a:t>increases in participants in a network increase the value of the network for each user via </a:t>
            </a:r>
            <a:r>
              <a:rPr lang="en-US" sz="1200" b="1" dirty="0">
                <a:solidFill>
                  <a:srgbClr val="00B050"/>
                </a:solidFill>
              </a:rPr>
              <a:t>Reed’s law</a:t>
            </a:r>
            <a:r>
              <a:rPr lang="en-US" sz="1200" dirty="0">
                <a:solidFill>
                  <a:schemeClr val="tx1"/>
                </a:solidFill>
              </a:rPr>
              <a:t> which is 2</a:t>
            </a:r>
            <a:r>
              <a:rPr lang="en-US" sz="1200" baseline="30000" dirty="0">
                <a:solidFill>
                  <a:schemeClr val="tx1"/>
                </a:solidFill>
              </a:rPr>
              <a:t>n</a:t>
            </a:r>
          </a:p>
          <a:p>
            <a:pPr marL="179388" lvl="3" indent="-169863">
              <a:buFont typeface="Arial" panose="020B0604020202020204" pitchFamily="34" charset="0"/>
              <a:buChar char="•"/>
            </a:pPr>
            <a:endParaRPr lang="en-US" sz="1200" dirty="0">
              <a:solidFill>
                <a:schemeClr val="tx1"/>
              </a:solidFill>
            </a:endParaRPr>
          </a:p>
          <a:p>
            <a:pPr marL="179388" lvl="3" indent="-169863">
              <a:buFont typeface="Arial" panose="020B0604020202020204" pitchFamily="34" charset="0"/>
              <a:buChar char="•"/>
            </a:pPr>
            <a:r>
              <a:rPr lang="en-US" sz="1200" b="1" dirty="0">
                <a:solidFill>
                  <a:schemeClr val="tx1"/>
                </a:solidFill>
              </a:rPr>
              <a:t>Viral Ideation: </a:t>
            </a:r>
            <a:r>
              <a:rPr lang="en-US" sz="1200" dirty="0">
                <a:solidFill>
                  <a:schemeClr val="tx1"/>
                </a:solidFill>
              </a:rPr>
              <a:t>rapid and broad sharing of ideas among individuals through networks via the </a:t>
            </a:r>
            <a:r>
              <a:rPr lang="en-US" sz="1200" b="1" dirty="0">
                <a:solidFill>
                  <a:srgbClr val="00B050"/>
                </a:solidFill>
              </a:rPr>
              <a:t>virality equation</a:t>
            </a:r>
            <a:r>
              <a:rPr lang="en-US" sz="1200" dirty="0">
                <a:solidFill>
                  <a:schemeClr val="tx1"/>
                </a:solidFill>
              </a:rPr>
              <a:t> where the coefficient of virality &gt; 1</a:t>
            </a:r>
          </a:p>
          <a:p>
            <a:pPr marL="179388" lvl="3" indent="-169863">
              <a:buFont typeface="Arial" panose="020B0604020202020204" pitchFamily="34" charset="0"/>
              <a:buChar char="•"/>
            </a:pPr>
            <a:endParaRPr lang="en-US" sz="1200" dirty="0">
              <a:solidFill>
                <a:schemeClr val="tx1"/>
              </a:solidFill>
            </a:endParaRPr>
          </a:p>
          <a:p>
            <a:pPr marL="179388" lvl="3" indent="-169863">
              <a:buFont typeface="Arial" panose="020B0604020202020204" pitchFamily="34" charset="0"/>
              <a:buChar char="•"/>
            </a:pPr>
            <a:r>
              <a:rPr lang="en-US" sz="1200" b="1" dirty="0">
                <a:solidFill>
                  <a:schemeClr val="tx1"/>
                </a:solidFill>
              </a:rPr>
              <a:t>Generative Learning: </a:t>
            </a:r>
            <a:r>
              <a:rPr lang="en-US" sz="1200" dirty="0">
                <a:solidFill>
                  <a:schemeClr val="tx1"/>
                </a:solidFill>
              </a:rPr>
              <a:t>continuous reinvestment of learnings in teams’ improvements accelerates productivity via the </a:t>
            </a:r>
            <a:r>
              <a:rPr lang="en-US" sz="1200" b="1" dirty="0">
                <a:solidFill>
                  <a:srgbClr val="00B050"/>
                </a:solidFill>
              </a:rPr>
              <a:t>compound interest formula</a:t>
            </a:r>
          </a:p>
          <a:p>
            <a:pPr marL="179388" lvl="3" indent="-169863">
              <a:buFont typeface="Arial" panose="020B0604020202020204" pitchFamily="34" charset="0"/>
              <a:buChar char="•"/>
            </a:pPr>
            <a:endParaRPr lang="en-US" sz="1200" dirty="0">
              <a:solidFill>
                <a:schemeClr val="tx1"/>
              </a:solidFill>
            </a:endParaRPr>
          </a:p>
          <a:p>
            <a:pPr marL="179388" lvl="3" indent="-169863">
              <a:buFont typeface="Arial" panose="020B0604020202020204" pitchFamily="34" charset="0"/>
              <a:buChar char="•"/>
            </a:pPr>
            <a:r>
              <a:rPr lang="en-US" sz="1200" b="1" dirty="0">
                <a:solidFill>
                  <a:schemeClr val="tx1"/>
                </a:solidFill>
              </a:rPr>
              <a:t>Artificial Intelligence:</a:t>
            </a:r>
            <a:r>
              <a:rPr lang="en-US" sz="1200" dirty="0">
                <a:solidFill>
                  <a:schemeClr val="tx1"/>
                </a:solidFill>
              </a:rPr>
              <a:t> continuous reinvestment of machine learnings in AI model improvements accelerates productivity via the </a:t>
            </a:r>
            <a:r>
              <a:rPr lang="en-US" sz="1200" b="1" dirty="0">
                <a:solidFill>
                  <a:srgbClr val="00B050"/>
                </a:solidFill>
              </a:rPr>
              <a:t>compound interest formula</a:t>
            </a:r>
            <a:r>
              <a:rPr lang="en-US" sz="1200" dirty="0">
                <a:solidFill>
                  <a:schemeClr val="tx1"/>
                </a:solidFill>
              </a:rPr>
              <a:t>, used to further grow the value produced by all above accelerators exponentially </a:t>
            </a:r>
          </a:p>
          <a:p>
            <a:pPr marL="179388" lvl="3"/>
            <a:endParaRPr lang="en-US" sz="1200" dirty="0">
              <a:solidFill>
                <a:schemeClr val="tx1"/>
              </a:solidFill>
            </a:endParaRPr>
          </a:p>
        </p:txBody>
      </p:sp>
      <p:sp>
        <p:nvSpPr>
          <p:cNvPr id="14" name="Pentagon 13">
            <a:extLst>
              <a:ext uri="{FF2B5EF4-FFF2-40B4-BE49-F238E27FC236}">
                <a16:creationId xmlns:a16="http://schemas.microsoft.com/office/drawing/2014/main" id="{CBC1E880-CB17-5519-EF06-355868FF7F38}"/>
              </a:ext>
            </a:extLst>
          </p:cNvPr>
          <p:cNvSpPr/>
          <p:nvPr/>
        </p:nvSpPr>
        <p:spPr>
          <a:xfrm>
            <a:off x="4210493" y="1756070"/>
            <a:ext cx="3976577" cy="4600280"/>
          </a:xfrm>
          <a:prstGeom prst="homePlate">
            <a:avLst>
              <a:gd name="adj" fmla="val 9893"/>
            </a:avLst>
          </a:prstGeom>
          <a:solidFill>
            <a:schemeClr val="bg1"/>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9525" lvl="3"/>
            <a:r>
              <a:rPr lang="en-US" sz="1600" b="1" dirty="0">
                <a:solidFill>
                  <a:schemeClr val="tx1"/>
                </a:solidFill>
              </a:rPr>
              <a:t>In our research we have identified </a:t>
            </a:r>
            <a:br>
              <a:rPr lang="en-US" sz="1600" b="1" dirty="0">
                <a:solidFill>
                  <a:schemeClr val="tx1"/>
                </a:solidFill>
              </a:rPr>
            </a:br>
            <a:r>
              <a:rPr lang="en-US" sz="1600" b="1" dirty="0">
                <a:solidFill>
                  <a:schemeClr val="tx1"/>
                </a:solidFill>
              </a:rPr>
              <a:t>proven accelerators capable of growing value exponentially…</a:t>
            </a:r>
          </a:p>
          <a:p>
            <a:pPr marL="9525" lvl="3"/>
            <a:endParaRPr lang="en-US" sz="1200" dirty="0">
              <a:solidFill>
                <a:schemeClr val="tx1"/>
              </a:solidFill>
            </a:endParaRPr>
          </a:p>
          <a:p>
            <a:pPr marL="171450" indent="-171450">
              <a:buFont typeface="Arial" panose="020B0604020202020204" pitchFamily="34" charset="0"/>
              <a:buChar char="•"/>
            </a:pPr>
            <a:r>
              <a:rPr lang="en-US" sz="1200" dirty="0">
                <a:solidFill>
                  <a:schemeClr val="tx1"/>
                </a:solidFill>
                <a:effectLst/>
                <a:latin typeface="Helvetica Neue" panose="02000503000000020004" pitchFamily="2" charset="0"/>
              </a:rPr>
              <a:t>Existing research on how to grow value exponentially is fragmented</a:t>
            </a:r>
            <a:br>
              <a:rPr lang="en-US" sz="1200" dirty="0">
                <a:solidFill>
                  <a:schemeClr val="tx1"/>
                </a:solidFill>
                <a:effectLst/>
                <a:latin typeface="Helvetica Neue" panose="02000503000000020004" pitchFamily="2" charset="0"/>
              </a:rPr>
            </a:br>
            <a:endParaRPr lang="en-US" sz="1200" dirty="0">
              <a:solidFill>
                <a:schemeClr val="tx1"/>
              </a:solidFill>
              <a:effectLst/>
              <a:latin typeface="Helvetica Neue" panose="02000503000000020004" pitchFamily="2" charset="0"/>
            </a:endParaRPr>
          </a:p>
          <a:p>
            <a:pPr marL="171450" indent="-171450">
              <a:buFont typeface="Arial" panose="020B0604020202020204" pitchFamily="34" charset="0"/>
              <a:buChar char="•"/>
            </a:pPr>
            <a:r>
              <a:rPr lang="en-US" sz="1200" dirty="0">
                <a:solidFill>
                  <a:schemeClr val="tx1"/>
                </a:solidFill>
                <a:effectLst/>
                <a:latin typeface="Helvetica Neue" panose="02000503000000020004" pitchFamily="2" charset="0"/>
              </a:rPr>
              <a:t>Using Chain of Thought prompts with ChatGPT, we isolated 5 accelerators mathematically capable of growing value exponentially</a:t>
            </a:r>
            <a:br>
              <a:rPr lang="en-US" sz="1200" dirty="0">
                <a:solidFill>
                  <a:schemeClr val="tx1"/>
                </a:solidFill>
                <a:effectLst/>
                <a:latin typeface="Helvetica Neue" panose="02000503000000020004" pitchFamily="2" charset="0"/>
              </a:rPr>
            </a:br>
            <a:endParaRPr lang="en-US" sz="1200" dirty="0">
              <a:solidFill>
                <a:schemeClr val="tx1"/>
              </a:solidFill>
              <a:effectLst/>
              <a:latin typeface="Helvetica Neue" panose="02000503000000020004" pitchFamily="2" charset="0"/>
            </a:endParaRPr>
          </a:p>
          <a:p>
            <a:pPr marL="171450" indent="-171450">
              <a:buFont typeface="Arial" panose="020B0604020202020204" pitchFamily="34" charset="0"/>
              <a:buChar char="•"/>
            </a:pPr>
            <a:r>
              <a:rPr lang="en-US" sz="1200" dirty="0">
                <a:solidFill>
                  <a:schemeClr val="tx1"/>
                </a:solidFill>
                <a:effectLst/>
                <a:latin typeface="Helvetica Neue" panose="02000503000000020004" pitchFamily="2" charset="0"/>
              </a:rPr>
              <a:t>Each accelerator is a technique that transforms linear changes in production inputs into exponential changes in outputs and outcomes</a:t>
            </a:r>
            <a:br>
              <a:rPr lang="en-US" sz="1200" dirty="0">
                <a:solidFill>
                  <a:schemeClr val="tx1"/>
                </a:solidFill>
                <a:effectLst/>
                <a:latin typeface="Helvetica Neue" panose="02000503000000020004" pitchFamily="2" charset="0"/>
              </a:rPr>
            </a:br>
            <a:endParaRPr lang="en-US" sz="1200" dirty="0">
              <a:solidFill>
                <a:schemeClr val="tx1"/>
              </a:solidFill>
              <a:effectLst/>
              <a:latin typeface="Helvetica Neue" panose="02000503000000020004" pitchFamily="2" charset="0"/>
            </a:endParaRPr>
          </a:p>
          <a:p>
            <a:pPr marL="171450" indent="-171450">
              <a:buFont typeface="Arial" panose="020B0604020202020204" pitchFamily="34" charset="0"/>
              <a:buChar char="•"/>
            </a:pPr>
            <a:r>
              <a:rPr lang="en-US" sz="1200" dirty="0">
                <a:solidFill>
                  <a:schemeClr val="tx1"/>
                </a:solidFill>
                <a:effectLst/>
                <a:latin typeface="Helvetica Neue" panose="02000503000000020004" pitchFamily="2" charset="0"/>
              </a:rPr>
              <a:t>The mathematical basis for each accelerator is a transformation equation which performs exponential operations on production inputs. </a:t>
            </a:r>
            <a:br>
              <a:rPr lang="en-US" sz="1200" dirty="0">
                <a:solidFill>
                  <a:schemeClr val="tx1"/>
                </a:solidFill>
                <a:effectLst/>
                <a:latin typeface="Helvetica Neue" panose="02000503000000020004" pitchFamily="2" charset="0"/>
              </a:rPr>
            </a:br>
            <a:endParaRPr lang="en-US" sz="1200" dirty="0">
              <a:solidFill>
                <a:schemeClr val="tx1"/>
              </a:solidFill>
              <a:effectLst/>
              <a:latin typeface="Helvetica Neue" panose="02000503000000020004" pitchFamily="2" charset="0"/>
            </a:endParaRPr>
          </a:p>
          <a:p>
            <a:pPr marL="171450" indent="-171450">
              <a:buFont typeface="Arial" panose="020B0604020202020204" pitchFamily="34" charset="0"/>
              <a:buChar char="•"/>
            </a:pPr>
            <a:r>
              <a:rPr lang="en-US" sz="1200" dirty="0">
                <a:solidFill>
                  <a:schemeClr val="tx1"/>
                </a:solidFill>
                <a:effectLst/>
                <a:latin typeface="Helvetica Neue" panose="02000503000000020004" pitchFamily="2" charset="0"/>
              </a:rPr>
              <a:t>These exponential mathematical operations are what make it possible to systematize growing value exponentially; </a:t>
            </a:r>
            <a:r>
              <a:rPr lang="en-US" sz="1200" b="1" i="1" dirty="0">
                <a:solidFill>
                  <a:schemeClr val="tx1"/>
                </a:solidFill>
                <a:effectLst/>
                <a:latin typeface="Helvetica Neue" panose="02000503000000020004" pitchFamily="2" charset="0"/>
              </a:rPr>
              <a:t>without these, any exponential growth happens by chance  </a:t>
            </a:r>
          </a:p>
          <a:p>
            <a:pPr marL="9525" lvl="3"/>
            <a:endParaRPr lang="en-US" sz="1200" dirty="0">
              <a:solidFill>
                <a:schemeClr val="tx1"/>
              </a:solidFill>
            </a:endParaRPr>
          </a:p>
          <a:p>
            <a:pPr marL="179388" lvl="3"/>
            <a:endParaRPr lang="en-US" sz="1200" dirty="0">
              <a:solidFill>
                <a:schemeClr val="tx1"/>
              </a:solidFill>
            </a:endParaRPr>
          </a:p>
        </p:txBody>
      </p:sp>
      <p:sp>
        <p:nvSpPr>
          <p:cNvPr id="15" name="Pentagon 14">
            <a:extLst>
              <a:ext uri="{FF2B5EF4-FFF2-40B4-BE49-F238E27FC236}">
                <a16:creationId xmlns:a16="http://schemas.microsoft.com/office/drawing/2014/main" id="{D90EA701-3746-1031-80D8-6EAA09923AA7}"/>
              </a:ext>
            </a:extLst>
          </p:cNvPr>
          <p:cNvSpPr/>
          <p:nvPr/>
        </p:nvSpPr>
        <p:spPr>
          <a:xfrm>
            <a:off x="297190" y="1756070"/>
            <a:ext cx="3976577" cy="4600280"/>
          </a:xfrm>
          <a:prstGeom prst="homePlate">
            <a:avLst>
              <a:gd name="adj" fmla="val 9893"/>
            </a:avLst>
          </a:prstGeom>
          <a:solidFill>
            <a:schemeClr val="bg1"/>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9525" lvl="3"/>
            <a:r>
              <a:rPr lang="en-US" sz="1200" i="1" dirty="0">
                <a:solidFill>
                  <a:schemeClr val="tx1"/>
                </a:solidFill>
                <a:effectLst/>
                <a:latin typeface="Helvetica Neue" panose="02000503000000020004" pitchFamily="2" charset="0"/>
              </a:rPr>
              <a:t> </a:t>
            </a:r>
          </a:p>
          <a:p>
            <a:pPr marL="9525" lvl="3"/>
            <a:endParaRPr lang="en-US" sz="1200" dirty="0">
              <a:solidFill>
                <a:schemeClr val="tx1"/>
              </a:solidFill>
            </a:endParaRPr>
          </a:p>
          <a:p>
            <a:pPr marL="179388" lvl="3"/>
            <a:endParaRPr lang="en-US" sz="1200" dirty="0">
              <a:solidFill>
                <a:schemeClr val="tx1"/>
              </a:solidFill>
            </a:endParaRPr>
          </a:p>
        </p:txBody>
      </p:sp>
      <p:pic>
        <p:nvPicPr>
          <p:cNvPr id="16" name="Picture 2" descr="The World's Population Hasn't Grown Exponentially for at Least Half a  Century - Union of Concerned Scientists">
            <a:extLst>
              <a:ext uri="{FF2B5EF4-FFF2-40B4-BE49-F238E27FC236}">
                <a16:creationId xmlns:a16="http://schemas.microsoft.com/office/drawing/2014/main" id="{8F87AB73-1EF5-4337-B190-5A6123506C3E}"/>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9795" t="12786" r="16346" b="10503"/>
          <a:stretch/>
        </p:blipFill>
        <p:spPr bwMode="auto">
          <a:xfrm>
            <a:off x="410445" y="3563637"/>
            <a:ext cx="3366763" cy="2277037"/>
          </a:xfrm>
          <a:prstGeom prst="rect">
            <a:avLst/>
          </a:prstGeom>
          <a:noFill/>
          <a:extLst>
            <a:ext uri="{909E8E84-426E-40DD-AFC4-6F175D3DCCD1}">
              <a14:hiddenFill xmlns:a14="http://schemas.microsoft.com/office/drawing/2010/main">
                <a:solidFill>
                  <a:srgbClr val="FFFFFF"/>
                </a:solidFill>
              </a14:hiddenFill>
            </a:ext>
          </a:extLst>
        </p:spPr>
      </p:pic>
      <p:sp>
        <p:nvSpPr>
          <p:cNvPr id="17" name="TextBox 16">
            <a:extLst>
              <a:ext uri="{FF2B5EF4-FFF2-40B4-BE49-F238E27FC236}">
                <a16:creationId xmlns:a16="http://schemas.microsoft.com/office/drawing/2014/main" id="{BD4B996A-4014-F0A5-E687-EB74A66195FD}"/>
              </a:ext>
            </a:extLst>
          </p:cNvPr>
          <p:cNvSpPr txBox="1"/>
          <p:nvPr/>
        </p:nvSpPr>
        <p:spPr>
          <a:xfrm>
            <a:off x="422637" y="5951512"/>
            <a:ext cx="3230880" cy="200055"/>
          </a:xfrm>
          <a:prstGeom prst="rect">
            <a:avLst/>
          </a:prstGeom>
          <a:noFill/>
        </p:spPr>
        <p:txBody>
          <a:bodyPr wrap="square">
            <a:spAutoFit/>
          </a:bodyPr>
          <a:lstStyle/>
          <a:p>
            <a:r>
              <a:rPr lang="en-US" sz="700" dirty="0">
                <a:hlinkClick r:id="rId4"/>
              </a:rPr>
              <a:t>https://blog.ucsusa.org/doug-boucher/world-population-growth-exponential/</a:t>
            </a:r>
            <a:r>
              <a:rPr lang="en-US" sz="700" dirty="0"/>
              <a:t> </a:t>
            </a:r>
          </a:p>
        </p:txBody>
      </p:sp>
      <p:sp>
        <p:nvSpPr>
          <p:cNvPr id="18" name="TextBox 17">
            <a:extLst>
              <a:ext uri="{FF2B5EF4-FFF2-40B4-BE49-F238E27FC236}">
                <a16:creationId xmlns:a16="http://schemas.microsoft.com/office/drawing/2014/main" id="{A67CE6D6-9E20-4A5D-F32D-AC9B143719BF}"/>
              </a:ext>
            </a:extLst>
          </p:cNvPr>
          <p:cNvSpPr txBox="1"/>
          <p:nvPr/>
        </p:nvSpPr>
        <p:spPr>
          <a:xfrm>
            <a:off x="2804835" y="3730766"/>
            <a:ext cx="984565" cy="461665"/>
          </a:xfrm>
          <a:prstGeom prst="rect">
            <a:avLst/>
          </a:prstGeom>
          <a:solidFill>
            <a:schemeClr val="bg1"/>
          </a:solidFill>
        </p:spPr>
        <p:txBody>
          <a:bodyPr wrap="none" rtlCol="0">
            <a:spAutoFit/>
          </a:bodyPr>
          <a:lstStyle/>
          <a:p>
            <a:r>
              <a:rPr lang="en-US" sz="1200" dirty="0">
                <a:solidFill>
                  <a:srgbClr val="00B050"/>
                </a:solidFill>
              </a:rPr>
              <a:t>Exponential</a:t>
            </a:r>
          </a:p>
          <a:p>
            <a:r>
              <a:rPr lang="en-US" sz="1200" dirty="0">
                <a:solidFill>
                  <a:srgbClr val="00B050"/>
                </a:solidFill>
              </a:rPr>
              <a:t>growth</a:t>
            </a:r>
          </a:p>
        </p:txBody>
      </p:sp>
      <p:sp>
        <p:nvSpPr>
          <p:cNvPr id="19" name="TextBox 18">
            <a:extLst>
              <a:ext uri="{FF2B5EF4-FFF2-40B4-BE49-F238E27FC236}">
                <a16:creationId xmlns:a16="http://schemas.microsoft.com/office/drawing/2014/main" id="{3F57F457-5969-CAC3-F238-39C0F055ABE7}"/>
              </a:ext>
            </a:extLst>
          </p:cNvPr>
          <p:cNvSpPr txBox="1"/>
          <p:nvPr/>
        </p:nvSpPr>
        <p:spPr>
          <a:xfrm>
            <a:off x="491823" y="3515024"/>
            <a:ext cx="491645" cy="230832"/>
          </a:xfrm>
          <a:prstGeom prst="rect">
            <a:avLst/>
          </a:prstGeom>
          <a:solidFill>
            <a:schemeClr val="bg1"/>
          </a:solidFill>
        </p:spPr>
        <p:txBody>
          <a:bodyPr wrap="square" lIns="0" rtlCol="0">
            <a:spAutoFit/>
          </a:bodyPr>
          <a:lstStyle/>
          <a:p>
            <a:r>
              <a:rPr lang="en-US" sz="900" dirty="0">
                <a:solidFill>
                  <a:schemeClr val="tx1"/>
                </a:solidFill>
              </a:rPr>
              <a:t>Value</a:t>
            </a:r>
          </a:p>
        </p:txBody>
      </p:sp>
      <p:sp>
        <p:nvSpPr>
          <p:cNvPr id="20" name="TextBox 19">
            <a:extLst>
              <a:ext uri="{FF2B5EF4-FFF2-40B4-BE49-F238E27FC236}">
                <a16:creationId xmlns:a16="http://schemas.microsoft.com/office/drawing/2014/main" id="{8649EE47-E0A3-57F4-9618-1ADDD39A73FB}"/>
              </a:ext>
            </a:extLst>
          </p:cNvPr>
          <p:cNvSpPr txBox="1"/>
          <p:nvPr/>
        </p:nvSpPr>
        <p:spPr>
          <a:xfrm>
            <a:off x="422636" y="2090470"/>
            <a:ext cx="3263819" cy="1283119"/>
          </a:xfrm>
          <a:prstGeom prst="roundRect">
            <a:avLst>
              <a:gd name="adj" fmla="val 6105"/>
            </a:avLst>
          </a:prstGeom>
          <a:solidFill>
            <a:srgbClr val="00B050"/>
          </a:solidFill>
        </p:spPr>
        <p:txBody>
          <a:bodyPr wrap="square">
            <a:noAutofit/>
          </a:bodyPr>
          <a:lstStyle/>
          <a:p>
            <a:pPr algn="ctr"/>
            <a:r>
              <a:rPr lang="en-US" sz="1800" b="1" dirty="0">
                <a:solidFill>
                  <a:schemeClr val="bg1"/>
                </a:solidFill>
              </a:rPr>
              <a:t>CORE PREMISE</a:t>
            </a:r>
          </a:p>
          <a:p>
            <a:pPr algn="ctr"/>
            <a:endParaRPr lang="en-US" sz="1000" b="1" dirty="0">
              <a:solidFill>
                <a:schemeClr val="bg1"/>
              </a:solidFill>
            </a:endParaRPr>
          </a:p>
          <a:p>
            <a:pPr algn="ctr"/>
            <a:r>
              <a:rPr lang="en-US" dirty="0">
                <a:solidFill>
                  <a:schemeClr val="bg1"/>
                </a:solidFill>
              </a:rPr>
              <a:t>Harnessing 5 proven accelerators makes it mathematically feasible to grow value exponentially </a:t>
            </a:r>
          </a:p>
        </p:txBody>
      </p:sp>
      <p:sp>
        <p:nvSpPr>
          <p:cNvPr id="11" name="Arc 10">
            <a:extLst>
              <a:ext uri="{FF2B5EF4-FFF2-40B4-BE49-F238E27FC236}">
                <a16:creationId xmlns:a16="http://schemas.microsoft.com/office/drawing/2014/main" id="{75D6991A-CA6C-E524-852A-A4ACE43E8B89}"/>
              </a:ext>
            </a:extLst>
          </p:cNvPr>
          <p:cNvSpPr/>
          <p:nvPr/>
        </p:nvSpPr>
        <p:spPr>
          <a:xfrm rot="5400000">
            <a:off x="-1421109" y="1289576"/>
            <a:ext cx="3879503" cy="4681728"/>
          </a:xfrm>
          <a:prstGeom prst="arc">
            <a:avLst/>
          </a:prstGeom>
          <a:ln w="76200">
            <a:solidFill>
              <a:srgbClr val="00B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6" name="Google Shape;96;p2">
            <a:extLst>
              <a:ext uri="{FF2B5EF4-FFF2-40B4-BE49-F238E27FC236}">
                <a16:creationId xmlns:a16="http://schemas.microsoft.com/office/drawing/2014/main" id="{C57429A8-7BCA-FBE6-641C-A652B7FDAB01}"/>
              </a:ext>
            </a:extLst>
          </p:cNvPr>
          <p:cNvSpPr txBox="1">
            <a:spLocks/>
          </p:cNvSpPr>
          <p:nvPr/>
        </p:nvSpPr>
        <p:spPr>
          <a:xfrm>
            <a:off x="838199" y="365125"/>
            <a:ext cx="8950569" cy="1325563"/>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lvl="0">
              <a:lnSpc>
                <a:spcPct val="90000"/>
              </a:lnSpc>
              <a:buSzPts val="4400"/>
              <a:defRPr/>
            </a:pPr>
            <a:r>
              <a:rPr lang="en-US" sz="4400" dirty="0">
                <a:latin typeface="Calibri" panose="020F0502020204030204" pitchFamily="34" charset="0"/>
                <a:cs typeface="Calibri" panose="020F0502020204030204" pitchFamily="34" charset="0"/>
              </a:rPr>
              <a:t>Our Center of Gravity:  we help </a:t>
            </a:r>
            <a:br>
              <a:rPr lang="en-US" sz="4400" dirty="0">
                <a:latin typeface="Calibri" panose="020F0502020204030204" pitchFamily="34" charset="0"/>
                <a:cs typeface="Calibri" panose="020F0502020204030204" pitchFamily="34" charset="0"/>
              </a:rPr>
            </a:br>
            <a:r>
              <a:rPr lang="en-US" sz="4400" dirty="0">
                <a:latin typeface="Calibri" panose="020F0502020204030204" pitchFamily="34" charset="0"/>
                <a:cs typeface="Calibri" panose="020F0502020204030204" pitchFamily="34" charset="0"/>
              </a:rPr>
              <a:t>leaders grow value exponentially</a:t>
            </a:r>
          </a:p>
        </p:txBody>
      </p:sp>
    </p:spTree>
    <p:extLst>
      <p:ext uri="{BB962C8B-B14F-4D97-AF65-F5344CB8AC3E}">
        <p14:creationId xmlns:p14="http://schemas.microsoft.com/office/powerpoint/2010/main" val="42612855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5">
          <a:extLst>
            <a:ext uri="{FF2B5EF4-FFF2-40B4-BE49-F238E27FC236}">
              <a16:creationId xmlns:a16="http://schemas.microsoft.com/office/drawing/2014/main" id="{64A2F208-07E1-6DCC-CDF4-680EF958B9CE}"/>
            </a:ext>
          </a:extLst>
        </p:cNvPr>
        <p:cNvGrpSpPr/>
        <p:nvPr/>
      </p:nvGrpSpPr>
      <p:grpSpPr>
        <a:xfrm>
          <a:off x="0" y="0"/>
          <a:ext cx="0" cy="0"/>
          <a:chOff x="0" y="0"/>
          <a:chExt cx="0" cy="0"/>
        </a:xfrm>
      </p:grpSpPr>
      <p:sp>
        <p:nvSpPr>
          <p:cNvPr id="13" name="Rectangle 12">
            <a:extLst>
              <a:ext uri="{FF2B5EF4-FFF2-40B4-BE49-F238E27FC236}">
                <a16:creationId xmlns:a16="http://schemas.microsoft.com/office/drawing/2014/main" id="{40D05B36-156C-C01C-1A56-0CE8E12704E2}"/>
              </a:ext>
            </a:extLst>
          </p:cNvPr>
          <p:cNvSpPr/>
          <p:nvPr/>
        </p:nvSpPr>
        <p:spPr>
          <a:xfrm>
            <a:off x="8110140" y="1756070"/>
            <a:ext cx="3857447" cy="4600280"/>
          </a:xfrm>
          <a:prstGeom prst="rect">
            <a:avLst/>
          </a:prstGeom>
          <a:solidFill>
            <a:schemeClr val="bg1"/>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1600" b="1" dirty="0">
                <a:solidFill>
                  <a:schemeClr val="tx1"/>
                </a:solidFill>
              </a:rPr>
              <a:t>…these 5 accelerators include:</a:t>
            </a:r>
            <a:br>
              <a:rPr lang="en-US" sz="1600" b="1" dirty="0">
                <a:solidFill>
                  <a:schemeClr val="tx1"/>
                </a:solidFill>
              </a:rPr>
            </a:br>
            <a:br>
              <a:rPr lang="en-US" sz="1600" b="1" dirty="0">
                <a:solidFill>
                  <a:schemeClr val="tx1"/>
                </a:solidFill>
              </a:rPr>
            </a:br>
            <a:endParaRPr lang="en-US" sz="1200" b="1" dirty="0">
              <a:solidFill>
                <a:schemeClr val="tx1"/>
              </a:solidFill>
            </a:endParaRPr>
          </a:p>
          <a:p>
            <a:pPr marL="179388" lvl="3" indent="-169863">
              <a:buFont typeface="Arial" panose="020B0604020202020204" pitchFamily="34" charset="0"/>
              <a:buChar char="•"/>
            </a:pPr>
            <a:r>
              <a:rPr lang="en-US" sz="1200" b="1" dirty="0">
                <a:solidFill>
                  <a:schemeClr val="tx1"/>
                </a:solidFill>
              </a:rPr>
              <a:t>Compounding Innovation: </a:t>
            </a:r>
            <a:r>
              <a:rPr lang="en-US" sz="1200" dirty="0">
                <a:solidFill>
                  <a:schemeClr val="tx1"/>
                </a:solidFill>
              </a:rPr>
              <a:t>continuous reinvestment of returns in innovation accelerates ROI via the </a:t>
            </a:r>
            <a:r>
              <a:rPr lang="en-US" sz="1200" b="1" dirty="0">
                <a:solidFill>
                  <a:srgbClr val="00B050"/>
                </a:solidFill>
              </a:rPr>
              <a:t>compound interest formula</a:t>
            </a:r>
            <a:r>
              <a:rPr lang="en-US" sz="1200" dirty="0">
                <a:solidFill>
                  <a:schemeClr val="tx1"/>
                </a:solidFill>
              </a:rPr>
              <a:t> </a:t>
            </a:r>
          </a:p>
          <a:p>
            <a:pPr marL="179388" lvl="3" indent="-169863">
              <a:buFont typeface="Arial" panose="020B0604020202020204" pitchFamily="34" charset="0"/>
              <a:buChar char="•"/>
            </a:pPr>
            <a:endParaRPr lang="en-US" sz="1200" dirty="0">
              <a:solidFill>
                <a:schemeClr val="tx1"/>
              </a:solidFill>
            </a:endParaRPr>
          </a:p>
          <a:p>
            <a:pPr marL="179388" lvl="3" indent="-169863">
              <a:buFont typeface="Arial" panose="020B0604020202020204" pitchFamily="34" charset="0"/>
              <a:buChar char="•"/>
            </a:pPr>
            <a:r>
              <a:rPr lang="en-US" sz="1200" b="1" dirty="0">
                <a:solidFill>
                  <a:schemeClr val="tx1"/>
                </a:solidFill>
              </a:rPr>
              <a:t>Network Effects: </a:t>
            </a:r>
            <a:r>
              <a:rPr lang="en-US" sz="1200" dirty="0">
                <a:solidFill>
                  <a:schemeClr val="tx1"/>
                </a:solidFill>
              </a:rPr>
              <a:t>increases in participants in a network increase the value of the network for each user via </a:t>
            </a:r>
            <a:r>
              <a:rPr lang="en-US" sz="1200" b="1" dirty="0">
                <a:solidFill>
                  <a:srgbClr val="00B050"/>
                </a:solidFill>
              </a:rPr>
              <a:t>Reed’s law</a:t>
            </a:r>
            <a:r>
              <a:rPr lang="en-US" sz="1200" dirty="0">
                <a:solidFill>
                  <a:schemeClr val="tx1"/>
                </a:solidFill>
              </a:rPr>
              <a:t> which is 2</a:t>
            </a:r>
            <a:r>
              <a:rPr lang="en-US" sz="1200" baseline="30000" dirty="0">
                <a:solidFill>
                  <a:schemeClr val="tx1"/>
                </a:solidFill>
              </a:rPr>
              <a:t>n</a:t>
            </a:r>
          </a:p>
          <a:p>
            <a:pPr marL="179388" lvl="3" indent="-169863">
              <a:buFont typeface="Arial" panose="020B0604020202020204" pitchFamily="34" charset="0"/>
              <a:buChar char="•"/>
            </a:pPr>
            <a:endParaRPr lang="en-US" sz="1200" dirty="0">
              <a:solidFill>
                <a:schemeClr val="tx1"/>
              </a:solidFill>
            </a:endParaRPr>
          </a:p>
          <a:p>
            <a:pPr marL="179388" lvl="3" indent="-169863">
              <a:buFont typeface="Arial" panose="020B0604020202020204" pitchFamily="34" charset="0"/>
              <a:buChar char="•"/>
            </a:pPr>
            <a:r>
              <a:rPr lang="en-US" sz="1200" b="1" dirty="0">
                <a:solidFill>
                  <a:schemeClr val="tx1"/>
                </a:solidFill>
              </a:rPr>
              <a:t>Viral Ideation: </a:t>
            </a:r>
            <a:r>
              <a:rPr lang="en-US" sz="1200" dirty="0">
                <a:solidFill>
                  <a:schemeClr val="tx1"/>
                </a:solidFill>
              </a:rPr>
              <a:t>rapid and broad sharing of ideas among individuals through networks via the </a:t>
            </a:r>
            <a:r>
              <a:rPr lang="en-US" sz="1200" b="1" dirty="0">
                <a:solidFill>
                  <a:srgbClr val="00B050"/>
                </a:solidFill>
              </a:rPr>
              <a:t>virality equation</a:t>
            </a:r>
            <a:r>
              <a:rPr lang="en-US" sz="1200" dirty="0">
                <a:solidFill>
                  <a:schemeClr val="tx1"/>
                </a:solidFill>
              </a:rPr>
              <a:t> where the coefficient of virality &gt; 1</a:t>
            </a:r>
          </a:p>
          <a:p>
            <a:pPr marL="179388" lvl="3" indent="-169863">
              <a:buFont typeface="Arial" panose="020B0604020202020204" pitchFamily="34" charset="0"/>
              <a:buChar char="•"/>
            </a:pPr>
            <a:endParaRPr lang="en-US" sz="1200" dirty="0">
              <a:solidFill>
                <a:schemeClr val="tx1"/>
              </a:solidFill>
            </a:endParaRPr>
          </a:p>
          <a:p>
            <a:pPr marL="179388" lvl="3" indent="-169863">
              <a:buFont typeface="Arial" panose="020B0604020202020204" pitchFamily="34" charset="0"/>
              <a:buChar char="•"/>
            </a:pPr>
            <a:r>
              <a:rPr lang="en-US" sz="1200" b="1" dirty="0">
                <a:solidFill>
                  <a:schemeClr val="tx1"/>
                </a:solidFill>
              </a:rPr>
              <a:t>Generative Learning: </a:t>
            </a:r>
            <a:r>
              <a:rPr lang="en-US" sz="1200" dirty="0">
                <a:solidFill>
                  <a:schemeClr val="tx1"/>
                </a:solidFill>
              </a:rPr>
              <a:t>continuous reinvestment of learnings in teams’ improvements accelerates productivity via the </a:t>
            </a:r>
            <a:r>
              <a:rPr lang="en-US" sz="1200" b="1" dirty="0">
                <a:solidFill>
                  <a:srgbClr val="00B050"/>
                </a:solidFill>
              </a:rPr>
              <a:t>compound interest formula</a:t>
            </a:r>
          </a:p>
          <a:p>
            <a:pPr marL="179388" lvl="3" indent="-169863">
              <a:buFont typeface="Arial" panose="020B0604020202020204" pitchFamily="34" charset="0"/>
              <a:buChar char="•"/>
            </a:pPr>
            <a:endParaRPr lang="en-US" sz="1200" dirty="0">
              <a:solidFill>
                <a:schemeClr val="tx1"/>
              </a:solidFill>
            </a:endParaRPr>
          </a:p>
          <a:p>
            <a:pPr marL="179388" lvl="3" indent="-169863">
              <a:buFont typeface="Arial" panose="020B0604020202020204" pitchFamily="34" charset="0"/>
              <a:buChar char="•"/>
            </a:pPr>
            <a:r>
              <a:rPr lang="en-US" sz="1200" b="1" dirty="0">
                <a:solidFill>
                  <a:schemeClr val="tx1"/>
                </a:solidFill>
              </a:rPr>
              <a:t>Artificial Intelligence:</a:t>
            </a:r>
            <a:r>
              <a:rPr lang="en-US" sz="1200" dirty="0">
                <a:solidFill>
                  <a:schemeClr val="tx1"/>
                </a:solidFill>
              </a:rPr>
              <a:t> continuous reinvestment of machine learnings in AI model improvements accelerates productivity via the </a:t>
            </a:r>
            <a:r>
              <a:rPr lang="en-US" sz="1200" b="1" dirty="0">
                <a:solidFill>
                  <a:srgbClr val="00B050"/>
                </a:solidFill>
              </a:rPr>
              <a:t>compound interest formula</a:t>
            </a:r>
            <a:r>
              <a:rPr lang="en-US" sz="1200" dirty="0">
                <a:solidFill>
                  <a:schemeClr val="tx1"/>
                </a:solidFill>
              </a:rPr>
              <a:t>, used to further grow the value produced by all above accelerators exponentially </a:t>
            </a:r>
          </a:p>
          <a:p>
            <a:pPr marL="179388" lvl="3"/>
            <a:endParaRPr lang="en-US" sz="1200" dirty="0">
              <a:solidFill>
                <a:schemeClr val="tx1"/>
              </a:solidFill>
            </a:endParaRPr>
          </a:p>
        </p:txBody>
      </p:sp>
      <p:sp>
        <p:nvSpPr>
          <p:cNvPr id="6" name="Google Shape;96;p2">
            <a:extLst>
              <a:ext uri="{FF2B5EF4-FFF2-40B4-BE49-F238E27FC236}">
                <a16:creationId xmlns:a16="http://schemas.microsoft.com/office/drawing/2014/main" id="{91E165FE-0A27-6F2D-89BC-7A828B007918}"/>
              </a:ext>
            </a:extLst>
          </p:cNvPr>
          <p:cNvSpPr txBox="1">
            <a:spLocks/>
          </p:cNvSpPr>
          <p:nvPr/>
        </p:nvSpPr>
        <p:spPr>
          <a:xfrm>
            <a:off x="838199" y="365125"/>
            <a:ext cx="8950569" cy="1325563"/>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lvl="0">
              <a:lnSpc>
                <a:spcPct val="90000"/>
              </a:lnSpc>
              <a:buSzPts val="4400"/>
              <a:defRPr/>
            </a:pPr>
            <a:r>
              <a:rPr lang="en-US" sz="4400" dirty="0">
                <a:latin typeface="Calibri" panose="020F0502020204030204" pitchFamily="34" charset="0"/>
                <a:cs typeface="Calibri" panose="020F0502020204030204" pitchFamily="34" charset="0"/>
              </a:rPr>
              <a:t>Our Center of Gravity:  we help </a:t>
            </a:r>
            <a:br>
              <a:rPr lang="en-US" sz="4400" dirty="0">
                <a:latin typeface="Calibri" panose="020F0502020204030204" pitchFamily="34" charset="0"/>
                <a:cs typeface="Calibri" panose="020F0502020204030204" pitchFamily="34" charset="0"/>
              </a:rPr>
            </a:br>
            <a:r>
              <a:rPr lang="en-US" sz="4400" dirty="0">
                <a:latin typeface="Calibri" panose="020F0502020204030204" pitchFamily="34" charset="0"/>
                <a:cs typeface="Calibri" panose="020F0502020204030204" pitchFamily="34" charset="0"/>
              </a:rPr>
              <a:t>leaders grow value exponentially</a:t>
            </a:r>
          </a:p>
        </p:txBody>
      </p:sp>
      <p:pic>
        <p:nvPicPr>
          <p:cNvPr id="1026" name="Picture 2" descr="Compound interest formula">
            <a:extLst>
              <a:ext uri="{FF2B5EF4-FFF2-40B4-BE49-F238E27FC236}">
                <a16:creationId xmlns:a16="http://schemas.microsoft.com/office/drawing/2014/main" id="{D037EDA1-BA56-4BF6-A7CF-3795E74F030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199" y="1992158"/>
            <a:ext cx="2616200" cy="1624039"/>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a:extLst>
              <a:ext uri="{FF2B5EF4-FFF2-40B4-BE49-F238E27FC236}">
                <a16:creationId xmlns:a16="http://schemas.microsoft.com/office/drawing/2014/main" id="{0C0E4735-4211-31FF-5E41-3897D80F51EF}"/>
              </a:ext>
            </a:extLst>
          </p:cNvPr>
          <p:cNvPicPr>
            <a:picLocks noChangeAspect="1"/>
          </p:cNvPicPr>
          <p:nvPr/>
        </p:nvPicPr>
        <p:blipFill>
          <a:blip r:embed="rId4"/>
          <a:stretch>
            <a:fillRect/>
          </a:stretch>
        </p:blipFill>
        <p:spPr>
          <a:xfrm>
            <a:off x="3915369" y="2804177"/>
            <a:ext cx="3733800" cy="1357225"/>
          </a:xfrm>
          <a:prstGeom prst="rect">
            <a:avLst/>
          </a:prstGeom>
          <a:ln>
            <a:solidFill>
              <a:schemeClr val="tx1"/>
            </a:solidFill>
          </a:ln>
        </p:spPr>
      </p:pic>
      <p:pic>
        <p:nvPicPr>
          <p:cNvPr id="1028" name="Picture 4">
            <a:extLst>
              <a:ext uri="{FF2B5EF4-FFF2-40B4-BE49-F238E27FC236}">
                <a16:creationId xmlns:a16="http://schemas.microsoft.com/office/drawing/2014/main" id="{57EAEE5E-6DC0-F9E0-6A5D-0C0D54E6F93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904102" y="4369933"/>
            <a:ext cx="4470322" cy="2013973"/>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a:extLst>
              <a:ext uri="{FF2B5EF4-FFF2-40B4-BE49-F238E27FC236}">
                <a16:creationId xmlns:a16="http://schemas.microsoft.com/office/drawing/2014/main" id="{6D5FB49C-D5D5-92ED-BBB6-19FEA9DFB86C}"/>
              </a:ext>
            </a:extLst>
          </p:cNvPr>
          <p:cNvPicPr>
            <a:picLocks noChangeAspect="1"/>
          </p:cNvPicPr>
          <p:nvPr/>
        </p:nvPicPr>
        <p:blipFill>
          <a:blip r:embed="rId6"/>
          <a:stretch>
            <a:fillRect/>
          </a:stretch>
        </p:blipFill>
        <p:spPr>
          <a:xfrm>
            <a:off x="1469698" y="4200128"/>
            <a:ext cx="2151380" cy="700902"/>
          </a:xfrm>
          <a:prstGeom prst="rect">
            <a:avLst/>
          </a:prstGeom>
          <a:ln>
            <a:solidFill>
              <a:schemeClr val="tx1"/>
            </a:solidFill>
          </a:ln>
        </p:spPr>
      </p:pic>
      <p:sp>
        <p:nvSpPr>
          <p:cNvPr id="5" name="Oval 4">
            <a:extLst>
              <a:ext uri="{FF2B5EF4-FFF2-40B4-BE49-F238E27FC236}">
                <a16:creationId xmlns:a16="http://schemas.microsoft.com/office/drawing/2014/main" id="{44C8FCA5-D722-4CAB-9ED4-9A53DFAFDA88}"/>
              </a:ext>
            </a:extLst>
          </p:cNvPr>
          <p:cNvSpPr/>
          <p:nvPr/>
        </p:nvSpPr>
        <p:spPr>
          <a:xfrm>
            <a:off x="682743" y="1836702"/>
            <a:ext cx="310912" cy="310912"/>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1</a:t>
            </a:r>
          </a:p>
        </p:txBody>
      </p:sp>
      <p:sp>
        <p:nvSpPr>
          <p:cNvPr id="7" name="Oval 6">
            <a:extLst>
              <a:ext uri="{FF2B5EF4-FFF2-40B4-BE49-F238E27FC236}">
                <a16:creationId xmlns:a16="http://schemas.microsoft.com/office/drawing/2014/main" id="{0F8B3289-5208-EA69-CB3F-21BA9C314877}"/>
              </a:ext>
            </a:extLst>
          </p:cNvPr>
          <p:cNvSpPr/>
          <p:nvPr/>
        </p:nvSpPr>
        <p:spPr>
          <a:xfrm>
            <a:off x="3759913" y="2582064"/>
            <a:ext cx="310912" cy="310912"/>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2</a:t>
            </a:r>
          </a:p>
        </p:txBody>
      </p:sp>
      <p:sp>
        <p:nvSpPr>
          <p:cNvPr id="8" name="Oval 7">
            <a:extLst>
              <a:ext uri="{FF2B5EF4-FFF2-40B4-BE49-F238E27FC236}">
                <a16:creationId xmlns:a16="http://schemas.microsoft.com/office/drawing/2014/main" id="{DB2CF90E-C5F9-BB06-AE31-1EE850F93F72}"/>
              </a:ext>
            </a:extLst>
          </p:cNvPr>
          <p:cNvSpPr/>
          <p:nvPr/>
        </p:nvSpPr>
        <p:spPr>
          <a:xfrm>
            <a:off x="1314242" y="4059021"/>
            <a:ext cx="310912" cy="310912"/>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3</a:t>
            </a:r>
          </a:p>
        </p:txBody>
      </p:sp>
      <p:sp>
        <p:nvSpPr>
          <p:cNvPr id="9" name="Oval 8">
            <a:extLst>
              <a:ext uri="{FF2B5EF4-FFF2-40B4-BE49-F238E27FC236}">
                <a16:creationId xmlns:a16="http://schemas.microsoft.com/office/drawing/2014/main" id="{A6E31DEB-ACCF-D456-4997-60185675AB86}"/>
              </a:ext>
            </a:extLst>
          </p:cNvPr>
          <p:cNvSpPr/>
          <p:nvPr/>
        </p:nvSpPr>
        <p:spPr>
          <a:xfrm>
            <a:off x="11198345" y="2804177"/>
            <a:ext cx="310912" cy="310912"/>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1</a:t>
            </a:r>
          </a:p>
        </p:txBody>
      </p:sp>
      <p:sp>
        <p:nvSpPr>
          <p:cNvPr id="10" name="Oval 9">
            <a:extLst>
              <a:ext uri="{FF2B5EF4-FFF2-40B4-BE49-F238E27FC236}">
                <a16:creationId xmlns:a16="http://schemas.microsoft.com/office/drawing/2014/main" id="{759B8880-FD3E-750B-DFBF-E99DA0B85B0C}"/>
              </a:ext>
            </a:extLst>
          </p:cNvPr>
          <p:cNvSpPr/>
          <p:nvPr/>
        </p:nvSpPr>
        <p:spPr>
          <a:xfrm>
            <a:off x="10570884" y="3548896"/>
            <a:ext cx="310912" cy="310912"/>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2</a:t>
            </a:r>
          </a:p>
        </p:txBody>
      </p:sp>
      <p:sp>
        <p:nvSpPr>
          <p:cNvPr id="12" name="Oval 11">
            <a:extLst>
              <a:ext uri="{FF2B5EF4-FFF2-40B4-BE49-F238E27FC236}">
                <a16:creationId xmlns:a16="http://schemas.microsoft.com/office/drawing/2014/main" id="{69A28434-139A-1AF8-B9A4-8159F4B75E74}"/>
              </a:ext>
            </a:extLst>
          </p:cNvPr>
          <p:cNvSpPr/>
          <p:nvPr/>
        </p:nvSpPr>
        <p:spPr>
          <a:xfrm>
            <a:off x="11413739" y="4287639"/>
            <a:ext cx="310912" cy="310912"/>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3</a:t>
            </a:r>
          </a:p>
        </p:txBody>
      </p:sp>
      <p:sp>
        <p:nvSpPr>
          <p:cNvPr id="21" name="Oval 20">
            <a:extLst>
              <a:ext uri="{FF2B5EF4-FFF2-40B4-BE49-F238E27FC236}">
                <a16:creationId xmlns:a16="http://schemas.microsoft.com/office/drawing/2014/main" id="{D85BF41E-EA5E-9CA3-CB6D-4D9072398B11}"/>
              </a:ext>
            </a:extLst>
          </p:cNvPr>
          <p:cNvSpPr/>
          <p:nvPr/>
        </p:nvSpPr>
        <p:spPr>
          <a:xfrm>
            <a:off x="11708030" y="4943735"/>
            <a:ext cx="310912" cy="310912"/>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1</a:t>
            </a:r>
          </a:p>
        </p:txBody>
      </p:sp>
      <p:sp>
        <p:nvSpPr>
          <p:cNvPr id="22" name="Oval 21">
            <a:extLst>
              <a:ext uri="{FF2B5EF4-FFF2-40B4-BE49-F238E27FC236}">
                <a16:creationId xmlns:a16="http://schemas.microsoft.com/office/drawing/2014/main" id="{152C7EE3-D928-FD46-88D3-1A82CD25ED9A}"/>
              </a:ext>
            </a:extLst>
          </p:cNvPr>
          <p:cNvSpPr/>
          <p:nvPr/>
        </p:nvSpPr>
        <p:spPr>
          <a:xfrm>
            <a:off x="11432027" y="5683234"/>
            <a:ext cx="310912" cy="310912"/>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1</a:t>
            </a:r>
          </a:p>
        </p:txBody>
      </p:sp>
    </p:spTree>
    <p:extLst>
      <p:ext uri="{BB962C8B-B14F-4D97-AF65-F5344CB8AC3E}">
        <p14:creationId xmlns:p14="http://schemas.microsoft.com/office/powerpoint/2010/main" val="75697119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3E86E7-8DCB-1E05-A2CB-EEF6B5A32B1C}"/>
            </a:ext>
          </a:extLst>
        </p:cNvPr>
        <p:cNvGrpSpPr/>
        <p:nvPr/>
      </p:nvGrpSpPr>
      <p:grpSpPr>
        <a:xfrm>
          <a:off x="0" y="0"/>
          <a:ext cx="0" cy="0"/>
          <a:chOff x="0" y="0"/>
          <a:chExt cx="0" cy="0"/>
        </a:xfrm>
      </p:grpSpPr>
      <p:sp>
        <p:nvSpPr>
          <p:cNvPr id="82" name="TextBox 81">
            <a:extLst>
              <a:ext uri="{FF2B5EF4-FFF2-40B4-BE49-F238E27FC236}">
                <a16:creationId xmlns:a16="http://schemas.microsoft.com/office/drawing/2014/main" id="{1A0B4BB5-907D-86DF-B6C6-AA696AB8CE7D}"/>
              </a:ext>
            </a:extLst>
          </p:cNvPr>
          <p:cNvSpPr txBox="1"/>
          <p:nvPr/>
        </p:nvSpPr>
        <p:spPr>
          <a:xfrm>
            <a:off x="5832068" y="3254622"/>
            <a:ext cx="312906" cy="400110"/>
          </a:xfrm>
          <a:prstGeom prst="rect">
            <a:avLst/>
          </a:prstGeom>
          <a:noFill/>
        </p:spPr>
        <p:txBody>
          <a:bodyPr wrap="none" rtlCol="0">
            <a:spAutoFit/>
          </a:bodyPr>
          <a:lstStyle/>
          <a:p>
            <a:pPr algn="ctr"/>
            <a:r>
              <a:rPr lang="en-US" sz="2000" dirty="0"/>
              <a:t>x</a:t>
            </a:r>
            <a:endParaRPr lang="en-US" sz="2000" baseline="30000" dirty="0"/>
          </a:p>
        </p:txBody>
      </p:sp>
      <p:sp>
        <p:nvSpPr>
          <p:cNvPr id="83" name="TextBox 82">
            <a:extLst>
              <a:ext uri="{FF2B5EF4-FFF2-40B4-BE49-F238E27FC236}">
                <a16:creationId xmlns:a16="http://schemas.microsoft.com/office/drawing/2014/main" id="{EE02CCB3-0680-FC35-009B-CBFFE2653964}"/>
              </a:ext>
            </a:extLst>
          </p:cNvPr>
          <p:cNvSpPr txBox="1"/>
          <p:nvPr/>
        </p:nvSpPr>
        <p:spPr>
          <a:xfrm>
            <a:off x="6332127" y="3254622"/>
            <a:ext cx="3502754" cy="400110"/>
          </a:xfrm>
          <a:prstGeom prst="rect">
            <a:avLst/>
          </a:prstGeom>
          <a:noFill/>
        </p:spPr>
        <p:txBody>
          <a:bodyPr wrap="square" rtlCol="0">
            <a:spAutoFit/>
          </a:bodyPr>
          <a:lstStyle/>
          <a:p>
            <a:pPr algn="ctr"/>
            <a:r>
              <a:rPr lang="en-US" sz="2000" dirty="0">
                <a:solidFill>
                  <a:schemeClr val="tx1"/>
                </a:solidFill>
              </a:rPr>
              <a:t>Value growth drivers</a:t>
            </a:r>
            <a:endParaRPr lang="en-US" sz="2000" baseline="30000" dirty="0">
              <a:solidFill>
                <a:schemeClr val="tx1"/>
              </a:solidFill>
            </a:endParaRPr>
          </a:p>
        </p:txBody>
      </p:sp>
      <p:sp>
        <p:nvSpPr>
          <p:cNvPr id="3" name="TextBox 2">
            <a:extLst>
              <a:ext uri="{FF2B5EF4-FFF2-40B4-BE49-F238E27FC236}">
                <a16:creationId xmlns:a16="http://schemas.microsoft.com/office/drawing/2014/main" id="{C0BF4A5B-2A93-A329-2848-2335F6A1B1A2}"/>
              </a:ext>
            </a:extLst>
          </p:cNvPr>
          <p:cNvSpPr txBox="1"/>
          <p:nvPr/>
        </p:nvSpPr>
        <p:spPr>
          <a:xfrm>
            <a:off x="2032000" y="3254622"/>
            <a:ext cx="3270545" cy="400110"/>
          </a:xfrm>
          <a:prstGeom prst="rect">
            <a:avLst/>
          </a:prstGeom>
          <a:noFill/>
        </p:spPr>
        <p:txBody>
          <a:bodyPr wrap="square" rtlCol="0">
            <a:spAutoFit/>
          </a:bodyPr>
          <a:lstStyle/>
          <a:p>
            <a:pPr algn="ctr"/>
            <a:r>
              <a:rPr lang="en-US" sz="2000" dirty="0">
                <a:solidFill>
                  <a:srgbClr val="00B050"/>
                </a:solidFill>
              </a:rPr>
              <a:t>Value growth accelerators</a:t>
            </a:r>
            <a:endParaRPr lang="en-US" sz="2000" baseline="30000" dirty="0">
              <a:solidFill>
                <a:srgbClr val="00B050"/>
              </a:solidFill>
            </a:endParaRPr>
          </a:p>
        </p:txBody>
      </p:sp>
      <p:sp>
        <p:nvSpPr>
          <p:cNvPr id="22" name="Google Shape;96;p2">
            <a:extLst>
              <a:ext uri="{FF2B5EF4-FFF2-40B4-BE49-F238E27FC236}">
                <a16:creationId xmlns:a16="http://schemas.microsoft.com/office/drawing/2014/main" id="{22E5915A-9ECA-D6B6-BFA4-EF0A3F5C294B}"/>
              </a:ext>
            </a:extLst>
          </p:cNvPr>
          <p:cNvSpPr txBox="1">
            <a:spLocks/>
          </p:cNvSpPr>
          <p:nvPr/>
        </p:nvSpPr>
        <p:spPr>
          <a:xfrm>
            <a:off x="838199" y="365125"/>
            <a:ext cx="8950569" cy="1325563"/>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90000"/>
              </a:lnSpc>
              <a:spcBef>
                <a:spcPts val="0"/>
              </a:spcBef>
              <a:spcAft>
                <a:spcPts val="0"/>
              </a:spcAft>
              <a:buClr>
                <a:srgbClr val="000000"/>
              </a:buClr>
              <a:buSzPts val="4400"/>
              <a:buFont typeface="Calibri"/>
              <a:buNone/>
              <a:tabLst/>
              <a:defRPr/>
            </a:pPr>
            <a:r>
              <a:rPr kumimoji="0" lang="en-US" sz="44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Using the AccelRR8 Framework</a:t>
            </a:r>
            <a:br>
              <a:rPr kumimoji="0" lang="en-US" sz="44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br>
            <a:r>
              <a:rPr kumimoji="0" lang="en-US" sz="44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to grow value exponentially</a:t>
            </a:r>
          </a:p>
        </p:txBody>
      </p:sp>
      <p:sp>
        <p:nvSpPr>
          <p:cNvPr id="2" name="TextBox 1">
            <a:extLst>
              <a:ext uri="{FF2B5EF4-FFF2-40B4-BE49-F238E27FC236}">
                <a16:creationId xmlns:a16="http://schemas.microsoft.com/office/drawing/2014/main" id="{113D85A5-E1E2-3876-B990-05B2FE7F918D}"/>
              </a:ext>
            </a:extLst>
          </p:cNvPr>
          <p:cNvSpPr txBox="1"/>
          <p:nvPr/>
        </p:nvSpPr>
        <p:spPr>
          <a:xfrm>
            <a:off x="838199" y="2352683"/>
            <a:ext cx="8922635" cy="400110"/>
          </a:xfrm>
          <a:prstGeom prst="rect">
            <a:avLst/>
          </a:prstGeom>
          <a:noFill/>
        </p:spPr>
        <p:txBody>
          <a:bodyPr wrap="none" rtlCol="0">
            <a:spAutoFit/>
          </a:bodyPr>
          <a:lstStyle/>
          <a:p>
            <a:r>
              <a:rPr lang="en-US" sz="2000" dirty="0"/>
              <a:t>Value growth curve over time  =   Initial value  x  ( </a:t>
            </a:r>
            <a:r>
              <a:rPr lang="en-US" sz="2000" b="1" dirty="0">
                <a:solidFill>
                  <a:srgbClr val="00B050"/>
                </a:solidFill>
              </a:rPr>
              <a:t>Value growth factor </a:t>
            </a:r>
            <a:r>
              <a:rPr lang="en-US" sz="2000" dirty="0"/>
              <a:t>) </a:t>
            </a:r>
            <a:r>
              <a:rPr lang="en-US" sz="2800" baseline="30000" dirty="0"/>
              <a:t>time</a:t>
            </a:r>
            <a:endParaRPr lang="en-US" sz="2000" baseline="30000" dirty="0"/>
          </a:p>
        </p:txBody>
      </p:sp>
      <p:sp>
        <p:nvSpPr>
          <p:cNvPr id="81" name="Left Brace 80">
            <a:extLst>
              <a:ext uri="{FF2B5EF4-FFF2-40B4-BE49-F238E27FC236}">
                <a16:creationId xmlns:a16="http://schemas.microsoft.com/office/drawing/2014/main" id="{AF186FB3-F308-51BF-505D-1559D6AEDF25}"/>
              </a:ext>
            </a:extLst>
          </p:cNvPr>
          <p:cNvSpPr/>
          <p:nvPr/>
        </p:nvSpPr>
        <p:spPr>
          <a:xfrm rot="5400000">
            <a:off x="6023569" y="-2372596"/>
            <a:ext cx="781976" cy="11152716"/>
          </a:xfrm>
          <a:prstGeom prst="leftBrace">
            <a:avLst>
              <a:gd name="adj1" fmla="val 31648"/>
              <a:gd name="adj2" fmla="val 38351"/>
            </a:avLst>
          </a:prstGeom>
          <a:ln w="38100">
            <a:solidFill>
              <a:srgbClr val="00B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pic>
        <p:nvPicPr>
          <p:cNvPr id="4" name="Picture 2">
            <a:extLst>
              <a:ext uri="{FF2B5EF4-FFF2-40B4-BE49-F238E27FC236}">
                <a16:creationId xmlns:a16="http://schemas.microsoft.com/office/drawing/2014/main" id="{D22CFCA3-A334-83FA-FA8E-5579AA521B6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58264" y="1761021"/>
            <a:ext cx="1287166" cy="649952"/>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17">
            <a:extLst>
              <a:ext uri="{FF2B5EF4-FFF2-40B4-BE49-F238E27FC236}">
                <a16:creationId xmlns:a16="http://schemas.microsoft.com/office/drawing/2014/main" id="{7860395F-E7D3-2302-21CA-18368B907DEA}"/>
              </a:ext>
            </a:extLst>
          </p:cNvPr>
          <p:cNvPicPr>
            <a:picLocks noChangeAspect="1"/>
          </p:cNvPicPr>
          <p:nvPr/>
        </p:nvPicPr>
        <p:blipFill>
          <a:blip r:embed="rId4"/>
          <a:stretch>
            <a:fillRect/>
          </a:stretch>
        </p:blipFill>
        <p:spPr>
          <a:xfrm>
            <a:off x="2652522" y="3888821"/>
            <a:ext cx="2185418" cy="2604053"/>
          </a:xfrm>
          <a:prstGeom prst="rect">
            <a:avLst/>
          </a:prstGeom>
        </p:spPr>
      </p:pic>
      <p:pic>
        <p:nvPicPr>
          <p:cNvPr id="16" name="Picture 15">
            <a:extLst>
              <a:ext uri="{FF2B5EF4-FFF2-40B4-BE49-F238E27FC236}">
                <a16:creationId xmlns:a16="http://schemas.microsoft.com/office/drawing/2014/main" id="{07DF95C1-8EC8-186E-0E76-EDC06B98F951}"/>
              </a:ext>
            </a:extLst>
          </p:cNvPr>
          <p:cNvPicPr>
            <a:picLocks noChangeAspect="1"/>
          </p:cNvPicPr>
          <p:nvPr/>
        </p:nvPicPr>
        <p:blipFill>
          <a:blip r:embed="rId5"/>
          <a:stretch>
            <a:fillRect/>
          </a:stretch>
        </p:blipFill>
        <p:spPr>
          <a:xfrm>
            <a:off x="478865" y="4455537"/>
            <a:ext cx="2229156" cy="1303913"/>
          </a:xfrm>
          <a:prstGeom prst="rect">
            <a:avLst/>
          </a:prstGeom>
        </p:spPr>
      </p:pic>
    </p:spTree>
    <p:extLst>
      <p:ext uri="{BB962C8B-B14F-4D97-AF65-F5344CB8AC3E}">
        <p14:creationId xmlns:p14="http://schemas.microsoft.com/office/powerpoint/2010/main" val="5216787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03A62E-16AC-8196-2EBA-31DB7A79D6D2}"/>
            </a:ext>
          </a:extLst>
        </p:cNvPr>
        <p:cNvGrpSpPr/>
        <p:nvPr/>
      </p:nvGrpSpPr>
      <p:grpSpPr>
        <a:xfrm>
          <a:off x="0" y="0"/>
          <a:ext cx="0" cy="0"/>
          <a:chOff x="0" y="0"/>
          <a:chExt cx="0" cy="0"/>
        </a:xfrm>
      </p:grpSpPr>
      <p:sp>
        <p:nvSpPr>
          <p:cNvPr id="22" name="Google Shape;96;p2">
            <a:extLst>
              <a:ext uri="{FF2B5EF4-FFF2-40B4-BE49-F238E27FC236}">
                <a16:creationId xmlns:a16="http://schemas.microsoft.com/office/drawing/2014/main" id="{F314178A-4CAC-9851-2947-4420A4B136D2}"/>
              </a:ext>
            </a:extLst>
          </p:cNvPr>
          <p:cNvSpPr txBox="1">
            <a:spLocks/>
          </p:cNvSpPr>
          <p:nvPr/>
        </p:nvSpPr>
        <p:spPr>
          <a:xfrm>
            <a:off x="838199" y="365125"/>
            <a:ext cx="8950569" cy="1325563"/>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90000"/>
              </a:lnSpc>
              <a:spcBef>
                <a:spcPts val="0"/>
              </a:spcBef>
              <a:spcAft>
                <a:spcPts val="0"/>
              </a:spcAft>
              <a:buClr>
                <a:srgbClr val="000000"/>
              </a:buClr>
              <a:buSzPts val="4400"/>
              <a:buFont typeface="Calibri"/>
              <a:buNone/>
              <a:tabLst/>
              <a:defRPr/>
            </a:pPr>
            <a:r>
              <a:rPr kumimoji="0" lang="en-US" sz="44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Using the AccelRR8 Framework:</a:t>
            </a:r>
            <a:br>
              <a:rPr kumimoji="0" lang="en-US" sz="44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br>
            <a:r>
              <a:rPr kumimoji="0" lang="en-US" sz="44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Business valuation example</a:t>
            </a:r>
          </a:p>
        </p:txBody>
      </p:sp>
      <p:sp>
        <p:nvSpPr>
          <p:cNvPr id="2" name="TextBox 1">
            <a:extLst>
              <a:ext uri="{FF2B5EF4-FFF2-40B4-BE49-F238E27FC236}">
                <a16:creationId xmlns:a16="http://schemas.microsoft.com/office/drawing/2014/main" id="{DFA24F85-CFE7-02B8-D001-33C81B052389}"/>
              </a:ext>
            </a:extLst>
          </p:cNvPr>
          <p:cNvSpPr txBox="1"/>
          <p:nvPr/>
        </p:nvSpPr>
        <p:spPr>
          <a:xfrm>
            <a:off x="954016" y="2352683"/>
            <a:ext cx="10302820" cy="400110"/>
          </a:xfrm>
          <a:prstGeom prst="rect">
            <a:avLst/>
          </a:prstGeom>
          <a:noFill/>
        </p:spPr>
        <p:txBody>
          <a:bodyPr wrap="none" rtlCol="0">
            <a:spAutoFit/>
          </a:bodyPr>
          <a:lstStyle/>
          <a:p>
            <a:r>
              <a:rPr lang="en-US" sz="2000" b="1" dirty="0"/>
              <a:t>Valuation</a:t>
            </a:r>
            <a:r>
              <a:rPr lang="en-US" sz="2000" dirty="0"/>
              <a:t> growth curve over time  =   Initial valuation  x  ( </a:t>
            </a:r>
            <a:r>
              <a:rPr lang="en-US" sz="2000" b="1" dirty="0">
                <a:solidFill>
                  <a:srgbClr val="00B050"/>
                </a:solidFill>
              </a:rPr>
              <a:t>Valuation growth factor </a:t>
            </a:r>
            <a:r>
              <a:rPr lang="en-US" sz="2000" dirty="0"/>
              <a:t>) </a:t>
            </a:r>
            <a:r>
              <a:rPr lang="en-US" sz="2800" baseline="30000" dirty="0"/>
              <a:t>time</a:t>
            </a:r>
            <a:endParaRPr lang="en-US" sz="2000" baseline="30000" dirty="0"/>
          </a:p>
        </p:txBody>
      </p:sp>
      <p:sp>
        <p:nvSpPr>
          <p:cNvPr id="4" name="TextBox 3">
            <a:extLst>
              <a:ext uri="{FF2B5EF4-FFF2-40B4-BE49-F238E27FC236}">
                <a16:creationId xmlns:a16="http://schemas.microsoft.com/office/drawing/2014/main" id="{9E98CE80-F170-8D1D-2D02-499B56F03AB3}"/>
              </a:ext>
            </a:extLst>
          </p:cNvPr>
          <p:cNvSpPr txBox="1"/>
          <p:nvPr/>
        </p:nvSpPr>
        <p:spPr>
          <a:xfrm>
            <a:off x="7156992" y="3913360"/>
            <a:ext cx="4826962" cy="1938992"/>
          </a:xfrm>
          <a:prstGeom prst="rect">
            <a:avLst/>
          </a:prstGeom>
          <a:noFill/>
        </p:spPr>
        <p:txBody>
          <a:bodyPr wrap="none" rtlCol="0">
            <a:spAutoFit/>
          </a:bodyPr>
          <a:lstStyle/>
          <a:p>
            <a:r>
              <a:rPr lang="en-US" sz="1200" dirty="0">
                <a:solidFill>
                  <a:schemeClr val="tx1"/>
                </a:solidFill>
              </a:rPr>
              <a:t>COO:  Margin Expansion (e.g., Productivity)</a:t>
            </a:r>
          </a:p>
          <a:p>
            <a:r>
              <a:rPr lang="en-US" sz="1200" dirty="0">
                <a:solidFill>
                  <a:schemeClr val="tx1"/>
                </a:solidFill>
              </a:rPr>
              <a:t>CPO (Product):  Product Growth and Profitability (e.g., CLV, P&amp;L)</a:t>
            </a:r>
          </a:p>
          <a:p>
            <a:r>
              <a:rPr lang="en-US" sz="1200" dirty="0">
                <a:solidFill>
                  <a:schemeClr val="tx1"/>
                </a:solidFill>
              </a:rPr>
              <a:t>CMO:  Market Growth (e.g., Unqualified Pipe, Conversion Rates)</a:t>
            </a:r>
          </a:p>
          <a:p>
            <a:r>
              <a:rPr lang="en-US" sz="1200" dirty="0">
                <a:solidFill>
                  <a:schemeClr val="tx1"/>
                </a:solidFill>
              </a:rPr>
              <a:t>CRO:  Customer Growth (e.g., Sales, Revenues)</a:t>
            </a:r>
          </a:p>
          <a:p>
            <a:r>
              <a:rPr lang="en-US" sz="1200" dirty="0">
                <a:solidFill>
                  <a:schemeClr val="tx1"/>
                </a:solidFill>
              </a:rPr>
              <a:t>CDO (Delivery):  Cust. Retention, Profitability (e.g., </a:t>
            </a:r>
            <a:r>
              <a:rPr lang="en-US" sz="1200" dirty="0" err="1">
                <a:solidFill>
                  <a:schemeClr val="tx1"/>
                </a:solidFill>
              </a:rPr>
              <a:t>CSat</a:t>
            </a:r>
            <a:r>
              <a:rPr lang="en-US" sz="1200" dirty="0">
                <a:solidFill>
                  <a:schemeClr val="tx1"/>
                </a:solidFill>
              </a:rPr>
              <a:t>, P&amp;L)</a:t>
            </a:r>
          </a:p>
          <a:p>
            <a:r>
              <a:rPr lang="en-US" sz="1200" dirty="0">
                <a:solidFill>
                  <a:schemeClr val="tx1"/>
                </a:solidFill>
              </a:rPr>
              <a:t>CHRO:  People Engagement  </a:t>
            </a:r>
          </a:p>
          <a:p>
            <a:r>
              <a:rPr lang="en-US" sz="1200" dirty="0">
                <a:solidFill>
                  <a:schemeClr val="tx1"/>
                </a:solidFill>
              </a:rPr>
              <a:t>CFO:  Investor Engagement (e.g., Financial Posture)</a:t>
            </a:r>
          </a:p>
          <a:p>
            <a:r>
              <a:rPr lang="en-US" sz="1200" dirty="0">
                <a:solidFill>
                  <a:schemeClr val="tx1"/>
                </a:solidFill>
              </a:rPr>
              <a:t>CTO:  Tech Community Engagement (e.g., “Street Cred”)</a:t>
            </a:r>
          </a:p>
          <a:p>
            <a:r>
              <a:rPr lang="en-US" sz="1200" dirty="0">
                <a:solidFill>
                  <a:schemeClr val="tx1"/>
                </a:solidFill>
              </a:rPr>
              <a:t>CPO (Property):  Supplier Engagement</a:t>
            </a:r>
          </a:p>
          <a:p>
            <a:r>
              <a:rPr lang="en-US" sz="1200" dirty="0">
                <a:solidFill>
                  <a:schemeClr val="tx1"/>
                </a:solidFill>
              </a:rPr>
              <a:t>CRO (Responsibility):  Public Engagement</a:t>
            </a:r>
          </a:p>
        </p:txBody>
      </p:sp>
      <p:sp>
        <p:nvSpPr>
          <p:cNvPr id="37" name="Rectangle 36">
            <a:extLst>
              <a:ext uri="{FF2B5EF4-FFF2-40B4-BE49-F238E27FC236}">
                <a16:creationId xmlns:a16="http://schemas.microsoft.com/office/drawing/2014/main" id="{10D79E4F-A60F-415F-E28D-3AAA0AD5AE66}"/>
              </a:ext>
            </a:extLst>
          </p:cNvPr>
          <p:cNvSpPr/>
          <p:nvPr/>
        </p:nvSpPr>
        <p:spPr>
          <a:xfrm>
            <a:off x="6353028" y="4192793"/>
            <a:ext cx="834130" cy="641230"/>
          </a:xfrm>
          <a:prstGeom prst="rect">
            <a:avLst/>
          </a:pr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dirty="0"/>
              <a:t>Go-to-Market</a:t>
            </a:r>
          </a:p>
        </p:txBody>
      </p:sp>
      <p:sp>
        <p:nvSpPr>
          <p:cNvPr id="38" name="Rectangle 37">
            <a:extLst>
              <a:ext uri="{FF2B5EF4-FFF2-40B4-BE49-F238E27FC236}">
                <a16:creationId xmlns:a16="http://schemas.microsoft.com/office/drawing/2014/main" id="{52E5C62B-1E1E-B686-9189-6FE808886219}"/>
              </a:ext>
            </a:extLst>
          </p:cNvPr>
          <p:cNvSpPr/>
          <p:nvPr/>
        </p:nvSpPr>
        <p:spPr>
          <a:xfrm>
            <a:off x="6353028" y="4871954"/>
            <a:ext cx="834130" cy="896747"/>
          </a:xfrm>
          <a:prstGeom prst="rect">
            <a:avLst/>
          </a:pr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dirty="0"/>
              <a:t>Support</a:t>
            </a:r>
          </a:p>
        </p:txBody>
      </p:sp>
      <p:sp>
        <p:nvSpPr>
          <p:cNvPr id="39" name="Rectangle 38">
            <a:extLst>
              <a:ext uri="{FF2B5EF4-FFF2-40B4-BE49-F238E27FC236}">
                <a16:creationId xmlns:a16="http://schemas.microsoft.com/office/drawing/2014/main" id="{D21D8D6D-CE0C-EE0C-7341-19929B87BCB6}"/>
              </a:ext>
            </a:extLst>
          </p:cNvPr>
          <p:cNvSpPr/>
          <p:nvPr/>
        </p:nvSpPr>
        <p:spPr>
          <a:xfrm>
            <a:off x="6353028" y="3942821"/>
            <a:ext cx="834130" cy="210557"/>
          </a:xfrm>
          <a:prstGeom prst="rect">
            <a:avLst/>
          </a:pr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dirty="0"/>
              <a:t>Integration</a:t>
            </a:r>
          </a:p>
        </p:txBody>
      </p:sp>
      <p:sp>
        <p:nvSpPr>
          <p:cNvPr id="3" name="TextBox 2">
            <a:extLst>
              <a:ext uri="{FF2B5EF4-FFF2-40B4-BE49-F238E27FC236}">
                <a16:creationId xmlns:a16="http://schemas.microsoft.com/office/drawing/2014/main" id="{28DA49D8-CBB0-DD9B-5F45-2114B7769ED6}"/>
              </a:ext>
            </a:extLst>
          </p:cNvPr>
          <p:cNvSpPr txBox="1"/>
          <p:nvPr/>
        </p:nvSpPr>
        <p:spPr>
          <a:xfrm>
            <a:off x="1849121" y="3254622"/>
            <a:ext cx="3636304" cy="400110"/>
          </a:xfrm>
          <a:prstGeom prst="rect">
            <a:avLst/>
          </a:prstGeom>
          <a:noFill/>
        </p:spPr>
        <p:txBody>
          <a:bodyPr wrap="square" rtlCol="0">
            <a:spAutoFit/>
          </a:bodyPr>
          <a:lstStyle/>
          <a:p>
            <a:pPr algn="ctr"/>
            <a:r>
              <a:rPr lang="en-US" sz="2000" dirty="0">
                <a:solidFill>
                  <a:srgbClr val="00B050"/>
                </a:solidFill>
              </a:rPr>
              <a:t>Valuation growth accelerators:</a:t>
            </a:r>
            <a:endParaRPr lang="en-US" sz="2000" baseline="30000" dirty="0">
              <a:solidFill>
                <a:srgbClr val="00B050"/>
              </a:solidFill>
            </a:endParaRPr>
          </a:p>
        </p:txBody>
      </p:sp>
      <p:sp>
        <p:nvSpPr>
          <p:cNvPr id="5" name="TextBox 4">
            <a:extLst>
              <a:ext uri="{FF2B5EF4-FFF2-40B4-BE49-F238E27FC236}">
                <a16:creationId xmlns:a16="http://schemas.microsoft.com/office/drawing/2014/main" id="{10530B86-1FA2-605D-0152-CC780DCE164D}"/>
              </a:ext>
            </a:extLst>
          </p:cNvPr>
          <p:cNvSpPr txBox="1"/>
          <p:nvPr/>
        </p:nvSpPr>
        <p:spPr>
          <a:xfrm>
            <a:off x="5832068" y="3268977"/>
            <a:ext cx="312906" cy="400110"/>
          </a:xfrm>
          <a:prstGeom prst="rect">
            <a:avLst/>
          </a:prstGeom>
          <a:noFill/>
        </p:spPr>
        <p:txBody>
          <a:bodyPr wrap="none" rtlCol="0">
            <a:spAutoFit/>
          </a:bodyPr>
          <a:lstStyle/>
          <a:p>
            <a:pPr algn="ctr"/>
            <a:r>
              <a:rPr lang="en-US" sz="2000" dirty="0"/>
              <a:t>x</a:t>
            </a:r>
            <a:endParaRPr lang="en-US" sz="2000" baseline="30000" dirty="0"/>
          </a:p>
        </p:txBody>
      </p:sp>
      <p:sp>
        <p:nvSpPr>
          <p:cNvPr id="6" name="TextBox 5">
            <a:extLst>
              <a:ext uri="{FF2B5EF4-FFF2-40B4-BE49-F238E27FC236}">
                <a16:creationId xmlns:a16="http://schemas.microsoft.com/office/drawing/2014/main" id="{C546FCEF-B520-A425-0EA6-262B3C49CC83}"/>
              </a:ext>
            </a:extLst>
          </p:cNvPr>
          <p:cNvSpPr txBox="1"/>
          <p:nvPr/>
        </p:nvSpPr>
        <p:spPr>
          <a:xfrm>
            <a:off x="6332127" y="3268977"/>
            <a:ext cx="3502754" cy="400110"/>
          </a:xfrm>
          <a:prstGeom prst="rect">
            <a:avLst/>
          </a:prstGeom>
          <a:noFill/>
        </p:spPr>
        <p:txBody>
          <a:bodyPr wrap="square" rtlCol="0">
            <a:spAutoFit/>
          </a:bodyPr>
          <a:lstStyle/>
          <a:p>
            <a:pPr algn="ctr"/>
            <a:r>
              <a:rPr lang="en-US" sz="2000" dirty="0">
                <a:solidFill>
                  <a:schemeClr val="tx1"/>
                </a:solidFill>
              </a:rPr>
              <a:t>Valuation growth drivers:</a:t>
            </a:r>
            <a:endParaRPr lang="en-US" sz="2000" baseline="30000" dirty="0">
              <a:solidFill>
                <a:schemeClr val="tx1"/>
              </a:solidFill>
            </a:endParaRPr>
          </a:p>
        </p:txBody>
      </p:sp>
      <p:pic>
        <p:nvPicPr>
          <p:cNvPr id="7" name="Picture 2">
            <a:extLst>
              <a:ext uri="{FF2B5EF4-FFF2-40B4-BE49-F238E27FC236}">
                <a16:creationId xmlns:a16="http://schemas.microsoft.com/office/drawing/2014/main" id="{D520EEDE-800F-6A87-7FF5-C4911A82F5F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34387" y="1761021"/>
            <a:ext cx="1287166" cy="649952"/>
          </a:xfrm>
          <a:prstGeom prst="rect">
            <a:avLst/>
          </a:prstGeom>
          <a:noFill/>
          <a:extLst>
            <a:ext uri="{909E8E84-426E-40DD-AFC4-6F175D3DCCD1}">
              <a14:hiddenFill xmlns:a14="http://schemas.microsoft.com/office/drawing/2010/main">
                <a:solidFill>
                  <a:srgbClr val="FFFFFF"/>
                </a:solidFill>
              </a14:hiddenFill>
            </a:ext>
          </a:extLst>
        </p:spPr>
      </p:pic>
      <p:sp>
        <p:nvSpPr>
          <p:cNvPr id="13" name="Left Brace 12">
            <a:extLst>
              <a:ext uri="{FF2B5EF4-FFF2-40B4-BE49-F238E27FC236}">
                <a16:creationId xmlns:a16="http://schemas.microsoft.com/office/drawing/2014/main" id="{ADC6F0DA-5047-F6D0-0535-0D928D649E9E}"/>
              </a:ext>
            </a:extLst>
          </p:cNvPr>
          <p:cNvSpPr/>
          <p:nvPr/>
        </p:nvSpPr>
        <p:spPr>
          <a:xfrm rot="5400000">
            <a:off x="6023569" y="-2372596"/>
            <a:ext cx="781976" cy="11152716"/>
          </a:xfrm>
          <a:prstGeom prst="leftBrace">
            <a:avLst>
              <a:gd name="adj1" fmla="val 31648"/>
              <a:gd name="adj2" fmla="val 25161"/>
            </a:avLst>
          </a:prstGeom>
          <a:ln w="38100">
            <a:solidFill>
              <a:srgbClr val="00B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pic>
        <p:nvPicPr>
          <p:cNvPr id="14" name="Picture 13">
            <a:extLst>
              <a:ext uri="{FF2B5EF4-FFF2-40B4-BE49-F238E27FC236}">
                <a16:creationId xmlns:a16="http://schemas.microsoft.com/office/drawing/2014/main" id="{B8254B0F-DE95-89AF-B9E2-B719F31C54FB}"/>
              </a:ext>
            </a:extLst>
          </p:cNvPr>
          <p:cNvPicPr>
            <a:picLocks noChangeAspect="1"/>
          </p:cNvPicPr>
          <p:nvPr/>
        </p:nvPicPr>
        <p:blipFill>
          <a:blip r:embed="rId4"/>
          <a:stretch>
            <a:fillRect/>
          </a:stretch>
        </p:blipFill>
        <p:spPr>
          <a:xfrm>
            <a:off x="2652522" y="3888821"/>
            <a:ext cx="2185418" cy="2604053"/>
          </a:xfrm>
          <a:prstGeom prst="rect">
            <a:avLst/>
          </a:prstGeom>
        </p:spPr>
      </p:pic>
    </p:spTree>
    <p:extLst>
      <p:ext uri="{BB962C8B-B14F-4D97-AF65-F5344CB8AC3E}">
        <p14:creationId xmlns:p14="http://schemas.microsoft.com/office/powerpoint/2010/main" val="30133732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E91A8E-7723-B4D2-EA8D-BA334AF302AA}"/>
            </a:ext>
          </a:extLst>
        </p:cNvPr>
        <p:cNvGrpSpPr/>
        <p:nvPr/>
      </p:nvGrpSpPr>
      <p:grpSpPr>
        <a:xfrm>
          <a:off x="0" y="0"/>
          <a:ext cx="0" cy="0"/>
          <a:chOff x="0" y="0"/>
          <a:chExt cx="0" cy="0"/>
        </a:xfrm>
      </p:grpSpPr>
      <p:sp>
        <p:nvSpPr>
          <p:cNvPr id="22" name="Google Shape;96;p2">
            <a:extLst>
              <a:ext uri="{FF2B5EF4-FFF2-40B4-BE49-F238E27FC236}">
                <a16:creationId xmlns:a16="http://schemas.microsoft.com/office/drawing/2014/main" id="{ACF1CE4D-A8F0-F92F-49C6-774205D87F21}"/>
              </a:ext>
            </a:extLst>
          </p:cNvPr>
          <p:cNvSpPr txBox="1">
            <a:spLocks/>
          </p:cNvSpPr>
          <p:nvPr/>
        </p:nvSpPr>
        <p:spPr>
          <a:xfrm>
            <a:off x="838199" y="365125"/>
            <a:ext cx="8950569" cy="1325563"/>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90000"/>
              </a:lnSpc>
              <a:spcBef>
                <a:spcPts val="0"/>
              </a:spcBef>
              <a:spcAft>
                <a:spcPts val="0"/>
              </a:spcAft>
              <a:buClr>
                <a:srgbClr val="000000"/>
              </a:buClr>
              <a:buSzPts val="4400"/>
              <a:buFont typeface="Calibri"/>
              <a:buNone/>
              <a:tabLst/>
              <a:defRPr/>
            </a:pPr>
            <a:r>
              <a:rPr kumimoji="0" lang="en-US" sz="44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Using the AccelRR8 Framework:</a:t>
            </a:r>
            <a:br>
              <a:rPr kumimoji="0" lang="en-US" sz="44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br>
            <a:r>
              <a:rPr kumimoji="0" lang="en-US" sz="44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Business valuation example</a:t>
            </a:r>
          </a:p>
        </p:txBody>
      </p:sp>
      <p:sp>
        <p:nvSpPr>
          <p:cNvPr id="2" name="TextBox 1">
            <a:extLst>
              <a:ext uri="{FF2B5EF4-FFF2-40B4-BE49-F238E27FC236}">
                <a16:creationId xmlns:a16="http://schemas.microsoft.com/office/drawing/2014/main" id="{77F55E2B-1F9C-81F4-1F77-F211046A93CA}"/>
              </a:ext>
            </a:extLst>
          </p:cNvPr>
          <p:cNvSpPr txBox="1"/>
          <p:nvPr/>
        </p:nvSpPr>
        <p:spPr>
          <a:xfrm>
            <a:off x="954016" y="2352683"/>
            <a:ext cx="10302820" cy="400110"/>
          </a:xfrm>
          <a:prstGeom prst="rect">
            <a:avLst/>
          </a:prstGeom>
          <a:noFill/>
        </p:spPr>
        <p:txBody>
          <a:bodyPr wrap="none" rtlCol="0">
            <a:spAutoFit/>
          </a:bodyPr>
          <a:lstStyle/>
          <a:p>
            <a:r>
              <a:rPr lang="en-US" sz="2000" b="1" dirty="0"/>
              <a:t>Valuation</a:t>
            </a:r>
            <a:r>
              <a:rPr lang="en-US" sz="2000" dirty="0"/>
              <a:t> growth curve over time  =   Initial valuation  x  ( </a:t>
            </a:r>
            <a:r>
              <a:rPr lang="en-US" sz="2000" b="1" dirty="0">
                <a:solidFill>
                  <a:srgbClr val="00B050"/>
                </a:solidFill>
              </a:rPr>
              <a:t>Valuation growth factor </a:t>
            </a:r>
            <a:r>
              <a:rPr lang="en-US" sz="2000" dirty="0"/>
              <a:t>) </a:t>
            </a:r>
            <a:r>
              <a:rPr lang="en-US" sz="2800" baseline="30000" dirty="0"/>
              <a:t>time</a:t>
            </a:r>
            <a:endParaRPr lang="en-US" sz="2000" baseline="30000" dirty="0"/>
          </a:p>
        </p:txBody>
      </p:sp>
      <p:sp>
        <p:nvSpPr>
          <p:cNvPr id="4" name="TextBox 3">
            <a:extLst>
              <a:ext uri="{FF2B5EF4-FFF2-40B4-BE49-F238E27FC236}">
                <a16:creationId xmlns:a16="http://schemas.microsoft.com/office/drawing/2014/main" id="{93F316F0-5CB0-7C80-93A9-FFC2A3D3B1E1}"/>
              </a:ext>
            </a:extLst>
          </p:cNvPr>
          <p:cNvSpPr txBox="1"/>
          <p:nvPr/>
        </p:nvSpPr>
        <p:spPr>
          <a:xfrm>
            <a:off x="7156992" y="4868855"/>
            <a:ext cx="4826962" cy="1938992"/>
          </a:xfrm>
          <a:prstGeom prst="rect">
            <a:avLst/>
          </a:prstGeom>
          <a:noFill/>
        </p:spPr>
        <p:txBody>
          <a:bodyPr wrap="none" rtlCol="0">
            <a:spAutoFit/>
          </a:bodyPr>
          <a:lstStyle/>
          <a:p>
            <a:r>
              <a:rPr lang="en-US" sz="1200" dirty="0">
                <a:solidFill>
                  <a:schemeClr val="tx1"/>
                </a:solidFill>
              </a:rPr>
              <a:t>COO:  Margin Expansion (e.g., Productivity)</a:t>
            </a:r>
          </a:p>
          <a:p>
            <a:r>
              <a:rPr lang="en-US" sz="1200" dirty="0">
                <a:solidFill>
                  <a:schemeClr val="tx1"/>
                </a:solidFill>
              </a:rPr>
              <a:t>CPO (Product):  Product Growth and Profitability (e.g., CLV, P&amp;L)</a:t>
            </a:r>
          </a:p>
          <a:p>
            <a:r>
              <a:rPr lang="en-US" sz="1200" dirty="0">
                <a:solidFill>
                  <a:schemeClr val="tx1"/>
                </a:solidFill>
              </a:rPr>
              <a:t>CMO:  Market Growth (e.g., Unqualified Pipe, Conversion Rates)</a:t>
            </a:r>
          </a:p>
          <a:p>
            <a:r>
              <a:rPr lang="en-US" sz="1200" dirty="0">
                <a:solidFill>
                  <a:schemeClr val="tx1"/>
                </a:solidFill>
              </a:rPr>
              <a:t>CRO:  Customer Growth (e.g., Sales, Revenues)</a:t>
            </a:r>
          </a:p>
          <a:p>
            <a:r>
              <a:rPr lang="en-US" sz="1200" dirty="0">
                <a:solidFill>
                  <a:schemeClr val="tx1"/>
                </a:solidFill>
              </a:rPr>
              <a:t>CDO (Delivery):  Cust. Retention, Profitability (e.g., </a:t>
            </a:r>
            <a:r>
              <a:rPr lang="en-US" sz="1200" dirty="0" err="1">
                <a:solidFill>
                  <a:schemeClr val="tx1"/>
                </a:solidFill>
              </a:rPr>
              <a:t>CSat</a:t>
            </a:r>
            <a:r>
              <a:rPr lang="en-US" sz="1200" dirty="0">
                <a:solidFill>
                  <a:schemeClr val="tx1"/>
                </a:solidFill>
              </a:rPr>
              <a:t>, P&amp;L)</a:t>
            </a:r>
          </a:p>
          <a:p>
            <a:r>
              <a:rPr lang="en-US" sz="1200" dirty="0">
                <a:solidFill>
                  <a:schemeClr val="tx1"/>
                </a:solidFill>
              </a:rPr>
              <a:t>CHRO:  People Engagement  </a:t>
            </a:r>
          </a:p>
          <a:p>
            <a:r>
              <a:rPr lang="en-US" sz="1200" dirty="0">
                <a:solidFill>
                  <a:schemeClr val="tx1"/>
                </a:solidFill>
              </a:rPr>
              <a:t>CFO:  Investor Engagement (e.g., Financial Posture)</a:t>
            </a:r>
          </a:p>
          <a:p>
            <a:r>
              <a:rPr lang="en-US" sz="1200" dirty="0">
                <a:solidFill>
                  <a:schemeClr val="tx1"/>
                </a:solidFill>
              </a:rPr>
              <a:t>CTO:  Tech Community Engagement (e.g., “Street Cred”)</a:t>
            </a:r>
          </a:p>
          <a:p>
            <a:r>
              <a:rPr lang="en-US" sz="1200" dirty="0">
                <a:solidFill>
                  <a:schemeClr val="tx1"/>
                </a:solidFill>
              </a:rPr>
              <a:t>CPO (Property):  Supplier Engagement</a:t>
            </a:r>
          </a:p>
          <a:p>
            <a:r>
              <a:rPr lang="en-US" sz="1200" dirty="0">
                <a:solidFill>
                  <a:schemeClr val="tx1"/>
                </a:solidFill>
              </a:rPr>
              <a:t>CRO (Responsibility):  Public Engagement</a:t>
            </a:r>
          </a:p>
        </p:txBody>
      </p:sp>
      <p:sp>
        <p:nvSpPr>
          <p:cNvPr id="37" name="Rectangle 36">
            <a:extLst>
              <a:ext uri="{FF2B5EF4-FFF2-40B4-BE49-F238E27FC236}">
                <a16:creationId xmlns:a16="http://schemas.microsoft.com/office/drawing/2014/main" id="{07EC06D4-B255-8E94-0511-93249EF6D9D7}"/>
              </a:ext>
            </a:extLst>
          </p:cNvPr>
          <p:cNvSpPr/>
          <p:nvPr/>
        </p:nvSpPr>
        <p:spPr>
          <a:xfrm>
            <a:off x="6353028" y="5148288"/>
            <a:ext cx="834130" cy="641230"/>
          </a:xfrm>
          <a:prstGeom prst="rect">
            <a:avLst/>
          </a:pr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dirty="0"/>
              <a:t>Go-to-Market</a:t>
            </a:r>
          </a:p>
        </p:txBody>
      </p:sp>
      <p:sp>
        <p:nvSpPr>
          <p:cNvPr id="38" name="Rectangle 37">
            <a:extLst>
              <a:ext uri="{FF2B5EF4-FFF2-40B4-BE49-F238E27FC236}">
                <a16:creationId xmlns:a16="http://schemas.microsoft.com/office/drawing/2014/main" id="{FCF52444-0E3F-698B-317C-7E9EB265501A}"/>
              </a:ext>
            </a:extLst>
          </p:cNvPr>
          <p:cNvSpPr/>
          <p:nvPr/>
        </p:nvSpPr>
        <p:spPr>
          <a:xfrm>
            <a:off x="6353028" y="5827449"/>
            <a:ext cx="834130" cy="896747"/>
          </a:xfrm>
          <a:prstGeom prst="rect">
            <a:avLst/>
          </a:pr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dirty="0"/>
              <a:t>Support</a:t>
            </a:r>
          </a:p>
        </p:txBody>
      </p:sp>
      <p:sp>
        <p:nvSpPr>
          <p:cNvPr id="39" name="Rectangle 38">
            <a:extLst>
              <a:ext uri="{FF2B5EF4-FFF2-40B4-BE49-F238E27FC236}">
                <a16:creationId xmlns:a16="http://schemas.microsoft.com/office/drawing/2014/main" id="{D809A082-6917-D3E5-4B6D-C4CF5BEED579}"/>
              </a:ext>
            </a:extLst>
          </p:cNvPr>
          <p:cNvSpPr/>
          <p:nvPr/>
        </p:nvSpPr>
        <p:spPr>
          <a:xfrm>
            <a:off x="6353028" y="4898316"/>
            <a:ext cx="834130" cy="210557"/>
          </a:xfrm>
          <a:prstGeom prst="rect">
            <a:avLst/>
          </a:prstGeom>
          <a:solidFill>
            <a:schemeClr val="bg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dirty="0"/>
              <a:t>Integration</a:t>
            </a:r>
          </a:p>
        </p:txBody>
      </p:sp>
      <p:sp>
        <p:nvSpPr>
          <p:cNvPr id="42" name="TextBox 41">
            <a:extLst>
              <a:ext uri="{FF2B5EF4-FFF2-40B4-BE49-F238E27FC236}">
                <a16:creationId xmlns:a16="http://schemas.microsoft.com/office/drawing/2014/main" id="{9900032A-10C8-A7C4-A12A-B29C8A489C2D}"/>
              </a:ext>
            </a:extLst>
          </p:cNvPr>
          <p:cNvSpPr txBox="1"/>
          <p:nvPr/>
        </p:nvSpPr>
        <p:spPr>
          <a:xfrm>
            <a:off x="3284695" y="3616960"/>
            <a:ext cx="1692267" cy="707886"/>
          </a:xfrm>
          <a:prstGeom prst="rect">
            <a:avLst/>
          </a:prstGeom>
          <a:noFill/>
        </p:spPr>
        <p:txBody>
          <a:bodyPr wrap="none" rtlCol="0">
            <a:spAutoFit/>
          </a:bodyPr>
          <a:lstStyle/>
          <a:p>
            <a:pPr algn="ctr"/>
            <a:r>
              <a:rPr lang="en-US" sz="2000" dirty="0">
                <a:solidFill>
                  <a:srgbClr val="00B050"/>
                </a:solidFill>
              </a:rPr>
              <a:t>Compounding</a:t>
            </a:r>
            <a:br>
              <a:rPr lang="en-US" sz="2000" dirty="0">
                <a:solidFill>
                  <a:srgbClr val="00B050"/>
                </a:solidFill>
              </a:rPr>
            </a:br>
            <a:r>
              <a:rPr lang="en-US" sz="2000" dirty="0">
                <a:solidFill>
                  <a:srgbClr val="00B050"/>
                </a:solidFill>
              </a:rPr>
              <a:t>Innovation</a:t>
            </a:r>
            <a:endParaRPr lang="en-US" sz="2000" baseline="30000" dirty="0">
              <a:solidFill>
                <a:srgbClr val="00B050"/>
              </a:solidFill>
            </a:endParaRPr>
          </a:p>
        </p:txBody>
      </p:sp>
      <p:sp>
        <p:nvSpPr>
          <p:cNvPr id="43" name="TextBox 42">
            <a:extLst>
              <a:ext uri="{FF2B5EF4-FFF2-40B4-BE49-F238E27FC236}">
                <a16:creationId xmlns:a16="http://schemas.microsoft.com/office/drawing/2014/main" id="{2EB46FBA-B1E2-B59A-DFDD-DAAF19EE6D0B}"/>
              </a:ext>
            </a:extLst>
          </p:cNvPr>
          <p:cNvSpPr txBox="1"/>
          <p:nvPr/>
        </p:nvSpPr>
        <p:spPr>
          <a:xfrm>
            <a:off x="5820065" y="3616960"/>
            <a:ext cx="1068431" cy="707886"/>
          </a:xfrm>
          <a:prstGeom prst="rect">
            <a:avLst/>
          </a:prstGeom>
          <a:noFill/>
        </p:spPr>
        <p:txBody>
          <a:bodyPr wrap="none" rtlCol="0">
            <a:spAutoFit/>
          </a:bodyPr>
          <a:lstStyle/>
          <a:p>
            <a:pPr algn="ctr"/>
            <a:r>
              <a:rPr lang="en-US" sz="2000" dirty="0">
                <a:solidFill>
                  <a:srgbClr val="00B050"/>
                </a:solidFill>
              </a:rPr>
              <a:t>Network</a:t>
            </a:r>
            <a:br>
              <a:rPr lang="en-US" sz="2000" dirty="0">
                <a:solidFill>
                  <a:srgbClr val="00B050"/>
                </a:solidFill>
              </a:rPr>
            </a:br>
            <a:r>
              <a:rPr lang="en-US" sz="2000" dirty="0">
                <a:solidFill>
                  <a:srgbClr val="00B050"/>
                </a:solidFill>
              </a:rPr>
              <a:t>Effects</a:t>
            </a:r>
            <a:endParaRPr lang="en-US" sz="2000" baseline="30000" dirty="0">
              <a:solidFill>
                <a:srgbClr val="00B050"/>
              </a:solidFill>
            </a:endParaRPr>
          </a:p>
        </p:txBody>
      </p:sp>
      <p:sp>
        <p:nvSpPr>
          <p:cNvPr id="44" name="TextBox 43">
            <a:extLst>
              <a:ext uri="{FF2B5EF4-FFF2-40B4-BE49-F238E27FC236}">
                <a16:creationId xmlns:a16="http://schemas.microsoft.com/office/drawing/2014/main" id="{A44EB431-E400-071C-8007-73BDEC7127E5}"/>
              </a:ext>
            </a:extLst>
          </p:cNvPr>
          <p:cNvSpPr txBox="1"/>
          <p:nvPr/>
        </p:nvSpPr>
        <p:spPr>
          <a:xfrm>
            <a:off x="8047669" y="3616960"/>
            <a:ext cx="1041043" cy="707886"/>
          </a:xfrm>
          <a:prstGeom prst="rect">
            <a:avLst/>
          </a:prstGeom>
          <a:noFill/>
        </p:spPr>
        <p:txBody>
          <a:bodyPr wrap="none" rtlCol="0">
            <a:spAutoFit/>
          </a:bodyPr>
          <a:lstStyle/>
          <a:p>
            <a:pPr algn="ctr"/>
            <a:r>
              <a:rPr lang="en-US" sz="2000" dirty="0">
                <a:solidFill>
                  <a:srgbClr val="00B050"/>
                </a:solidFill>
              </a:rPr>
              <a:t>Viral</a:t>
            </a:r>
            <a:br>
              <a:rPr lang="en-US" sz="2000" dirty="0">
                <a:solidFill>
                  <a:srgbClr val="00B050"/>
                </a:solidFill>
              </a:rPr>
            </a:br>
            <a:r>
              <a:rPr lang="en-US" sz="2000" dirty="0">
                <a:solidFill>
                  <a:srgbClr val="00B050"/>
                </a:solidFill>
              </a:rPr>
              <a:t>Ideation</a:t>
            </a:r>
            <a:endParaRPr lang="en-US" sz="2000" baseline="30000" dirty="0">
              <a:solidFill>
                <a:srgbClr val="00B050"/>
              </a:solidFill>
            </a:endParaRPr>
          </a:p>
        </p:txBody>
      </p:sp>
      <p:sp>
        <p:nvSpPr>
          <p:cNvPr id="45" name="TextBox 44">
            <a:extLst>
              <a:ext uri="{FF2B5EF4-FFF2-40B4-BE49-F238E27FC236}">
                <a16:creationId xmlns:a16="http://schemas.microsoft.com/office/drawing/2014/main" id="{AF5895CB-96CC-8040-2095-567398E16717}"/>
              </a:ext>
            </a:extLst>
          </p:cNvPr>
          <p:cNvSpPr txBox="1"/>
          <p:nvPr/>
        </p:nvSpPr>
        <p:spPr>
          <a:xfrm>
            <a:off x="10119866" y="3616960"/>
            <a:ext cx="1365134" cy="707886"/>
          </a:xfrm>
          <a:prstGeom prst="rect">
            <a:avLst/>
          </a:prstGeom>
          <a:noFill/>
        </p:spPr>
        <p:txBody>
          <a:bodyPr wrap="none" rtlCol="0">
            <a:spAutoFit/>
          </a:bodyPr>
          <a:lstStyle/>
          <a:p>
            <a:pPr algn="ctr"/>
            <a:r>
              <a:rPr lang="en-US" sz="2000" dirty="0">
                <a:solidFill>
                  <a:srgbClr val="00B050"/>
                </a:solidFill>
              </a:rPr>
              <a:t>Generative</a:t>
            </a:r>
            <a:br>
              <a:rPr lang="en-US" sz="2000" dirty="0">
                <a:solidFill>
                  <a:srgbClr val="00B050"/>
                </a:solidFill>
              </a:rPr>
            </a:br>
            <a:r>
              <a:rPr lang="en-US" sz="2000" dirty="0">
                <a:solidFill>
                  <a:srgbClr val="00B050"/>
                </a:solidFill>
              </a:rPr>
              <a:t>Learning</a:t>
            </a:r>
            <a:endParaRPr lang="en-US" sz="2000" baseline="30000" dirty="0">
              <a:solidFill>
                <a:srgbClr val="00B050"/>
              </a:solidFill>
            </a:endParaRPr>
          </a:p>
        </p:txBody>
      </p:sp>
      <p:sp>
        <p:nvSpPr>
          <p:cNvPr id="46" name="TextBox 45">
            <a:extLst>
              <a:ext uri="{FF2B5EF4-FFF2-40B4-BE49-F238E27FC236}">
                <a16:creationId xmlns:a16="http://schemas.microsoft.com/office/drawing/2014/main" id="{6C896EE6-7ACC-EF9B-7EFA-B560BEA48D5C}"/>
              </a:ext>
            </a:extLst>
          </p:cNvPr>
          <p:cNvSpPr txBox="1"/>
          <p:nvPr/>
        </p:nvSpPr>
        <p:spPr>
          <a:xfrm>
            <a:off x="1192721" y="3616960"/>
            <a:ext cx="1407737" cy="707886"/>
          </a:xfrm>
          <a:prstGeom prst="rect">
            <a:avLst/>
          </a:prstGeom>
          <a:noFill/>
        </p:spPr>
        <p:txBody>
          <a:bodyPr wrap="none" rtlCol="0">
            <a:spAutoFit/>
          </a:bodyPr>
          <a:lstStyle/>
          <a:p>
            <a:pPr algn="ctr"/>
            <a:r>
              <a:rPr lang="en-US" sz="2000" dirty="0">
                <a:solidFill>
                  <a:schemeClr val="accent2"/>
                </a:solidFill>
              </a:rPr>
              <a:t>Artificial</a:t>
            </a:r>
            <a:br>
              <a:rPr lang="en-US" sz="2000" dirty="0">
                <a:solidFill>
                  <a:schemeClr val="accent2"/>
                </a:solidFill>
              </a:rPr>
            </a:br>
            <a:r>
              <a:rPr lang="en-US" sz="2000" dirty="0">
                <a:solidFill>
                  <a:schemeClr val="accent2"/>
                </a:solidFill>
              </a:rPr>
              <a:t>Intelligence</a:t>
            </a:r>
            <a:endParaRPr lang="en-US" sz="2000" baseline="30000" dirty="0">
              <a:solidFill>
                <a:schemeClr val="accent2"/>
              </a:solidFill>
            </a:endParaRPr>
          </a:p>
        </p:txBody>
      </p:sp>
      <p:sp>
        <p:nvSpPr>
          <p:cNvPr id="8" name="TextBox 7">
            <a:extLst>
              <a:ext uri="{FF2B5EF4-FFF2-40B4-BE49-F238E27FC236}">
                <a16:creationId xmlns:a16="http://schemas.microsoft.com/office/drawing/2014/main" id="{8E3182C8-0B3F-66CF-1D71-6FC230092CFE}"/>
              </a:ext>
            </a:extLst>
          </p:cNvPr>
          <p:cNvSpPr txBox="1"/>
          <p:nvPr/>
        </p:nvSpPr>
        <p:spPr>
          <a:xfrm>
            <a:off x="5165127" y="3770848"/>
            <a:ext cx="297006" cy="400110"/>
          </a:xfrm>
          <a:prstGeom prst="rect">
            <a:avLst/>
          </a:prstGeom>
          <a:noFill/>
        </p:spPr>
        <p:txBody>
          <a:bodyPr wrap="none" rtlCol="0">
            <a:spAutoFit/>
          </a:bodyPr>
          <a:lstStyle/>
          <a:p>
            <a:pPr algn="ctr"/>
            <a:r>
              <a:rPr lang="en-US" sz="2000" dirty="0"/>
              <a:t>x</a:t>
            </a:r>
            <a:endParaRPr lang="en-US" sz="2000" baseline="30000" dirty="0"/>
          </a:p>
        </p:txBody>
      </p:sp>
      <p:sp>
        <p:nvSpPr>
          <p:cNvPr id="9" name="TextBox 8">
            <a:extLst>
              <a:ext uri="{FF2B5EF4-FFF2-40B4-BE49-F238E27FC236}">
                <a16:creationId xmlns:a16="http://schemas.microsoft.com/office/drawing/2014/main" id="{F1F4716B-B473-5E67-7C64-D0CD4F028B81}"/>
              </a:ext>
            </a:extLst>
          </p:cNvPr>
          <p:cNvSpPr txBox="1"/>
          <p:nvPr/>
        </p:nvSpPr>
        <p:spPr>
          <a:xfrm>
            <a:off x="7246428" y="3770848"/>
            <a:ext cx="297006" cy="400110"/>
          </a:xfrm>
          <a:prstGeom prst="rect">
            <a:avLst/>
          </a:prstGeom>
          <a:noFill/>
        </p:spPr>
        <p:txBody>
          <a:bodyPr wrap="none" rtlCol="0">
            <a:spAutoFit/>
          </a:bodyPr>
          <a:lstStyle/>
          <a:p>
            <a:pPr algn="ctr"/>
            <a:r>
              <a:rPr lang="en-US" sz="2000" dirty="0"/>
              <a:t>x</a:t>
            </a:r>
            <a:endParaRPr lang="en-US" sz="2000" baseline="30000" dirty="0"/>
          </a:p>
        </p:txBody>
      </p:sp>
      <p:sp>
        <p:nvSpPr>
          <p:cNvPr id="10" name="TextBox 9">
            <a:extLst>
              <a:ext uri="{FF2B5EF4-FFF2-40B4-BE49-F238E27FC236}">
                <a16:creationId xmlns:a16="http://schemas.microsoft.com/office/drawing/2014/main" id="{7523B1B7-FFC7-B938-0943-53024D3E2393}"/>
              </a:ext>
            </a:extLst>
          </p:cNvPr>
          <p:cNvSpPr txBox="1"/>
          <p:nvPr/>
        </p:nvSpPr>
        <p:spPr>
          <a:xfrm>
            <a:off x="9528938" y="3770848"/>
            <a:ext cx="297006" cy="400110"/>
          </a:xfrm>
          <a:prstGeom prst="rect">
            <a:avLst/>
          </a:prstGeom>
          <a:noFill/>
        </p:spPr>
        <p:txBody>
          <a:bodyPr wrap="none" rtlCol="0">
            <a:spAutoFit/>
          </a:bodyPr>
          <a:lstStyle/>
          <a:p>
            <a:pPr algn="ctr"/>
            <a:r>
              <a:rPr lang="en-US" sz="2000" dirty="0"/>
              <a:t>x</a:t>
            </a:r>
            <a:endParaRPr lang="en-US" sz="2000" baseline="30000" dirty="0"/>
          </a:p>
        </p:txBody>
      </p:sp>
      <p:sp>
        <p:nvSpPr>
          <p:cNvPr id="11" name="TextBox 10">
            <a:extLst>
              <a:ext uri="{FF2B5EF4-FFF2-40B4-BE49-F238E27FC236}">
                <a16:creationId xmlns:a16="http://schemas.microsoft.com/office/drawing/2014/main" id="{1381A9E2-228A-C82C-156A-E6137D9A3EC8}"/>
              </a:ext>
            </a:extLst>
          </p:cNvPr>
          <p:cNvSpPr txBox="1"/>
          <p:nvPr/>
        </p:nvSpPr>
        <p:spPr>
          <a:xfrm>
            <a:off x="2793661" y="3770848"/>
            <a:ext cx="297006" cy="400110"/>
          </a:xfrm>
          <a:prstGeom prst="rect">
            <a:avLst/>
          </a:prstGeom>
          <a:noFill/>
        </p:spPr>
        <p:txBody>
          <a:bodyPr wrap="none" rtlCol="0">
            <a:spAutoFit/>
          </a:bodyPr>
          <a:lstStyle/>
          <a:p>
            <a:pPr algn="ctr"/>
            <a:r>
              <a:rPr lang="en-US" sz="2000" dirty="0"/>
              <a:t>x</a:t>
            </a:r>
            <a:endParaRPr lang="en-US" sz="2000" baseline="30000" dirty="0"/>
          </a:p>
        </p:txBody>
      </p:sp>
      <p:sp>
        <p:nvSpPr>
          <p:cNvPr id="3" name="TextBox 2">
            <a:extLst>
              <a:ext uri="{FF2B5EF4-FFF2-40B4-BE49-F238E27FC236}">
                <a16:creationId xmlns:a16="http://schemas.microsoft.com/office/drawing/2014/main" id="{55466601-328E-BCC0-4E22-3509C251095A}"/>
              </a:ext>
            </a:extLst>
          </p:cNvPr>
          <p:cNvSpPr txBox="1"/>
          <p:nvPr/>
        </p:nvSpPr>
        <p:spPr>
          <a:xfrm>
            <a:off x="1849120" y="3254622"/>
            <a:ext cx="5039375" cy="400110"/>
          </a:xfrm>
          <a:prstGeom prst="rect">
            <a:avLst/>
          </a:prstGeom>
          <a:noFill/>
        </p:spPr>
        <p:txBody>
          <a:bodyPr wrap="square" rtlCol="0">
            <a:spAutoFit/>
          </a:bodyPr>
          <a:lstStyle/>
          <a:p>
            <a:pPr algn="ctr"/>
            <a:r>
              <a:rPr lang="en-US" sz="2000" dirty="0">
                <a:solidFill>
                  <a:srgbClr val="00B050"/>
                </a:solidFill>
              </a:rPr>
              <a:t>Valuation growth accelerators (product of):</a:t>
            </a:r>
            <a:endParaRPr lang="en-US" sz="2000" baseline="30000" dirty="0">
              <a:solidFill>
                <a:srgbClr val="00B050"/>
              </a:solidFill>
            </a:endParaRPr>
          </a:p>
        </p:txBody>
      </p:sp>
      <p:sp>
        <p:nvSpPr>
          <p:cNvPr id="5" name="TextBox 4">
            <a:extLst>
              <a:ext uri="{FF2B5EF4-FFF2-40B4-BE49-F238E27FC236}">
                <a16:creationId xmlns:a16="http://schemas.microsoft.com/office/drawing/2014/main" id="{C0A0BC3B-3F1D-83D6-6E0F-BBAA284480FB}"/>
              </a:ext>
            </a:extLst>
          </p:cNvPr>
          <p:cNvSpPr txBox="1"/>
          <p:nvPr/>
        </p:nvSpPr>
        <p:spPr>
          <a:xfrm>
            <a:off x="5832068" y="4451847"/>
            <a:ext cx="312906" cy="400110"/>
          </a:xfrm>
          <a:prstGeom prst="rect">
            <a:avLst/>
          </a:prstGeom>
          <a:noFill/>
        </p:spPr>
        <p:txBody>
          <a:bodyPr wrap="none" rtlCol="0">
            <a:spAutoFit/>
          </a:bodyPr>
          <a:lstStyle/>
          <a:p>
            <a:pPr algn="ctr"/>
            <a:r>
              <a:rPr lang="en-US" sz="2000" dirty="0"/>
              <a:t>x</a:t>
            </a:r>
            <a:endParaRPr lang="en-US" sz="2000" baseline="30000" dirty="0"/>
          </a:p>
        </p:txBody>
      </p:sp>
      <p:sp>
        <p:nvSpPr>
          <p:cNvPr id="6" name="TextBox 5">
            <a:extLst>
              <a:ext uri="{FF2B5EF4-FFF2-40B4-BE49-F238E27FC236}">
                <a16:creationId xmlns:a16="http://schemas.microsoft.com/office/drawing/2014/main" id="{2282B18D-09F7-D5BC-C673-074352DB3C55}"/>
              </a:ext>
            </a:extLst>
          </p:cNvPr>
          <p:cNvSpPr txBox="1"/>
          <p:nvPr/>
        </p:nvSpPr>
        <p:spPr>
          <a:xfrm>
            <a:off x="6332126" y="4451847"/>
            <a:ext cx="4631529" cy="400110"/>
          </a:xfrm>
          <a:prstGeom prst="rect">
            <a:avLst/>
          </a:prstGeom>
          <a:noFill/>
        </p:spPr>
        <p:txBody>
          <a:bodyPr wrap="square" rtlCol="0">
            <a:spAutoFit/>
          </a:bodyPr>
          <a:lstStyle/>
          <a:p>
            <a:pPr algn="ctr"/>
            <a:r>
              <a:rPr lang="en-US" sz="2000" dirty="0">
                <a:solidFill>
                  <a:schemeClr val="tx1"/>
                </a:solidFill>
              </a:rPr>
              <a:t>Valuation growth drivers (product of):</a:t>
            </a:r>
            <a:endParaRPr lang="en-US" sz="2000" baseline="30000" dirty="0">
              <a:solidFill>
                <a:schemeClr val="tx1"/>
              </a:solidFill>
            </a:endParaRPr>
          </a:p>
        </p:txBody>
      </p:sp>
      <p:pic>
        <p:nvPicPr>
          <p:cNvPr id="7" name="Picture 2">
            <a:extLst>
              <a:ext uri="{FF2B5EF4-FFF2-40B4-BE49-F238E27FC236}">
                <a16:creationId xmlns:a16="http://schemas.microsoft.com/office/drawing/2014/main" id="{C4C071E3-A6CE-3739-FA64-1C35A296729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34387" y="1761021"/>
            <a:ext cx="1287166" cy="649952"/>
          </a:xfrm>
          <a:prstGeom prst="rect">
            <a:avLst/>
          </a:prstGeom>
          <a:noFill/>
          <a:extLst>
            <a:ext uri="{909E8E84-426E-40DD-AFC4-6F175D3DCCD1}">
              <a14:hiddenFill xmlns:a14="http://schemas.microsoft.com/office/drawing/2010/main">
                <a:solidFill>
                  <a:srgbClr val="FFFFFF"/>
                </a:solidFill>
              </a14:hiddenFill>
            </a:ext>
          </a:extLst>
        </p:spPr>
      </p:pic>
      <p:sp>
        <p:nvSpPr>
          <p:cNvPr id="13" name="Left Brace 12">
            <a:extLst>
              <a:ext uri="{FF2B5EF4-FFF2-40B4-BE49-F238E27FC236}">
                <a16:creationId xmlns:a16="http://schemas.microsoft.com/office/drawing/2014/main" id="{06AA7B58-F3DE-C974-42F2-B7CAE661FBE9}"/>
              </a:ext>
            </a:extLst>
          </p:cNvPr>
          <p:cNvSpPr/>
          <p:nvPr/>
        </p:nvSpPr>
        <p:spPr>
          <a:xfrm rot="5400000">
            <a:off x="6023569" y="-2372596"/>
            <a:ext cx="781976" cy="11152716"/>
          </a:xfrm>
          <a:prstGeom prst="leftBrace">
            <a:avLst>
              <a:gd name="adj1" fmla="val 31648"/>
              <a:gd name="adj2" fmla="val 25161"/>
            </a:avLst>
          </a:prstGeom>
          <a:ln w="38100">
            <a:solidFill>
              <a:srgbClr val="00B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5" name="TextBox 14">
            <a:extLst>
              <a:ext uri="{FF2B5EF4-FFF2-40B4-BE49-F238E27FC236}">
                <a16:creationId xmlns:a16="http://schemas.microsoft.com/office/drawing/2014/main" id="{C9941007-7B5F-9E9F-D1CB-17FB39E847F4}"/>
              </a:ext>
            </a:extLst>
          </p:cNvPr>
          <p:cNvSpPr txBox="1"/>
          <p:nvPr/>
        </p:nvSpPr>
        <p:spPr>
          <a:xfrm>
            <a:off x="801677" y="3414788"/>
            <a:ext cx="277853" cy="1015663"/>
          </a:xfrm>
          <a:prstGeom prst="rect">
            <a:avLst/>
          </a:prstGeom>
          <a:noFill/>
        </p:spPr>
        <p:txBody>
          <a:bodyPr wrap="square" rtlCol="0">
            <a:spAutoFit/>
          </a:bodyPr>
          <a:lstStyle/>
          <a:p>
            <a:pPr algn="ctr"/>
            <a:r>
              <a:rPr lang="en-US" sz="6000" dirty="0">
                <a:solidFill>
                  <a:srgbClr val="00B050"/>
                </a:solidFill>
              </a:rPr>
              <a:t>(</a:t>
            </a:r>
            <a:endParaRPr lang="en-US" sz="6000" baseline="30000" dirty="0">
              <a:solidFill>
                <a:srgbClr val="00B050"/>
              </a:solidFill>
            </a:endParaRPr>
          </a:p>
        </p:txBody>
      </p:sp>
      <p:sp>
        <p:nvSpPr>
          <p:cNvPr id="16" name="TextBox 15">
            <a:extLst>
              <a:ext uri="{FF2B5EF4-FFF2-40B4-BE49-F238E27FC236}">
                <a16:creationId xmlns:a16="http://schemas.microsoft.com/office/drawing/2014/main" id="{E00579F9-7F10-1D3A-290F-12DCE6EAB978}"/>
              </a:ext>
            </a:extLst>
          </p:cNvPr>
          <p:cNvSpPr txBox="1"/>
          <p:nvPr/>
        </p:nvSpPr>
        <p:spPr>
          <a:xfrm>
            <a:off x="11734720" y="3414788"/>
            <a:ext cx="277853" cy="1015663"/>
          </a:xfrm>
          <a:prstGeom prst="rect">
            <a:avLst/>
          </a:prstGeom>
          <a:noFill/>
        </p:spPr>
        <p:txBody>
          <a:bodyPr wrap="square" rtlCol="0">
            <a:spAutoFit/>
          </a:bodyPr>
          <a:lstStyle/>
          <a:p>
            <a:pPr algn="ctr"/>
            <a:r>
              <a:rPr lang="en-US" sz="6000" dirty="0">
                <a:solidFill>
                  <a:srgbClr val="00B050"/>
                </a:solidFill>
              </a:rPr>
              <a:t>)</a:t>
            </a:r>
            <a:endParaRPr lang="en-US" sz="6000" baseline="30000" dirty="0">
              <a:solidFill>
                <a:srgbClr val="00B050"/>
              </a:solidFill>
            </a:endParaRPr>
          </a:p>
        </p:txBody>
      </p:sp>
      <p:sp>
        <p:nvSpPr>
          <p:cNvPr id="17" name="TextBox 16">
            <a:extLst>
              <a:ext uri="{FF2B5EF4-FFF2-40B4-BE49-F238E27FC236}">
                <a16:creationId xmlns:a16="http://schemas.microsoft.com/office/drawing/2014/main" id="{B03AD813-6EB3-B864-5263-883385DAA6B1}"/>
              </a:ext>
            </a:extLst>
          </p:cNvPr>
          <p:cNvSpPr txBox="1"/>
          <p:nvPr/>
        </p:nvSpPr>
        <p:spPr>
          <a:xfrm>
            <a:off x="5866985" y="4634747"/>
            <a:ext cx="277853" cy="2062103"/>
          </a:xfrm>
          <a:prstGeom prst="rect">
            <a:avLst/>
          </a:prstGeom>
          <a:noFill/>
        </p:spPr>
        <p:txBody>
          <a:bodyPr wrap="square" rtlCol="0">
            <a:spAutoFit/>
          </a:bodyPr>
          <a:lstStyle/>
          <a:p>
            <a:pPr algn="ctr"/>
            <a:r>
              <a:rPr lang="en-US" sz="12800" dirty="0">
                <a:solidFill>
                  <a:schemeClr val="tx1"/>
                </a:solidFill>
              </a:rPr>
              <a:t>(</a:t>
            </a:r>
            <a:endParaRPr lang="en-US" sz="12800" baseline="30000" dirty="0">
              <a:solidFill>
                <a:schemeClr val="tx1"/>
              </a:solidFill>
            </a:endParaRPr>
          </a:p>
        </p:txBody>
      </p:sp>
      <p:sp>
        <p:nvSpPr>
          <p:cNvPr id="18" name="TextBox 17">
            <a:extLst>
              <a:ext uri="{FF2B5EF4-FFF2-40B4-BE49-F238E27FC236}">
                <a16:creationId xmlns:a16="http://schemas.microsoft.com/office/drawing/2014/main" id="{404495E4-340C-0E41-B5C6-99066DDE5EA9}"/>
              </a:ext>
            </a:extLst>
          </p:cNvPr>
          <p:cNvSpPr txBox="1"/>
          <p:nvPr/>
        </p:nvSpPr>
        <p:spPr>
          <a:xfrm>
            <a:off x="11803626" y="4634747"/>
            <a:ext cx="277853" cy="2062103"/>
          </a:xfrm>
          <a:prstGeom prst="rect">
            <a:avLst/>
          </a:prstGeom>
          <a:noFill/>
        </p:spPr>
        <p:txBody>
          <a:bodyPr wrap="square" rtlCol="0">
            <a:spAutoFit/>
          </a:bodyPr>
          <a:lstStyle/>
          <a:p>
            <a:pPr algn="ctr"/>
            <a:r>
              <a:rPr lang="en-US" sz="12800" dirty="0">
                <a:solidFill>
                  <a:schemeClr val="tx1"/>
                </a:solidFill>
              </a:rPr>
              <a:t>)</a:t>
            </a:r>
            <a:endParaRPr lang="en-US" sz="12800" baseline="30000" dirty="0">
              <a:solidFill>
                <a:schemeClr val="tx1"/>
              </a:solidFill>
            </a:endParaRPr>
          </a:p>
        </p:txBody>
      </p:sp>
    </p:spTree>
    <p:extLst>
      <p:ext uri="{BB962C8B-B14F-4D97-AF65-F5344CB8AC3E}">
        <p14:creationId xmlns:p14="http://schemas.microsoft.com/office/powerpoint/2010/main" val="35376293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F9866E-A957-4A38-3FDC-3C4E57B57545}"/>
            </a:ext>
          </a:extLst>
        </p:cNvPr>
        <p:cNvGrpSpPr/>
        <p:nvPr/>
      </p:nvGrpSpPr>
      <p:grpSpPr>
        <a:xfrm>
          <a:off x="0" y="0"/>
          <a:ext cx="0" cy="0"/>
          <a:chOff x="0" y="0"/>
          <a:chExt cx="0" cy="0"/>
        </a:xfrm>
      </p:grpSpPr>
      <p:sp>
        <p:nvSpPr>
          <p:cNvPr id="35" name="Rectangle 34">
            <a:extLst>
              <a:ext uri="{FF2B5EF4-FFF2-40B4-BE49-F238E27FC236}">
                <a16:creationId xmlns:a16="http://schemas.microsoft.com/office/drawing/2014/main" id="{8047C034-4086-01AE-A453-5742FA709E4C}"/>
              </a:ext>
            </a:extLst>
          </p:cNvPr>
          <p:cNvSpPr/>
          <p:nvPr/>
        </p:nvSpPr>
        <p:spPr>
          <a:xfrm>
            <a:off x="863292" y="4466203"/>
            <a:ext cx="2057452" cy="400110"/>
          </a:xfrm>
          <a:prstGeom prst="rect">
            <a:avLst/>
          </a:prstGeom>
          <a:solidFill>
            <a:schemeClr val="accent2"/>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Google Shape;96;p2">
            <a:extLst>
              <a:ext uri="{FF2B5EF4-FFF2-40B4-BE49-F238E27FC236}">
                <a16:creationId xmlns:a16="http://schemas.microsoft.com/office/drawing/2014/main" id="{6A3CDC6B-B912-EF1F-0329-087BD8060A7C}"/>
              </a:ext>
            </a:extLst>
          </p:cNvPr>
          <p:cNvSpPr txBox="1">
            <a:spLocks/>
          </p:cNvSpPr>
          <p:nvPr/>
        </p:nvSpPr>
        <p:spPr>
          <a:xfrm>
            <a:off x="838199" y="365125"/>
            <a:ext cx="8950569" cy="1325563"/>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90000"/>
              </a:lnSpc>
              <a:spcBef>
                <a:spcPts val="0"/>
              </a:spcBef>
              <a:spcAft>
                <a:spcPts val="0"/>
              </a:spcAft>
              <a:buClr>
                <a:srgbClr val="000000"/>
              </a:buClr>
              <a:buSzPts val="4400"/>
              <a:buFont typeface="Calibri"/>
              <a:buNone/>
              <a:tabLst/>
              <a:defRPr/>
            </a:pPr>
            <a:r>
              <a:rPr kumimoji="0" lang="en-US" sz="44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Using the AccelRR8 Framework:</a:t>
            </a:r>
            <a:br>
              <a:rPr kumimoji="0" lang="en-US" sz="44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br>
            <a:r>
              <a:rPr kumimoji="0" lang="en-US" sz="44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rPr>
              <a:t>Value growth </a:t>
            </a:r>
            <a:r>
              <a:rPr lang="en-US" sz="4400" dirty="0">
                <a:latin typeface="Calibri" panose="020F0502020204030204" pitchFamily="34" charset="0"/>
                <a:cs typeface="Calibri" panose="020F0502020204030204" pitchFamily="34" charset="0"/>
              </a:rPr>
              <a:t>accelerators</a:t>
            </a:r>
            <a:endParaRPr kumimoji="0" lang="en-US" sz="4400" b="0" i="0" u="none" strike="noStrike" kern="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sym typeface="Arial"/>
            </a:endParaRPr>
          </a:p>
        </p:txBody>
      </p:sp>
      <p:sp>
        <p:nvSpPr>
          <p:cNvPr id="29" name="Rectangle 28">
            <a:extLst>
              <a:ext uri="{FF2B5EF4-FFF2-40B4-BE49-F238E27FC236}">
                <a16:creationId xmlns:a16="http://schemas.microsoft.com/office/drawing/2014/main" id="{0CE4EE57-4AF1-021B-7322-4E909D3BAB33}"/>
              </a:ext>
            </a:extLst>
          </p:cNvPr>
          <p:cNvSpPr/>
          <p:nvPr/>
        </p:nvSpPr>
        <p:spPr>
          <a:xfrm>
            <a:off x="2945840" y="4466203"/>
            <a:ext cx="8946698" cy="400110"/>
          </a:xfrm>
          <a:prstGeom prst="rect">
            <a:avLst/>
          </a:prstGeom>
          <a:solidFill>
            <a:srgbClr val="00B050"/>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D2D1C6BA-61C3-84D6-35D4-90F39C975501}"/>
              </a:ext>
            </a:extLst>
          </p:cNvPr>
          <p:cNvSpPr txBox="1"/>
          <p:nvPr/>
        </p:nvSpPr>
        <p:spPr>
          <a:xfrm>
            <a:off x="3284695" y="3616960"/>
            <a:ext cx="1692267" cy="707886"/>
          </a:xfrm>
          <a:prstGeom prst="rect">
            <a:avLst/>
          </a:prstGeom>
          <a:noFill/>
        </p:spPr>
        <p:txBody>
          <a:bodyPr wrap="none" rtlCol="0">
            <a:spAutoFit/>
          </a:bodyPr>
          <a:lstStyle/>
          <a:p>
            <a:pPr algn="ctr"/>
            <a:r>
              <a:rPr lang="en-US" sz="2000" dirty="0">
                <a:solidFill>
                  <a:srgbClr val="00B050"/>
                </a:solidFill>
              </a:rPr>
              <a:t>Compounding</a:t>
            </a:r>
            <a:br>
              <a:rPr lang="en-US" sz="2000" dirty="0">
                <a:solidFill>
                  <a:srgbClr val="00B050"/>
                </a:solidFill>
              </a:rPr>
            </a:br>
            <a:r>
              <a:rPr lang="en-US" sz="2000" dirty="0">
                <a:solidFill>
                  <a:srgbClr val="00B050"/>
                </a:solidFill>
              </a:rPr>
              <a:t>Innovation</a:t>
            </a:r>
            <a:endParaRPr lang="en-US" sz="2000" baseline="30000" dirty="0">
              <a:solidFill>
                <a:srgbClr val="00B050"/>
              </a:solidFill>
            </a:endParaRPr>
          </a:p>
        </p:txBody>
      </p:sp>
      <p:sp>
        <p:nvSpPr>
          <p:cNvPr id="5" name="TextBox 4">
            <a:extLst>
              <a:ext uri="{FF2B5EF4-FFF2-40B4-BE49-F238E27FC236}">
                <a16:creationId xmlns:a16="http://schemas.microsoft.com/office/drawing/2014/main" id="{8168FC72-9FBD-87A2-EFF3-459E308B735A}"/>
              </a:ext>
            </a:extLst>
          </p:cNvPr>
          <p:cNvSpPr txBox="1"/>
          <p:nvPr/>
        </p:nvSpPr>
        <p:spPr>
          <a:xfrm>
            <a:off x="5820065" y="3616960"/>
            <a:ext cx="1068431" cy="707886"/>
          </a:xfrm>
          <a:prstGeom prst="rect">
            <a:avLst/>
          </a:prstGeom>
          <a:noFill/>
        </p:spPr>
        <p:txBody>
          <a:bodyPr wrap="none" rtlCol="0">
            <a:spAutoFit/>
          </a:bodyPr>
          <a:lstStyle/>
          <a:p>
            <a:pPr algn="ctr"/>
            <a:r>
              <a:rPr lang="en-US" sz="2000" dirty="0">
                <a:solidFill>
                  <a:srgbClr val="00B050"/>
                </a:solidFill>
              </a:rPr>
              <a:t>Network</a:t>
            </a:r>
            <a:br>
              <a:rPr lang="en-US" sz="2000" dirty="0">
                <a:solidFill>
                  <a:srgbClr val="00B050"/>
                </a:solidFill>
              </a:rPr>
            </a:br>
            <a:r>
              <a:rPr lang="en-US" sz="2000" dirty="0">
                <a:solidFill>
                  <a:srgbClr val="00B050"/>
                </a:solidFill>
              </a:rPr>
              <a:t>Effects</a:t>
            </a:r>
            <a:endParaRPr lang="en-US" sz="2000" baseline="30000" dirty="0">
              <a:solidFill>
                <a:srgbClr val="00B050"/>
              </a:solidFill>
            </a:endParaRPr>
          </a:p>
        </p:txBody>
      </p:sp>
      <p:sp>
        <p:nvSpPr>
          <p:cNvPr id="7" name="TextBox 6">
            <a:extLst>
              <a:ext uri="{FF2B5EF4-FFF2-40B4-BE49-F238E27FC236}">
                <a16:creationId xmlns:a16="http://schemas.microsoft.com/office/drawing/2014/main" id="{4B1B7672-CC4F-97F8-9CE8-3873842A6F56}"/>
              </a:ext>
            </a:extLst>
          </p:cNvPr>
          <p:cNvSpPr txBox="1"/>
          <p:nvPr/>
        </p:nvSpPr>
        <p:spPr>
          <a:xfrm>
            <a:off x="8047669" y="3616960"/>
            <a:ext cx="1041043" cy="707886"/>
          </a:xfrm>
          <a:prstGeom prst="rect">
            <a:avLst/>
          </a:prstGeom>
          <a:noFill/>
        </p:spPr>
        <p:txBody>
          <a:bodyPr wrap="none" rtlCol="0">
            <a:spAutoFit/>
          </a:bodyPr>
          <a:lstStyle/>
          <a:p>
            <a:pPr algn="ctr"/>
            <a:r>
              <a:rPr lang="en-US" sz="2000" dirty="0">
                <a:solidFill>
                  <a:srgbClr val="00B050"/>
                </a:solidFill>
              </a:rPr>
              <a:t>Viral</a:t>
            </a:r>
            <a:br>
              <a:rPr lang="en-US" sz="2000" dirty="0">
                <a:solidFill>
                  <a:srgbClr val="00B050"/>
                </a:solidFill>
              </a:rPr>
            </a:br>
            <a:r>
              <a:rPr lang="en-US" sz="2000" dirty="0">
                <a:solidFill>
                  <a:srgbClr val="00B050"/>
                </a:solidFill>
              </a:rPr>
              <a:t>Ideation</a:t>
            </a:r>
            <a:endParaRPr lang="en-US" sz="2000" baseline="30000" dirty="0">
              <a:solidFill>
                <a:srgbClr val="00B050"/>
              </a:solidFill>
            </a:endParaRPr>
          </a:p>
        </p:txBody>
      </p:sp>
      <p:sp>
        <p:nvSpPr>
          <p:cNvPr id="8" name="TextBox 7">
            <a:extLst>
              <a:ext uri="{FF2B5EF4-FFF2-40B4-BE49-F238E27FC236}">
                <a16:creationId xmlns:a16="http://schemas.microsoft.com/office/drawing/2014/main" id="{E0869A25-43A6-2ACE-7BB1-0C50A3291F12}"/>
              </a:ext>
            </a:extLst>
          </p:cNvPr>
          <p:cNvSpPr txBox="1"/>
          <p:nvPr/>
        </p:nvSpPr>
        <p:spPr>
          <a:xfrm>
            <a:off x="10119866" y="3616960"/>
            <a:ext cx="1365134" cy="707886"/>
          </a:xfrm>
          <a:prstGeom prst="rect">
            <a:avLst/>
          </a:prstGeom>
          <a:noFill/>
        </p:spPr>
        <p:txBody>
          <a:bodyPr wrap="none" rtlCol="0">
            <a:spAutoFit/>
          </a:bodyPr>
          <a:lstStyle/>
          <a:p>
            <a:pPr algn="ctr"/>
            <a:r>
              <a:rPr lang="en-US" sz="2000" dirty="0">
                <a:solidFill>
                  <a:srgbClr val="00B050"/>
                </a:solidFill>
              </a:rPr>
              <a:t>Generative</a:t>
            </a:r>
            <a:br>
              <a:rPr lang="en-US" sz="2000" dirty="0">
                <a:solidFill>
                  <a:srgbClr val="00B050"/>
                </a:solidFill>
              </a:rPr>
            </a:br>
            <a:r>
              <a:rPr lang="en-US" sz="2000" dirty="0">
                <a:solidFill>
                  <a:srgbClr val="00B050"/>
                </a:solidFill>
              </a:rPr>
              <a:t>Learning</a:t>
            </a:r>
            <a:endParaRPr lang="en-US" sz="2000" baseline="30000" dirty="0">
              <a:solidFill>
                <a:srgbClr val="00B050"/>
              </a:solidFill>
            </a:endParaRPr>
          </a:p>
        </p:txBody>
      </p:sp>
      <p:sp>
        <p:nvSpPr>
          <p:cNvPr id="9" name="TextBox 8">
            <a:extLst>
              <a:ext uri="{FF2B5EF4-FFF2-40B4-BE49-F238E27FC236}">
                <a16:creationId xmlns:a16="http://schemas.microsoft.com/office/drawing/2014/main" id="{ABC17327-C693-D8FD-EF99-D087840647F0}"/>
              </a:ext>
            </a:extLst>
          </p:cNvPr>
          <p:cNvSpPr txBox="1"/>
          <p:nvPr/>
        </p:nvSpPr>
        <p:spPr>
          <a:xfrm>
            <a:off x="1192721" y="3616960"/>
            <a:ext cx="1407737" cy="707886"/>
          </a:xfrm>
          <a:prstGeom prst="rect">
            <a:avLst/>
          </a:prstGeom>
          <a:noFill/>
        </p:spPr>
        <p:txBody>
          <a:bodyPr wrap="none" rtlCol="0">
            <a:spAutoFit/>
          </a:bodyPr>
          <a:lstStyle/>
          <a:p>
            <a:pPr algn="ctr"/>
            <a:r>
              <a:rPr lang="en-US" sz="2000" dirty="0">
                <a:solidFill>
                  <a:schemeClr val="accent2"/>
                </a:solidFill>
              </a:rPr>
              <a:t>Artificial</a:t>
            </a:r>
            <a:br>
              <a:rPr lang="en-US" sz="2000" dirty="0">
                <a:solidFill>
                  <a:schemeClr val="accent2"/>
                </a:solidFill>
              </a:rPr>
            </a:br>
            <a:r>
              <a:rPr lang="en-US" sz="2000" dirty="0">
                <a:solidFill>
                  <a:schemeClr val="accent2"/>
                </a:solidFill>
              </a:rPr>
              <a:t>Intelligence</a:t>
            </a:r>
            <a:endParaRPr lang="en-US" sz="2000" baseline="30000" dirty="0">
              <a:solidFill>
                <a:schemeClr val="accent2"/>
              </a:solidFill>
            </a:endParaRPr>
          </a:p>
        </p:txBody>
      </p:sp>
      <p:sp>
        <p:nvSpPr>
          <p:cNvPr id="11" name="TextBox 10">
            <a:extLst>
              <a:ext uri="{FF2B5EF4-FFF2-40B4-BE49-F238E27FC236}">
                <a16:creationId xmlns:a16="http://schemas.microsoft.com/office/drawing/2014/main" id="{38BA0BC8-C78C-F99F-770E-F62423529728}"/>
              </a:ext>
            </a:extLst>
          </p:cNvPr>
          <p:cNvSpPr txBox="1"/>
          <p:nvPr/>
        </p:nvSpPr>
        <p:spPr>
          <a:xfrm>
            <a:off x="5165127" y="3770848"/>
            <a:ext cx="297006" cy="400110"/>
          </a:xfrm>
          <a:prstGeom prst="rect">
            <a:avLst/>
          </a:prstGeom>
          <a:noFill/>
        </p:spPr>
        <p:txBody>
          <a:bodyPr wrap="none" rtlCol="0">
            <a:spAutoFit/>
          </a:bodyPr>
          <a:lstStyle/>
          <a:p>
            <a:pPr algn="ctr"/>
            <a:r>
              <a:rPr lang="en-US" sz="2000" dirty="0"/>
              <a:t>x</a:t>
            </a:r>
            <a:endParaRPr lang="en-US" sz="2000" baseline="30000" dirty="0"/>
          </a:p>
        </p:txBody>
      </p:sp>
      <p:sp>
        <p:nvSpPr>
          <p:cNvPr id="13" name="TextBox 12">
            <a:extLst>
              <a:ext uri="{FF2B5EF4-FFF2-40B4-BE49-F238E27FC236}">
                <a16:creationId xmlns:a16="http://schemas.microsoft.com/office/drawing/2014/main" id="{D2C37EA7-B99C-5DAB-3BD1-5C15B6277B9F}"/>
              </a:ext>
            </a:extLst>
          </p:cNvPr>
          <p:cNvSpPr txBox="1"/>
          <p:nvPr/>
        </p:nvSpPr>
        <p:spPr>
          <a:xfrm>
            <a:off x="7246428" y="3770848"/>
            <a:ext cx="297006" cy="400110"/>
          </a:xfrm>
          <a:prstGeom prst="rect">
            <a:avLst/>
          </a:prstGeom>
          <a:noFill/>
        </p:spPr>
        <p:txBody>
          <a:bodyPr wrap="none" rtlCol="0">
            <a:spAutoFit/>
          </a:bodyPr>
          <a:lstStyle/>
          <a:p>
            <a:pPr algn="ctr"/>
            <a:r>
              <a:rPr lang="en-US" sz="2000" dirty="0"/>
              <a:t>x</a:t>
            </a:r>
            <a:endParaRPr lang="en-US" sz="2000" baseline="30000" dirty="0"/>
          </a:p>
        </p:txBody>
      </p:sp>
      <p:sp>
        <p:nvSpPr>
          <p:cNvPr id="14" name="TextBox 13">
            <a:extLst>
              <a:ext uri="{FF2B5EF4-FFF2-40B4-BE49-F238E27FC236}">
                <a16:creationId xmlns:a16="http://schemas.microsoft.com/office/drawing/2014/main" id="{0646F73C-F1BD-AEC1-B7EE-1A4DE2F181DF}"/>
              </a:ext>
            </a:extLst>
          </p:cNvPr>
          <p:cNvSpPr txBox="1"/>
          <p:nvPr/>
        </p:nvSpPr>
        <p:spPr>
          <a:xfrm>
            <a:off x="9528938" y="3770848"/>
            <a:ext cx="297006" cy="400110"/>
          </a:xfrm>
          <a:prstGeom prst="rect">
            <a:avLst/>
          </a:prstGeom>
          <a:noFill/>
        </p:spPr>
        <p:txBody>
          <a:bodyPr wrap="none" rtlCol="0">
            <a:spAutoFit/>
          </a:bodyPr>
          <a:lstStyle/>
          <a:p>
            <a:pPr algn="ctr"/>
            <a:r>
              <a:rPr lang="en-US" sz="2000" dirty="0"/>
              <a:t>x</a:t>
            </a:r>
            <a:endParaRPr lang="en-US" sz="2000" baseline="30000" dirty="0"/>
          </a:p>
        </p:txBody>
      </p:sp>
      <p:sp>
        <p:nvSpPr>
          <p:cNvPr id="16" name="TextBox 15">
            <a:extLst>
              <a:ext uri="{FF2B5EF4-FFF2-40B4-BE49-F238E27FC236}">
                <a16:creationId xmlns:a16="http://schemas.microsoft.com/office/drawing/2014/main" id="{7D6A50B2-D60D-512E-5A5D-85FB6FBD8452}"/>
              </a:ext>
            </a:extLst>
          </p:cNvPr>
          <p:cNvSpPr txBox="1"/>
          <p:nvPr/>
        </p:nvSpPr>
        <p:spPr>
          <a:xfrm>
            <a:off x="2793661" y="3770848"/>
            <a:ext cx="297006" cy="400110"/>
          </a:xfrm>
          <a:prstGeom prst="rect">
            <a:avLst/>
          </a:prstGeom>
          <a:noFill/>
        </p:spPr>
        <p:txBody>
          <a:bodyPr wrap="none" rtlCol="0">
            <a:spAutoFit/>
          </a:bodyPr>
          <a:lstStyle/>
          <a:p>
            <a:pPr algn="ctr"/>
            <a:r>
              <a:rPr lang="en-US" sz="2000" dirty="0"/>
              <a:t>x</a:t>
            </a:r>
            <a:endParaRPr lang="en-US" sz="2000" baseline="30000" dirty="0"/>
          </a:p>
        </p:txBody>
      </p:sp>
      <p:sp>
        <p:nvSpPr>
          <p:cNvPr id="4" name="TextBox 3">
            <a:extLst>
              <a:ext uri="{FF2B5EF4-FFF2-40B4-BE49-F238E27FC236}">
                <a16:creationId xmlns:a16="http://schemas.microsoft.com/office/drawing/2014/main" id="{7F59A49E-422E-74D7-270B-B9674A5B7447}"/>
              </a:ext>
            </a:extLst>
          </p:cNvPr>
          <p:cNvSpPr txBox="1"/>
          <p:nvPr/>
        </p:nvSpPr>
        <p:spPr>
          <a:xfrm>
            <a:off x="1159052" y="4446921"/>
            <a:ext cx="1475084" cy="430887"/>
          </a:xfrm>
          <a:prstGeom prst="rect">
            <a:avLst/>
          </a:prstGeom>
          <a:noFill/>
        </p:spPr>
        <p:txBody>
          <a:bodyPr wrap="none" rtlCol="0">
            <a:spAutoFit/>
          </a:bodyPr>
          <a:lstStyle/>
          <a:p>
            <a:pPr algn="ctr"/>
            <a:r>
              <a:rPr lang="en-US" sz="1100" b="1" i="1" dirty="0">
                <a:solidFill>
                  <a:schemeClr val="bg1"/>
                </a:solidFill>
              </a:rPr>
              <a:t>Practice</a:t>
            </a:r>
            <a:r>
              <a:rPr lang="en-US" sz="1100" dirty="0">
                <a:solidFill>
                  <a:schemeClr val="bg1"/>
                </a:solidFill>
              </a:rPr>
              <a:t> using </a:t>
            </a:r>
            <a:r>
              <a:rPr lang="en-US" sz="1100" u="sng" dirty="0">
                <a:solidFill>
                  <a:schemeClr val="bg1"/>
                </a:solidFill>
              </a:rPr>
              <a:t>AI</a:t>
            </a:r>
            <a:r>
              <a:rPr lang="en-US" sz="1100" dirty="0">
                <a:solidFill>
                  <a:schemeClr val="bg1"/>
                </a:solidFill>
              </a:rPr>
              <a:t> to </a:t>
            </a:r>
            <a:br>
              <a:rPr lang="en-US" sz="1100" dirty="0">
                <a:solidFill>
                  <a:schemeClr val="bg1"/>
                </a:solidFill>
              </a:rPr>
            </a:br>
            <a:r>
              <a:rPr lang="en-US" sz="1100" dirty="0">
                <a:solidFill>
                  <a:schemeClr val="bg1"/>
                </a:solidFill>
              </a:rPr>
              <a:t>launch the rocket…</a:t>
            </a:r>
            <a:endParaRPr lang="en-US" sz="1100" baseline="30000" dirty="0">
              <a:solidFill>
                <a:schemeClr val="bg1"/>
              </a:solidFill>
            </a:endParaRPr>
          </a:p>
        </p:txBody>
      </p:sp>
      <p:sp>
        <p:nvSpPr>
          <p:cNvPr id="6" name="TextBox 5">
            <a:extLst>
              <a:ext uri="{FF2B5EF4-FFF2-40B4-BE49-F238E27FC236}">
                <a16:creationId xmlns:a16="http://schemas.microsoft.com/office/drawing/2014/main" id="{E9552210-BD4A-0474-514E-6EC82F3FDE4F}"/>
              </a:ext>
            </a:extLst>
          </p:cNvPr>
          <p:cNvSpPr txBox="1"/>
          <p:nvPr/>
        </p:nvSpPr>
        <p:spPr>
          <a:xfrm>
            <a:off x="3477447" y="4446921"/>
            <a:ext cx="1306768" cy="430887"/>
          </a:xfrm>
          <a:prstGeom prst="rect">
            <a:avLst/>
          </a:prstGeom>
          <a:noFill/>
        </p:spPr>
        <p:txBody>
          <a:bodyPr wrap="none" rtlCol="0">
            <a:spAutoFit/>
          </a:bodyPr>
          <a:lstStyle/>
          <a:p>
            <a:pPr algn="ctr"/>
            <a:r>
              <a:rPr lang="en-US" sz="1100" dirty="0">
                <a:solidFill>
                  <a:schemeClr val="bg1"/>
                </a:solidFill>
              </a:rPr>
              <a:t>Develop concepts</a:t>
            </a:r>
            <a:br>
              <a:rPr lang="en-US" sz="1100" dirty="0">
                <a:solidFill>
                  <a:schemeClr val="bg1"/>
                </a:solidFill>
              </a:rPr>
            </a:br>
            <a:r>
              <a:rPr lang="en-US" sz="1100" dirty="0">
                <a:solidFill>
                  <a:schemeClr val="bg1"/>
                </a:solidFill>
              </a:rPr>
              <a:t>that </a:t>
            </a:r>
            <a:r>
              <a:rPr lang="en-US" sz="1100" b="1" i="1" dirty="0">
                <a:solidFill>
                  <a:schemeClr val="bg1"/>
                </a:solidFill>
              </a:rPr>
              <a:t>resonate</a:t>
            </a:r>
            <a:endParaRPr lang="en-US" sz="1100" baseline="30000" dirty="0">
              <a:solidFill>
                <a:schemeClr val="bg1"/>
              </a:solidFill>
            </a:endParaRPr>
          </a:p>
        </p:txBody>
      </p:sp>
      <p:sp>
        <p:nvSpPr>
          <p:cNvPr id="10" name="TextBox 9">
            <a:extLst>
              <a:ext uri="{FF2B5EF4-FFF2-40B4-BE49-F238E27FC236}">
                <a16:creationId xmlns:a16="http://schemas.microsoft.com/office/drawing/2014/main" id="{C393AA93-082F-4E91-CDC8-CC923AFCB24A}"/>
              </a:ext>
            </a:extLst>
          </p:cNvPr>
          <p:cNvSpPr txBox="1"/>
          <p:nvPr/>
        </p:nvSpPr>
        <p:spPr>
          <a:xfrm>
            <a:off x="5548614" y="4446921"/>
            <a:ext cx="1611339" cy="430887"/>
          </a:xfrm>
          <a:prstGeom prst="rect">
            <a:avLst/>
          </a:prstGeom>
          <a:noFill/>
        </p:spPr>
        <p:txBody>
          <a:bodyPr wrap="none" rtlCol="0">
            <a:spAutoFit/>
          </a:bodyPr>
          <a:lstStyle/>
          <a:p>
            <a:pPr algn="ctr"/>
            <a:r>
              <a:rPr lang="en-US" sz="1100" dirty="0">
                <a:solidFill>
                  <a:schemeClr val="bg1"/>
                </a:solidFill>
              </a:rPr>
              <a:t>R</a:t>
            </a:r>
            <a:r>
              <a:rPr lang="en-US" sz="1100" b="1" i="1" dirty="0">
                <a:solidFill>
                  <a:schemeClr val="bg1"/>
                </a:solidFill>
              </a:rPr>
              <a:t>each </a:t>
            </a:r>
            <a:r>
              <a:rPr lang="en-US" sz="1100" dirty="0">
                <a:solidFill>
                  <a:schemeClr val="bg1"/>
                </a:solidFill>
              </a:rPr>
              <a:t>new supporters</a:t>
            </a:r>
            <a:br>
              <a:rPr lang="en-US" sz="1100" dirty="0">
                <a:solidFill>
                  <a:schemeClr val="bg1"/>
                </a:solidFill>
              </a:rPr>
            </a:br>
            <a:r>
              <a:rPr lang="en-US" sz="1100" dirty="0">
                <a:solidFill>
                  <a:schemeClr val="bg1"/>
                </a:solidFill>
              </a:rPr>
              <a:t>and customers</a:t>
            </a:r>
            <a:endParaRPr lang="en-US" sz="1100" baseline="30000" dirty="0">
              <a:solidFill>
                <a:schemeClr val="bg1"/>
              </a:solidFill>
            </a:endParaRPr>
          </a:p>
        </p:txBody>
      </p:sp>
      <p:sp>
        <p:nvSpPr>
          <p:cNvPr id="12" name="TextBox 11">
            <a:extLst>
              <a:ext uri="{FF2B5EF4-FFF2-40B4-BE49-F238E27FC236}">
                <a16:creationId xmlns:a16="http://schemas.microsoft.com/office/drawing/2014/main" id="{23FF78B6-C76C-BEC1-BDE7-05FC857E92C8}"/>
              </a:ext>
            </a:extLst>
          </p:cNvPr>
          <p:cNvSpPr txBox="1"/>
          <p:nvPr/>
        </p:nvSpPr>
        <p:spPr>
          <a:xfrm>
            <a:off x="7778552" y="4446921"/>
            <a:ext cx="1579279" cy="430887"/>
          </a:xfrm>
          <a:prstGeom prst="rect">
            <a:avLst/>
          </a:prstGeom>
          <a:noFill/>
        </p:spPr>
        <p:txBody>
          <a:bodyPr wrap="none" rtlCol="0">
            <a:spAutoFit/>
          </a:bodyPr>
          <a:lstStyle/>
          <a:p>
            <a:pPr algn="ctr"/>
            <a:r>
              <a:rPr lang="en-US" sz="1100" dirty="0">
                <a:solidFill>
                  <a:schemeClr val="bg1"/>
                </a:solidFill>
              </a:rPr>
              <a:t>Build </a:t>
            </a:r>
            <a:r>
              <a:rPr lang="en-US" sz="1100" b="1" i="1" dirty="0">
                <a:solidFill>
                  <a:schemeClr val="bg1"/>
                </a:solidFill>
              </a:rPr>
              <a:t>momentum</a:t>
            </a:r>
            <a:br>
              <a:rPr lang="en-US" sz="1100" b="1" i="1" dirty="0">
                <a:solidFill>
                  <a:schemeClr val="bg1"/>
                </a:solidFill>
              </a:rPr>
            </a:br>
            <a:r>
              <a:rPr lang="en-US" sz="1100" dirty="0">
                <a:solidFill>
                  <a:schemeClr val="bg1"/>
                </a:solidFill>
              </a:rPr>
              <a:t>with ideas that go viral</a:t>
            </a:r>
            <a:endParaRPr lang="en-US" sz="1100" baseline="30000" dirty="0">
              <a:solidFill>
                <a:schemeClr val="bg1"/>
              </a:solidFill>
            </a:endParaRPr>
          </a:p>
        </p:txBody>
      </p:sp>
      <p:sp>
        <p:nvSpPr>
          <p:cNvPr id="15" name="TextBox 14">
            <a:extLst>
              <a:ext uri="{FF2B5EF4-FFF2-40B4-BE49-F238E27FC236}">
                <a16:creationId xmlns:a16="http://schemas.microsoft.com/office/drawing/2014/main" id="{E2802C94-6182-D423-5392-2CC6C4840FEC}"/>
              </a:ext>
            </a:extLst>
          </p:cNvPr>
          <p:cNvSpPr txBox="1"/>
          <p:nvPr/>
        </p:nvSpPr>
        <p:spPr>
          <a:xfrm>
            <a:off x="10001572" y="4446921"/>
            <a:ext cx="1601721" cy="430887"/>
          </a:xfrm>
          <a:prstGeom prst="rect">
            <a:avLst/>
          </a:prstGeom>
          <a:noFill/>
        </p:spPr>
        <p:txBody>
          <a:bodyPr wrap="none" rtlCol="0">
            <a:spAutoFit/>
          </a:bodyPr>
          <a:lstStyle/>
          <a:p>
            <a:pPr algn="ctr"/>
            <a:r>
              <a:rPr lang="en-US" sz="1100" dirty="0">
                <a:solidFill>
                  <a:schemeClr val="bg1"/>
                </a:solidFill>
              </a:rPr>
              <a:t>Ramp up </a:t>
            </a:r>
            <a:r>
              <a:rPr lang="en-US" sz="1100" b="1" i="1" dirty="0">
                <a:solidFill>
                  <a:schemeClr val="bg1"/>
                </a:solidFill>
              </a:rPr>
              <a:t>productivity</a:t>
            </a:r>
            <a:br>
              <a:rPr lang="en-US" sz="1100" b="1" i="1" dirty="0">
                <a:solidFill>
                  <a:schemeClr val="bg1"/>
                </a:solidFill>
              </a:rPr>
            </a:br>
            <a:r>
              <a:rPr lang="en-US" sz="1100" dirty="0">
                <a:solidFill>
                  <a:schemeClr val="bg1"/>
                </a:solidFill>
              </a:rPr>
              <a:t>across teams of teams</a:t>
            </a:r>
            <a:endParaRPr lang="en-US" sz="1100" baseline="30000" dirty="0">
              <a:solidFill>
                <a:schemeClr val="bg1"/>
              </a:solidFill>
            </a:endParaRPr>
          </a:p>
        </p:txBody>
      </p:sp>
      <p:sp>
        <p:nvSpPr>
          <p:cNvPr id="30" name="Off-page Connector 29">
            <a:extLst>
              <a:ext uri="{FF2B5EF4-FFF2-40B4-BE49-F238E27FC236}">
                <a16:creationId xmlns:a16="http://schemas.microsoft.com/office/drawing/2014/main" id="{8899788A-8883-A8B7-F596-C3D22A193F0F}"/>
              </a:ext>
            </a:extLst>
          </p:cNvPr>
          <p:cNvSpPr/>
          <p:nvPr/>
        </p:nvSpPr>
        <p:spPr>
          <a:xfrm>
            <a:off x="153956" y="4467763"/>
            <a:ext cx="685800" cy="502920"/>
          </a:xfrm>
          <a:prstGeom prst="flowChartOffpageConnector">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b="1" i="1" dirty="0">
                <a:solidFill>
                  <a:schemeClr val="bg1"/>
                </a:solidFill>
              </a:rPr>
              <a:t>Launch</a:t>
            </a:r>
          </a:p>
        </p:txBody>
      </p:sp>
      <p:sp>
        <p:nvSpPr>
          <p:cNvPr id="17" name="Rectangle 16">
            <a:extLst>
              <a:ext uri="{FF2B5EF4-FFF2-40B4-BE49-F238E27FC236}">
                <a16:creationId xmlns:a16="http://schemas.microsoft.com/office/drawing/2014/main" id="{36AB5EB7-A857-45B0-1500-5583D8E41C17}"/>
              </a:ext>
            </a:extLst>
          </p:cNvPr>
          <p:cNvSpPr/>
          <p:nvPr/>
        </p:nvSpPr>
        <p:spPr>
          <a:xfrm>
            <a:off x="863292" y="4999603"/>
            <a:ext cx="2057452" cy="400110"/>
          </a:xfrm>
          <a:prstGeom prst="rect">
            <a:avLst/>
          </a:prstGeom>
          <a:solidFill>
            <a:schemeClr val="accent2"/>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F5AD478B-409F-8C44-D627-1407EAAE19F0}"/>
              </a:ext>
            </a:extLst>
          </p:cNvPr>
          <p:cNvSpPr/>
          <p:nvPr/>
        </p:nvSpPr>
        <p:spPr>
          <a:xfrm>
            <a:off x="2945840" y="4999603"/>
            <a:ext cx="8946698" cy="400110"/>
          </a:xfrm>
          <a:prstGeom prst="rect">
            <a:avLst/>
          </a:prstGeom>
          <a:solidFill>
            <a:srgbClr val="00B050"/>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ADAEC1A0-F0F9-276F-4FED-9C588577EA79}"/>
              </a:ext>
            </a:extLst>
          </p:cNvPr>
          <p:cNvSpPr txBox="1"/>
          <p:nvPr/>
        </p:nvSpPr>
        <p:spPr>
          <a:xfrm>
            <a:off x="1024401" y="5064959"/>
            <a:ext cx="1744388" cy="261610"/>
          </a:xfrm>
          <a:prstGeom prst="rect">
            <a:avLst/>
          </a:prstGeom>
          <a:noFill/>
        </p:spPr>
        <p:txBody>
          <a:bodyPr wrap="none" rtlCol="0">
            <a:spAutoFit/>
          </a:bodyPr>
          <a:lstStyle/>
          <a:p>
            <a:pPr algn="ctr"/>
            <a:r>
              <a:rPr lang="en-US" sz="1100" dirty="0">
                <a:solidFill>
                  <a:schemeClr val="bg1"/>
                </a:solidFill>
              </a:rPr>
              <a:t>…climb to new heights…</a:t>
            </a:r>
            <a:endParaRPr lang="en-US" sz="1100" baseline="30000" dirty="0">
              <a:solidFill>
                <a:schemeClr val="bg1"/>
              </a:solidFill>
            </a:endParaRPr>
          </a:p>
        </p:txBody>
      </p:sp>
      <p:sp>
        <p:nvSpPr>
          <p:cNvPr id="26" name="TextBox 25">
            <a:extLst>
              <a:ext uri="{FF2B5EF4-FFF2-40B4-BE49-F238E27FC236}">
                <a16:creationId xmlns:a16="http://schemas.microsoft.com/office/drawing/2014/main" id="{BCC038CB-F542-8445-A66F-6A35403F5D45}"/>
              </a:ext>
            </a:extLst>
          </p:cNvPr>
          <p:cNvSpPr txBox="1"/>
          <p:nvPr/>
        </p:nvSpPr>
        <p:spPr>
          <a:xfrm>
            <a:off x="3035020" y="4980321"/>
            <a:ext cx="2191626" cy="430887"/>
          </a:xfrm>
          <a:prstGeom prst="rect">
            <a:avLst/>
          </a:prstGeom>
          <a:noFill/>
        </p:spPr>
        <p:txBody>
          <a:bodyPr wrap="none" rtlCol="0">
            <a:spAutoFit/>
          </a:bodyPr>
          <a:lstStyle/>
          <a:p>
            <a:pPr algn="ctr"/>
            <a:r>
              <a:rPr lang="en-US" sz="1100" dirty="0">
                <a:solidFill>
                  <a:schemeClr val="bg1"/>
                </a:solidFill>
              </a:rPr>
              <a:t>Lean </a:t>
            </a:r>
            <a:r>
              <a:rPr lang="en-US" sz="1100" b="1" i="1" dirty="0">
                <a:solidFill>
                  <a:schemeClr val="bg1"/>
                </a:solidFill>
              </a:rPr>
              <a:t>product</a:t>
            </a:r>
            <a:r>
              <a:rPr lang="en-US" sz="1100" dirty="0">
                <a:solidFill>
                  <a:schemeClr val="bg1"/>
                </a:solidFill>
              </a:rPr>
              <a:t> management </a:t>
            </a:r>
            <a:br>
              <a:rPr lang="en-US" sz="1100" dirty="0">
                <a:solidFill>
                  <a:schemeClr val="bg1"/>
                </a:solidFill>
              </a:rPr>
            </a:br>
            <a:r>
              <a:rPr lang="en-US" sz="1100" dirty="0">
                <a:solidFill>
                  <a:schemeClr val="bg1"/>
                </a:solidFill>
              </a:rPr>
              <a:t>gets value and feedback flowing</a:t>
            </a:r>
            <a:endParaRPr lang="en-US" sz="1100" baseline="30000" dirty="0">
              <a:solidFill>
                <a:schemeClr val="bg1"/>
              </a:solidFill>
            </a:endParaRPr>
          </a:p>
        </p:txBody>
      </p:sp>
      <p:sp>
        <p:nvSpPr>
          <p:cNvPr id="33" name="TextBox 32">
            <a:extLst>
              <a:ext uri="{FF2B5EF4-FFF2-40B4-BE49-F238E27FC236}">
                <a16:creationId xmlns:a16="http://schemas.microsoft.com/office/drawing/2014/main" id="{B08E2D38-A4D0-096B-7997-88CF1EE687E0}"/>
              </a:ext>
            </a:extLst>
          </p:cNvPr>
          <p:cNvSpPr txBox="1"/>
          <p:nvPr/>
        </p:nvSpPr>
        <p:spPr>
          <a:xfrm>
            <a:off x="5365074" y="4980321"/>
            <a:ext cx="1978427" cy="430887"/>
          </a:xfrm>
          <a:prstGeom prst="rect">
            <a:avLst/>
          </a:prstGeom>
          <a:noFill/>
        </p:spPr>
        <p:txBody>
          <a:bodyPr wrap="none" rtlCol="0">
            <a:spAutoFit/>
          </a:bodyPr>
          <a:lstStyle/>
          <a:p>
            <a:pPr algn="ctr"/>
            <a:r>
              <a:rPr lang="en-US" sz="1100" b="1" i="1" dirty="0">
                <a:solidFill>
                  <a:schemeClr val="bg1"/>
                </a:solidFill>
              </a:rPr>
              <a:t>Platforms </a:t>
            </a:r>
            <a:r>
              <a:rPr lang="en-US" sz="1100" dirty="0">
                <a:solidFill>
                  <a:schemeClr val="bg1"/>
                </a:solidFill>
              </a:rPr>
              <a:t>link collaborators</a:t>
            </a:r>
            <a:br>
              <a:rPr lang="en-US" sz="1100" dirty="0">
                <a:solidFill>
                  <a:schemeClr val="bg1"/>
                </a:solidFill>
              </a:rPr>
            </a:br>
            <a:r>
              <a:rPr lang="en-US" sz="1100" dirty="0">
                <a:solidFill>
                  <a:schemeClr val="bg1"/>
                </a:solidFill>
              </a:rPr>
              <a:t>across silos and ecosystems</a:t>
            </a:r>
            <a:endParaRPr lang="en-US" sz="1100" baseline="30000" dirty="0">
              <a:solidFill>
                <a:schemeClr val="bg1"/>
              </a:solidFill>
            </a:endParaRPr>
          </a:p>
        </p:txBody>
      </p:sp>
      <p:sp>
        <p:nvSpPr>
          <p:cNvPr id="36" name="TextBox 35">
            <a:extLst>
              <a:ext uri="{FF2B5EF4-FFF2-40B4-BE49-F238E27FC236}">
                <a16:creationId xmlns:a16="http://schemas.microsoft.com/office/drawing/2014/main" id="{70B630A1-2A13-2725-389B-E831C7B2DD61}"/>
              </a:ext>
            </a:extLst>
          </p:cNvPr>
          <p:cNvSpPr txBox="1"/>
          <p:nvPr/>
        </p:nvSpPr>
        <p:spPr>
          <a:xfrm>
            <a:off x="7469977" y="4980321"/>
            <a:ext cx="2196434" cy="430887"/>
          </a:xfrm>
          <a:prstGeom prst="rect">
            <a:avLst/>
          </a:prstGeom>
          <a:noFill/>
        </p:spPr>
        <p:txBody>
          <a:bodyPr wrap="none" rtlCol="0">
            <a:spAutoFit/>
          </a:bodyPr>
          <a:lstStyle/>
          <a:p>
            <a:pPr algn="ctr"/>
            <a:r>
              <a:rPr lang="en-US" sz="1100" b="1" i="1" dirty="0">
                <a:solidFill>
                  <a:schemeClr val="bg1"/>
                </a:solidFill>
              </a:rPr>
              <a:t>Participant </a:t>
            </a:r>
            <a:r>
              <a:rPr lang="en-US" sz="1100" dirty="0">
                <a:solidFill>
                  <a:schemeClr val="bg1"/>
                </a:solidFill>
              </a:rPr>
              <a:t>rewards encourage </a:t>
            </a:r>
            <a:br>
              <a:rPr lang="en-US" sz="1100" dirty="0">
                <a:solidFill>
                  <a:schemeClr val="bg1"/>
                </a:solidFill>
              </a:rPr>
            </a:br>
            <a:r>
              <a:rPr lang="en-US" sz="1100" dirty="0">
                <a:solidFill>
                  <a:schemeClr val="bg1"/>
                </a:solidFill>
              </a:rPr>
              <a:t>fearless sharing of viral ideas</a:t>
            </a:r>
            <a:endParaRPr lang="en-US" sz="1100" baseline="30000" dirty="0">
              <a:solidFill>
                <a:schemeClr val="bg1"/>
              </a:solidFill>
            </a:endParaRPr>
          </a:p>
        </p:txBody>
      </p:sp>
      <p:sp>
        <p:nvSpPr>
          <p:cNvPr id="37" name="TextBox 36">
            <a:extLst>
              <a:ext uri="{FF2B5EF4-FFF2-40B4-BE49-F238E27FC236}">
                <a16:creationId xmlns:a16="http://schemas.microsoft.com/office/drawing/2014/main" id="{C32878DB-62D5-E8EE-8983-F55B6F458902}"/>
              </a:ext>
            </a:extLst>
          </p:cNvPr>
          <p:cNvSpPr txBox="1"/>
          <p:nvPr/>
        </p:nvSpPr>
        <p:spPr>
          <a:xfrm>
            <a:off x="9739484" y="4980321"/>
            <a:ext cx="2125902" cy="430887"/>
          </a:xfrm>
          <a:prstGeom prst="rect">
            <a:avLst/>
          </a:prstGeom>
          <a:noFill/>
        </p:spPr>
        <p:txBody>
          <a:bodyPr wrap="none" rtlCol="0">
            <a:spAutoFit/>
          </a:bodyPr>
          <a:lstStyle/>
          <a:p>
            <a:pPr algn="ctr"/>
            <a:r>
              <a:rPr lang="en-US" sz="1100" b="1" i="1" dirty="0">
                <a:solidFill>
                  <a:schemeClr val="bg1"/>
                </a:solidFill>
              </a:rPr>
              <a:t>Practitioners</a:t>
            </a:r>
            <a:r>
              <a:rPr lang="en-US" sz="1100" dirty="0">
                <a:solidFill>
                  <a:schemeClr val="bg1"/>
                </a:solidFill>
              </a:rPr>
              <a:t> of agile-at-scale</a:t>
            </a:r>
            <a:br>
              <a:rPr lang="en-US" sz="1100" b="1" i="1" dirty="0">
                <a:solidFill>
                  <a:schemeClr val="bg1"/>
                </a:solidFill>
              </a:rPr>
            </a:br>
            <a:r>
              <a:rPr lang="en-US" sz="1100" dirty="0">
                <a:solidFill>
                  <a:schemeClr val="bg1"/>
                </a:solidFill>
              </a:rPr>
              <a:t>keep teams of teams aligned</a:t>
            </a:r>
            <a:endParaRPr lang="en-US" sz="1100" baseline="30000" dirty="0">
              <a:solidFill>
                <a:schemeClr val="bg1"/>
              </a:solidFill>
            </a:endParaRPr>
          </a:p>
        </p:txBody>
      </p:sp>
      <p:sp>
        <p:nvSpPr>
          <p:cNvPr id="38" name="Off-page Connector 37">
            <a:extLst>
              <a:ext uri="{FF2B5EF4-FFF2-40B4-BE49-F238E27FC236}">
                <a16:creationId xmlns:a16="http://schemas.microsoft.com/office/drawing/2014/main" id="{1FB13028-69B0-DF1A-AE87-8E36D033DF39}"/>
              </a:ext>
            </a:extLst>
          </p:cNvPr>
          <p:cNvSpPr/>
          <p:nvPr/>
        </p:nvSpPr>
        <p:spPr>
          <a:xfrm>
            <a:off x="153956" y="5001163"/>
            <a:ext cx="685800" cy="502920"/>
          </a:xfrm>
          <a:prstGeom prst="flowChartOffpageConnector">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b="1" i="1" dirty="0">
                <a:solidFill>
                  <a:schemeClr val="bg1"/>
                </a:solidFill>
              </a:rPr>
              <a:t>Climb</a:t>
            </a:r>
          </a:p>
        </p:txBody>
      </p:sp>
      <p:sp>
        <p:nvSpPr>
          <p:cNvPr id="39" name="Rectangle 38">
            <a:extLst>
              <a:ext uri="{FF2B5EF4-FFF2-40B4-BE49-F238E27FC236}">
                <a16:creationId xmlns:a16="http://schemas.microsoft.com/office/drawing/2014/main" id="{0881C517-90FB-02F5-9D3A-E051E03A06FF}"/>
              </a:ext>
            </a:extLst>
          </p:cNvPr>
          <p:cNvSpPr/>
          <p:nvPr/>
        </p:nvSpPr>
        <p:spPr>
          <a:xfrm>
            <a:off x="863292" y="5533003"/>
            <a:ext cx="2057452" cy="400110"/>
          </a:xfrm>
          <a:prstGeom prst="rect">
            <a:avLst/>
          </a:prstGeom>
          <a:solidFill>
            <a:schemeClr val="accent2"/>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a:extLst>
              <a:ext uri="{FF2B5EF4-FFF2-40B4-BE49-F238E27FC236}">
                <a16:creationId xmlns:a16="http://schemas.microsoft.com/office/drawing/2014/main" id="{55BD88CE-EB53-77F2-3739-5A5D139D213B}"/>
              </a:ext>
            </a:extLst>
          </p:cNvPr>
          <p:cNvSpPr/>
          <p:nvPr/>
        </p:nvSpPr>
        <p:spPr>
          <a:xfrm>
            <a:off x="2945840" y="5533003"/>
            <a:ext cx="8946698" cy="400110"/>
          </a:xfrm>
          <a:prstGeom prst="rect">
            <a:avLst/>
          </a:prstGeom>
          <a:solidFill>
            <a:srgbClr val="00B050"/>
          </a:solid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TextBox 40">
            <a:extLst>
              <a:ext uri="{FF2B5EF4-FFF2-40B4-BE49-F238E27FC236}">
                <a16:creationId xmlns:a16="http://schemas.microsoft.com/office/drawing/2014/main" id="{A605DAAF-0BA9-928A-AF9B-3F6F5FA8B4C7}"/>
              </a:ext>
            </a:extLst>
          </p:cNvPr>
          <p:cNvSpPr txBox="1"/>
          <p:nvPr/>
        </p:nvSpPr>
        <p:spPr>
          <a:xfrm>
            <a:off x="1038959" y="5513721"/>
            <a:ext cx="1635252" cy="430887"/>
          </a:xfrm>
          <a:prstGeom prst="rect">
            <a:avLst/>
          </a:prstGeom>
          <a:noFill/>
        </p:spPr>
        <p:txBody>
          <a:bodyPr wrap="square" rtlCol="0">
            <a:spAutoFit/>
          </a:bodyPr>
          <a:lstStyle/>
          <a:p>
            <a:pPr algn="ctr"/>
            <a:r>
              <a:rPr lang="en-US" sz="1100" dirty="0">
                <a:solidFill>
                  <a:schemeClr val="bg1"/>
                </a:solidFill>
              </a:rPr>
              <a:t>…and soar to your success!</a:t>
            </a:r>
            <a:endParaRPr lang="en-US" sz="1100" baseline="30000" dirty="0">
              <a:solidFill>
                <a:schemeClr val="bg1"/>
              </a:solidFill>
            </a:endParaRPr>
          </a:p>
        </p:txBody>
      </p:sp>
      <p:sp>
        <p:nvSpPr>
          <p:cNvPr id="42" name="TextBox 41">
            <a:extLst>
              <a:ext uri="{FF2B5EF4-FFF2-40B4-BE49-F238E27FC236}">
                <a16:creationId xmlns:a16="http://schemas.microsoft.com/office/drawing/2014/main" id="{85E12C8F-2666-D708-9106-0C04C603D744}"/>
              </a:ext>
            </a:extLst>
          </p:cNvPr>
          <p:cNvSpPr txBox="1"/>
          <p:nvPr/>
        </p:nvSpPr>
        <p:spPr>
          <a:xfrm>
            <a:off x="3144025" y="5513721"/>
            <a:ext cx="1973617" cy="430887"/>
          </a:xfrm>
          <a:prstGeom prst="rect">
            <a:avLst/>
          </a:prstGeom>
          <a:noFill/>
        </p:spPr>
        <p:txBody>
          <a:bodyPr wrap="none" rtlCol="0">
            <a:spAutoFit/>
          </a:bodyPr>
          <a:lstStyle/>
          <a:p>
            <a:pPr algn="ctr"/>
            <a:r>
              <a:rPr lang="en-US" sz="1100" dirty="0">
                <a:solidFill>
                  <a:schemeClr val="bg1"/>
                </a:solidFill>
              </a:rPr>
              <a:t>Grow </a:t>
            </a:r>
            <a:r>
              <a:rPr lang="en-US" sz="1100" b="1" i="1" dirty="0">
                <a:solidFill>
                  <a:schemeClr val="bg1"/>
                </a:solidFill>
              </a:rPr>
              <a:t>ROI</a:t>
            </a:r>
            <a:r>
              <a:rPr lang="en-US" sz="1100" dirty="0">
                <a:solidFill>
                  <a:schemeClr val="bg1"/>
                </a:solidFill>
              </a:rPr>
              <a:t> exponentially</a:t>
            </a:r>
            <a:br>
              <a:rPr lang="en-US" sz="1100" dirty="0">
                <a:solidFill>
                  <a:schemeClr val="bg1"/>
                </a:solidFill>
              </a:rPr>
            </a:br>
            <a:r>
              <a:rPr lang="en-US" sz="1100" dirty="0">
                <a:solidFill>
                  <a:schemeClr val="bg1"/>
                </a:solidFill>
              </a:rPr>
              <a:t>via </a:t>
            </a:r>
            <a:r>
              <a:rPr lang="en-US" sz="1100" u="sng" dirty="0">
                <a:solidFill>
                  <a:schemeClr val="bg1"/>
                </a:solidFill>
              </a:rPr>
              <a:t>Compounding Innovation</a:t>
            </a:r>
            <a:endParaRPr lang="en-US" sz="1100" baseline="30000" dirty="0">
              <a:solidFill>
                <a:schemeClr val="bg1"/>
              </a:solidFill>
            </a:endParaRPr>
          </a:p>
        </p:txBody>
      </p:sp>
      <p:sp>
        <p:nvSpPr>
          <p:cNvPr id="43" name="TextBox 42">
            <a:extLst>
              <a:ext uri="{FF2B5EF4-FFF2-40B4-BE49-F238E27FC236}">
                <a16:creationId xmlns:a16="http://schemas.microsoft.com/office/drawing/2014/main" id="{D26A96D9-E9D6-920D-6D92-A27E3CAD92D0}"/>
              </a:ext>
            </a:extLst>
          </p:cNvPr>
          <p:cNvSpPr txBox="1"/>
          <p:nvPr/>
        </p:nvSpPr>
        <p:spPr>
          <a:xfrm>
            <a:off x="5454042" y="5513721"/>
            <a:ext cx="1800493" cy="430887"/>
          </a:xfrm>
          <a:prstGeom prst="rect">
            <a:avLst/>
          </a:prstGeom>
          <a:noFill/>
        </p:spPr>
        <p:txBody>
          <a:bodyPr wrap="none" rtlCol="0">
            <a:spAutoFit/>
          </a:bodyPr>
          <a:lstStyle/>
          <a:p>
            <a:pPr algn="ctr"/>
            <a:r>
              <a:rPr lang="en-US" sz="1100" dirty="0">
                <a:solidFill>
                  <a:schemeClr val="bg1"/>
                </a:solidFill>
              </a:rPr>
              <a:t>Grow </a:t>
            </a:r>
            <a:r>
              <a:rPr lang="en-US" sz="1100" b="1" i="1" dirty="0">
                <a:solidFill>
                  <a:schemeClr val="bg1"/>
                </a:solidFill>
              </a:rPr>
              <a:t>reach </a:t>
            </a:r>
            <a:r>
              <a:rPr lang="en-US" sz="1100" dirty="0">
                <a:solidFill>
                  <a:schemeClr val="bg1"/>
                </a:solidFill>
              </a:rPr>
              <a:t>exponentially</a:t>
            </a:r>
            <a:br>
              <a:rPr lang="en-US" sz="1100" dirty="0">
                <a:solidFill>
                  <a:schemeClr val="bg1"/>
                </a:solidFill>
              </a:rPr>
            </a:br>
            <a:r>
              <a:rPr lang="en-US" sz="1100" dirty="0">
                <a:solidFill>
                  <a:schemeClr val="bg1"/>
                </a:solidFill>
              </a:rPr>
              <a:t>via </a:t>
            </a:r>
            <a:r>
              <a:rPr lang="en-US" sz="1100" u="sng" dirty="0">
                <a:solidFill>
                  <a:schemeClr val="bg1"/>
                </a:solidFill>
              </a:rPr>
              <a:t>Network Effects</a:t>
            </a:r>
            <a:endParaRPr lang="en-US" sz="1100" baseline="30000" dirty="0">
              <a:solidFill>
                <a:schemeClr val="bg1"/>
              </a:solidFill>
            </a:endParaRPr>
          </a:p>
        </p:txBody>
      </p:sp>
      <p:sp>
        <p:nvSpPr>
          <p:cNvPr id="44" name="TextBox 43">
            <a:extLst>
              <a:ext uri="{FF2B5EF4-FFF2-40B4-BE49-F238E27FC236}">
                <a16:creationId xmlns:a16="http://schemas.microsoft.com/office/drawing/2014/main" id="{B00B3378-9F0A-85B3-E700-93184462895A}"/>
              </a:ext>
            </a:extLst>
          </p:cNvPr>
          <p:cNvSpPr txBox="1"/>
          <p:nvPr/>
        </p:nvSpPr>
        <p:spPr>
          <a:xfrm>
            <a:off x="7476391" y="5513721"/>
            <a:ext cx="2183610" cy="430887"/>
          </a:xfrm>
          <a:prstGeom prst="rect">
            <a:avLst/>
          </a:prstGeom>
          <a:noFill/>
        </p:spPr>
        <p:txBody>
          <a:bodyPr wrap="none" rtlCol="0">
            <a:spAutoFit/>
          </a:bodyPr>
          <a:lstStyle/>
          <a:p>
            <a:pPr algn="ctr"/>
            <a:r>
              <a:rPr lang="en-US" sz="1100" dirty="0">
                <a:solidFill>
                  <a:schemeClr val="bg1"/>
                </a:solidFill>
              </a:rPr>
              <a:t>Grow </a:t>
            </a:r>
            <a:r>
              <a:rPr lang="en-US" sz="1100" b="1" i="1" dirty="0">
                <a:solidFill>
                  <a:schemeClr val="bg1"/>
                </a:solidFill>
              </a:rPr>
              <a:t>momentum </a:t>
            </a:r>
            <a:r>
              <a:rPr lang="en-US" sz="1100" dirty="0">
                <a:solidFill>
                  <a:schemeClr val="bg1"/>
                </a:solidFill>
              </a:rPr>
              <a:t>exponentially</a:t>
            </a:r>
            <a:br>
              <a:rPr lang="en-US" sz="1100" dirty="0">
                <a:solidFill>
                  <a:schemeClr val="bg1"/>
                </a:solidFill>
              </a:rPr>
            </a:br>
            <a:r>
              <a:rPr lang="en-US" sz="1100" dirty="0">
                <a:solidFill>
                  <a:schemeClr val="bg1"/>
                </a:solidFill>
              </a:rPr>
              <a:t>via </a:t>
            </a:r>
            <a:r>
              <a:rPr lang="en-US" sz="1100" u="sng" dirty="0">
                <a:solidFill>
                  <a:schemeClr val="bg1"/>
                </a:solidFill>
              </a:rPr>
              <a:t>Viral Ideation</a:t>
            </a:r>
            <a:endParaRPr lang="en-US" sz="1100" baseline="30000" dirty="0">
              <a:solidFill>
                <a:schemeClr val="bg1"/>
              </a:solidFill>
            </a:endParaRPr>
          </a:p>
        </p:txBody>
      </p:sp>
      <p:sp>
        <p:nvSpPr>
          <p:cNvPr id="45" name="TextBox 44">
            <a:extLst>
              <a:ext uri="{FF2B5EF4-FFF2-40B4-BE49-F238E27FC236}">
                <a16:creationId xmlns:a16="http://schemas.microsoft.com/office/drawing/2014/main" id="{F7341C3B-0A5E-D549-9DD7-55A59A18C832}"/>
              </a:ext>
            </a:extLst>
          </p:cNvPr>
          <p:cNvSpPr txBox="1"/>
          <p:nvPr/>
        </p:nvSpPr>
        <p:spPr>
          <a:xfrm>
            <a:off x="9687388" y="5513721"/>
            <a:ext cx="2230098" cy="430887"/>
          </a:xfrm>
          <a:prstGeom prst="rect">
            <a:avLst/>
          </a:prstGeom>
          <a:noFill/>
        </p:spPr>
        <p:txBody>
          <a:bodyPr wrap="none" rtlCol="0">
            <a:spAutoFit/>
          </a:bodyPr>
          <a:lstStyle/>
          <a:p>
            <a:pPr algn="ctr"/>
            <a:r>
              <a:rPr lang="en-US" sz="1100" dirty="0">
                <a:solidFill>
                  <a:schemeClr val="bg1"/>
                </a:solidFill>
              </a:rPr>
              <a:t>Grow </a:t>
            </a:r>
            <a:r>
              <a:rPr lang="en-US" sz="1100" b="1" i="1" dirty="0">
                <a:solidFill>
                  <a:schemeClr val="bg1"/>
                </a:solidFill>
              </a:rPr>
              <a:t>productivity</a:t>
            </a:r>
            <a:r>
              <a:rPr lang="en-US" sz="1100" dirty="0">
                <a:solidFill>
                  <a:schemeClr val="bg1"/>
                </a:solidFill>
              </a:rPr>
              <a:t> exponentially</a:t>
            </a:r>
            <a:br>
              <a:rPr lang="en-US" sz="1100" b="1" i="1" dirty="0">
                <a:solidFill>
                  <a:schemeClr val="bg1"/>
                </a:solidFill>
              </a:rPr>
            </a:br>
            <a:r>
              <a:rPr lang="en-US" sz="1100" dirty="0">
                <a:solidFill>
                  <a:schemeClr val="bg1"/>
                </a:solidFill>
              </a:rPr>
              <a:t>via </a:t>
            </a:r>
            <a:r>
              <a:rPr lang="en-US" sz="1100" u="sng" dirty="0">
                <a:solidFill>
                  <a:schemeClr val="bg1"/>
                </a:solidFill>
              </a:rPr>
              <a:t>Generative Learning</a:t>
            </a:r>
            <a:endParaRPr lang="en-US" sz="1100" baseline="30000" dirty="0">
              <a:solidFill>
                <a:schemeClr val="bg1"/>
              </a:solidFill>
            </a:endParaRPr>
          </a:p>
        </p:txBody>
      </p:sp>
      <p:sp>
        <p:nvSpPr>
          <p:cNvPr id="46" name="Off-page Connector 45">
            <a:extLst>
              <a:ext uri="{FF2B5EF4-FFF2-40B4-BE49-F238E27FC236}">
                <a16:creationId xmlns:a16="http://schemas.microsoft.com/office/drawing/2014/main" id="{54BADBF2-8DFF-AB75-1900-0016BE3E8F09}"/>
              </a:ext>
            </a:extLst>
          </p:cNvPr>
          <p:cNvSpPr/>
          <p:nvPr/>
        </p:nvSpPr>
        <p:spPr>
          <a:xfrm>
            <a:off x="153956" y="5536981"/>
            <a:ext cx="685800" cy="502920"/>
          </a:xfrm>
          <a:prstGeom prst="flowChartOffpageConnector">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b="1" i="1" dirty="0">
                <a:solidFill>
                  <a:schemeClr val="bg1"/>
                </a:solidFill>
              </a:rPr>
              <a:t>Soar</a:t>
            </a:r>
          </a:p>
        </p:txBody>
      </p:sp>
      <p:cxnSp>
        <p:nvCxnSpPr>
          <p:cNvPr id="52" name="Straight Connector 51">
            <a:extLst>
              <a:ext uri="{FF2B5EF4-FFF2-40B4-BE49-F238E27FC236}">
                <a16:creationId xmlns:a16="http://schemas.microsoft.com/office/drawing/2014/main" id="{DD999453-B09B-32C6-305B-C0E95BAC2758}"/>
              </a:ext>
            </a:extLst>
          </p:cNvPr>
          <p:cNvCxnSpPr>
            <a:stCxn id="14" idx="2"/>
          </p:cNvCxnSpPr>
          <p:nvPr/>
        </p:nvCxnSpPr>
        <p:spPr>
          <a:xfrm>
            <a:off x="9677441" y="4170958"/>
            <a:ext cx="0" cy="2156690"/>
          </a:xfrm>
          <a:prstGeom prst="line">
            <a:avLst/>
          </a:prstGeom>
          <a:ln>
            <a:solidFill>
              <a:srgbClr val="FFFFFF">
                <a:alpha val="25098"/>
              </a:srgbClr>
            </a:solidFill>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44D73B82-ED8B-9D4C-4FF3-49DCF2EF7C08}"/>
              </a:ext>
            </a:extLst>
          </p:cNvPr>
          <p:cNvCxnSpPr/>
          <p:nvPr/>
        </p:nvCxnSpPr>
        <p:spPr>
          <a:xfrm>
            <a:off x="7409729" y="4170958"/>
            <a:ext cx="0" cy="2156690"/>
          </a:xfrm>
          <a:prstGeom prst="line">
            <a:avLst/>
          </a:prstGeom>
          <a:ln>
            <a:solidFill>
              <a:srgbClr val="FFFFFF">
                <a:alpha val="25098"/>
              </a:srgbClr>
            </a:solidFill>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BF998919-8DBD-F781-8F58-A202FECA5025}"/>
              </a:ext>
            </a:extLst>
          </p:cNvPr>
          <p:cNvCxnSpPr/>
          <p:nvPr/>
        </p:nvCxnSpPr>
        <p:spPr>
          <a:xfrm>
            <a:off x="5315753" y="4170958"/>
            <a:ext cx="0" cy="2156690"/>
          </a:xfrm>
          <a:prstGeom prst="line">
            <a:avLst/>
          </a:prstGeom>
          <a:ln>
            <a:solidFill>
              <a:srgbClr val="FFFFFF">
                <a:alpha val="25098"/>
              </a:srgbClr>
            </a:solidFill>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92069D97-F1E4-5303-7942-E729CF712732}"/>
              </a:ext>
            </a:extLst>
          </p:cNvPr>
          <p:cNvCxnSpPr/>
          <p:nvPr/>
        </p:nvCxnSpPr>
        <p:spPr>
          <a:xfrm>
            <a:off x="2938313" y="4170958"/>
            <a:ext cx="0" cy="2156690"/>
          </a:xfrm>
          <a:prstGeom prst="line">
            <a:avLst/>
          </a:prstGeom>
          <a:ln>
            <a:solidFill>
              <a:srgbClr val="FFFFFF">
                <a:alpha val="25098"/>
              </a:srgbClr>
            </a:solidFill>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058FC9B5-79EB-BEF5-E61F-00FC88F2EDD0}"/>
              </a:ext>
            </a:extLst>
          </p:cNvPr>
          <p:cNvSpPr txBox="1"/>
          <p:nvPr/>
        </p:nvSpPr>
        <p:spPr>
          <a:xfrm>
            <a:off x="2032000" y="3254622"/>
            <a:ext cx="4625699" cy="400110"/>
          </a:xfrm>
          <a:prstGeom prst="rect">
            <a:avLst/>
          </a:prstGeom>
          <a:noFill/>
        </p:spPr>
        <p:txBody>
          <a:bodyPr wrap="square" rtlCol="0">
            <a:spAutoFit/>
          </a:bodyPr>
          <a:lstStyle/>
          <a:p>
            <a:pPr algn="ctr"/>
            <a:r>
              <a:rPr lang="en-US" sz="2000" dirty="0">
                <a:solidFill>
                  <a:srgbClr val="00B050"/>
                </a:solidFill>
              </a:rPr>
              <a:t>Value growth accelerators (product of):</a:t>
            </a:r>
            <a:endParaRPr lang="en-US" sz="2000" baseline="30000" dirty="0">
              <a:solidFill>
                <a:srgbClr val="00B050"/>
              </a:solidFill>
            </a:endParaRPr>
          </a:p>
        </p:txBody>
      </p:sp>
      <p:sp>
        <p:nvSpPr>
          <p:cNvPr id="19" name="TextBox 18">
            <a:extLst>
              <a:ext uri="{FF2B5EF4-FFF2-40B4-BE49-F238E27FC236}">
                <a16:creationId xmlns:a16="http://schemas.microsoft.com/office/drawing/2014/main" id="{E9647D66-C7CF-E79E-462D-E0F4B0AABF09}"/>
              </a:ext>
            </a:extLst>
          </p:cNvPr>
          <p:cNvSpPr txBox="1"/>
          <p:nvPr/>
        </p:nvSpPr>
        <p:spPr>
          <a:xfrm>
            <a:off x="5832068" y="6178850"/>
            <a:ext cx="312906" cy="400110"/>
          </a:xfrm>
          <a:prstGeom prst="rect">
            <a:avLst/>
          </a:prstGeom>
          <a:noFill/>
        </p:spPr>
        <p:txBody>
          <a:bodyPr wrap="none" rtlCol="0">
            <a:spAutoFit/>
          </a:bodyPr>
          <a:lstStyle/>
          <a:p>
            <a:pPr algn="ctr"/>
            <a:r>
              <a:rPr lang="en-US" sz="2000" dirty="0"/>
              <a:t>x</a:t>
            </a:r>
            <a:endParaRPr lang="en-US" sz="2000" baseline="30000" dirty="0"/>
          </a:p>
        </p:txBody>
      </p:sp>
      <p:sp>
        <p:nvSpPr>
          <p:cNvPr id="20" name="TextBox 19">
            <a:extLst>
              <a:ext uri="{FF2B5EF4-FFF2-40B4-BE49-F238E27FC236}">
                <a16:creationId xmlns:a16="http://schemas.microsoft.com/office/drawing/2014/main" id="{50324D19-774F-639D-54B2-8FF2398E524E}"/>
              </a:ext>
            </a:extLst>
          </p:cNvPr>
          <p:cNvSpPr txBox="1"/>
          <p:nvPr/>
        </p:nvSpPr>
        <p:spPr>
          <a:xfrm>
            <a:off x="6332127" y="6178850"/>
            <a:ext cx="3502754" cy="400110"/>
          </a:xfrm>
          <a:prstGeom prst="rect">
            <a:avLst/>
          </a:prstGeom>
          <a:noFill/>
        </p:spPr>
        <p:txBody>
          <a:bodyPr wrap="square" rtlCol="0">
            <a:spAutoFit/>
          </a:bodyPr>
          <a:lstStyle/>
          <a:p>
            <a:pPr algn="ctr"/>
            <a:r>
              <a:rPr lang="en-US" sz="2000" dirty="0">
                <a:solidFill>
                  <a:schemeClr val="tx1"/>
                </a:solidFill>
              </a:rPr>
              <a:t>Value growth drivers</a:t>
            </a:r>
            <a:endParaRPr lang="en-US" sz="2000" baseline="30000" dirty="0">
              <a:solidFill>
                <a:schemeClr val="tx1"/>
              </a:solidFill>
            </a:endParaRPr>
          </a:p>
        </p:txBody>
      </p:sp>
      <p:sp>
        <p:nvSpPr>
          <p:cNvPr id="27" name="TextBox 26">
            <a:extLst>
              <a:ext uri="{FF2B5EF4-FFF2-40B4-BE49-F238E27FC236}">
                <a16:creationId xmlns:a16="http://schemas.microsoft.com/office/drawing/2014/main" id="{E5AA5939-9FA8-D48C-EDA6-E94679188133}"/>
              </a:ext>
            </a:extLst>
          </p:cNvPr>
          <p:cNvSpPr txBox="1"/>
          <p:nvPr/>
        </p:nvSpPr>
        <p:spPr>
          <a:xfrm>
            <a:off x="838199" y="2352683"/>
            <a:ext cx="8922635" cy="400110"/>
          </a:xfrm>
          <a:prstGeom prst="rect">
            <a:avLst/>
          </a:prstGeom>
          <a:noFill/>
        </p:spPr>
        <p:txBody>
          <a:bodyPr wrap="none" rtlCol="0">
            <a:spAutoFit/>
          </a:bodyPr>
          <a:lstStyle/>
          <a:p>
            <a:r>
              <a:rPr lang="en-US" sz="2000" dirty="0"/>
              <a:t>Value growth curve over time  =   Initial value  x  ( </a:t>
            </a:r>
            <a:r>
              <a:rPr lang="en-US" sz="2000" b="1" dirty="0">
                <a:solidFill>
                  <a:srgbClr val="00B050"/>
                </a:solidFill>
              </a:rPr>
              <a:t>Value growth factor </a:t>
            </a:r>
            <a:r>
              <a:rPr lang="en-US" sz="2000" dirty="0"/>
              <a:t>) </a:t>
            </a:r>
            <a:r>
              <a:rPr lang="en-US" sz="2800" baseline="30000" dirty="0"/>
              <a:t>time</a:t>
            </a:r>
            <a:endParaRPr lang="en-US" sz="2000" baseline="30000" dirty="0"/>
          </a:p>
        </p:txBody>
      </p:sp>
      <p:sp>
        <p:nvSpPr>
          <p:cNvPr id="28" name="Left Brace 27">
            <a:extLst>
              <a:ext uri="{FF2B5EF4-FFF2-40B4-BE49-F238E27FC236}">
                <a16:creationId xmlns:a16="http://schemas.microsoft.com/office/drawing/2014/main" id="{1A8EE265-8F95-7710-DF9C-104EC71F25ED}"/>
              </a:ext>
            </a:extLst>
          </p:cNvPr>
          <p:cNvSpPr/>
          <p:nvPr/>
        </p:nvSpPr>
        <p:spPr>
          <a:xfrm rot="5400000">
            <a:off x="6023569" y="-2372596"/>
            <a:ext cx="781976" cy="11152716"/>
          </a:xfrm>
          <a:prstGeom prst="leftBrace">
            <a:avLst>
              <a:gd name="adj1" fmla="val 31648"/>
              <a:gd name="adj2" fmla="val 38351"/>
            </a:avLst>
          </a:prstGeom>
          <a:ln w="38100">
            <a:solidFill>
              <a:srgbClr val="00B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pic>
        <p:nvPicPr>
          <p:cNvPr id="31" name="Picture 2">
            <a:extLst>
              <a:ext uri="{FF2B5EF4-FFF2-40B4-BE49-F238E27FC236}">
                <a16:creationId xmlns:a16="http://schemas.microsoft.com/office/drawing/2014/main" id="{4D21378A-E96B-2989-4A55-5733557681B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58264" y="1761021"/>
            <a:ext cx="1287166" cy="649952"/>
          </a:xfrm>
          <a:prstGeom prst="rect">
            <a:avLst/>
          </a:prstGeom>
          <a:noFill/>
          <a:extLst>
            <a:ext uri="{909E8E84-426E-40DD-AFC4-6F175D3DCCD1}">
              <a14:hiddenFill xmlns:a14="http://schemas.microsoft.com/office/drawing/2010/main">
                <a:solidFill>
                  <a:srgbClr val="FFFFFF"/>
                </a:solidFill>
              </a14:hiddenFill>
            </a:ext>
          </a:extLst>
        </p:spPr>
      </p:pic>
      <p:sp>
        <p:nvSpPr>
          <p:cNvPr id="32" name="TextBox 31">
            <a:extLst>
              <a:ext uri="{FF2B5EF4-FFF2-40B4-BE49-F238E27FC236}">
                <a16:creationId xmlns:a16="http://schemas.microsoft.com/office/drawing/2014/main" id="{B89BDC05-EAEB-87AC-829E-64C314AB16E3}"/>
              </a:ext>
            </a:extLst>
          </p:cNvPr>
          <p:cNvSpPr txBox="1"/>
          <p:nvPr/>
        </p:nvSpPr>
        <p:spPr>
          <a:xfrm>
            <a:off x="801677" y="3414788"/>
            <a:ext cx="277853" cy="1015663"/>
          </a:xfrm>
          <a:prstGeom prst="rect">
            <a:avLst/>
          </a:prstGeom>
          <a:noFill/>
        </p:spPr>
        <p:txBody>
          <a:bodyPr wrap="square" rtlCol="0">
            <a:spAutoFit/>
          </a:bodyPr>
          <a:lstStyle/>
          <a:p>
            <a:pPr algn="ctr"/>
            <a:r>
              <a:rPr lang="en-US" sz="6000" dirty="0">
                <a:solidFill>
                  <a:srgbClr val="00B050"/>
                </a:solidFill>
              </a:rPr>
              <a:t>(</a:t>
            </a:r>
            <a:endParaRPr lang="en-US" sz="6000" baseline="30000" dirty="0">
              <a:solidFill>
                <a:srgbClr val="00B050"/>
              </a:solidFill>
            </a:endParaRPr>
          </a:p>
        </p:txBody>
      </p:sp>
      <p:sp>
        <p:nvSpPr>
          <p:cNvPr id="34" name="TextBox 33">
            <a:extLst>
              <a:ext uri="{FF2B5EF4-FFF2-40B4-BE49-F238E27FC236}">
                <a16:creationId xmlns:a16="http://schemas.microsoft.com/office/drawing/2014/main" id="{B03250F0-9A27-0A56-2403-58E565EF2009}"/>
              </a:ext>
            </a:extLst>
          </p:cNvPr>
          <p:cNvSpPr txBox="1"/>
          <p:nvPr/>
        </p:nvSpPr>
        <p:spPr>
          <a:xfrm>
            <a:off x="11734720" y="3414788"/>
            <a:ext cx="277853" cy="1015663"/>
          </a:xfrm>
          <a:prstGeom prst="rect">
            <a:avLst/>
          </a:prstGeom>
          <a:noFill/>
        </p:spPr>
        <p:txBody>
          <a:bodyPr wrap="square" rtlCol="0">
            <a:spAutoFit/>
          </a:bodyPr>
          <a:lstStyle/>
          <a:p>
            <a:pPr algn="ctr"/>
            <a:r>
              <a:rPr lang="en-US" sz="6000" dirty="0">
                <a:solidFill>
                  <a:srgbClr val="00B050"/>
                </a:solidFill>
              </a:rPr>
              <a:t>)</a:t>
            </a:r>
            <a:endParaRPr lang="en-US" sz="6000" baseline="30000" dirty="0">
              <a:solidFill>
                <a:srgbClr val="00B050"/>
              </a:solidFill>
            </a:endParaRPr>
          </a:p>
        </p:txBody>
      </p:sp>
    </p:spTree>
    <p:extLst>
      <p:ext uri="{BB962C8B-B14F-4D97-AF65-F5344CB8AC3E}">
        <p14:creationId xmlns:p14="http://schemas.microsoft.com/office/powerpoint/2010/main" val="6815848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438273-B1F3-2368-3B68-8950CC5173D8}"/>
            </a:ext>
          </a:extLst>
        </p:cNvPr>
        <p:cNvGrpSpPr/>
        <p:nvPr/>
      </p:nvGrpSpPr>
      <p:grpSpPr>
        <a:xfrm>
          <a:off x="0" y="0"/>
          <a:ext cx="0" cy="0"/>
          <a:chOff x="0" y="0"/>
          <a:chExt cx="0" cy="0"/>
        </a:xfrm>
      </p:grpSpPr>
      <p:sp>
        <p:nvSpPr>
          <p:cNvPr id="2" name="Pentagon 1">
            <a:extLst>
              <a:ext uri="{FF2B5EF4-FFF2-40B4-BE49-F238E27FC236}">
                <a16:creationId xmlns:a16="http://schemas.microsoft.com/office/drawing/2014/main" id="{8699CE88-A099-589B-765C-F0F2D06A291D}"/>
              </a:ext>
            </a:extLst>
          </p:cNvPr>
          <p:cNvSpPr/>
          <p:nvPr/>
        </p:nvSpPr>
        <p:spPr>
          <a:xfrm>
            <a:off x="359934" y="2524275"/>
            <a:ext cx="11655282" cy="3768934"/>
          </a:xfrm>
          <a:prstGeom prst="homePlate">
            <a:avLst>
              <a:gd name="adj" fmla="val 8998"/>
            </a:avLst>
          </a:prstGeom>
          <a:solidFill>
            <a:schemeClr val="accent2"/>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b="1" dirty="0"/>
          </a:p>
        </p:txBody>
      </p:sp>
      <p:sp>
        <p:nvSpPr>
          <p:cNvPr id="6" name="Chevron 5">
            <a:extLst>
              <a:ext uri="{FF2B5EF4-FFF2-40B4-BE49-F238E27FC236}">
                <a16:creationId xmlns:a16="http://schemas.microsoft.com/office/drawing/2014/main" id="{3D906D2C-0F52-7E44-3BB0-A79BF1497A9D}"/>
              </a:ext>
            </a:extLst>
          </p:cNvPr>
          <p:cNvSpPr/>
          <p:nvPr/>
        </p:nvSpPr>
        <p:spPr>
          <a:xfrm>
            <a:off x="7708916" y="2753139"/>
            <a:ext cx="3032236" cy="3311204"/>
          </a:xfrm>
          <a:prstGeom prst="chevron">
            <a:avLst>
              <a:gd name="adj" fmla="val 10243"/>
            </a:avLst>
          </a:prstGeom>
          <a:solidFill>
            <a:srgbClr val="000000"/>
          </a:solidFill>
          <a:ln w="19050">
            <a:solidFill>
              <a:srgbClr val="FFFFFF">
                <a:alpha val="25098"/>
              </a:srgb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b="1" dirty="0"/>
          </a:p>
        </p:txBody>
      </p:sp>
      <p:sp>
        <p:nvSpPr>
          <p:cNvPr id="5" name="Chevron 4">
            <a:extLst>
              <a:ext uri="{FF2B5EF4-FFF2-40B4-BE49-F238E27FC236}">
                <a16:creationId xmlns:a16="http://schemas.microsoft.com/office/drawing/2014/main" id="{B3C265B6-6A1E-E4AF-3133-B1E453F35619}"/>
              </a:ext>
            </a:extLst>
          </p:cNvPr>
          <p:cNvSpPr/>
          <p:nvPr/>
        </p:nvSpPr>
        <p:spPr>
          <a:xfrm>
            <a:off x="2166078" y="2753139"/>
            <a:ext cx="2956593" cy="3311203"/>
          </a:xfrm>
          <a:prstGeom prst="chevron">
            <a:avLst>
              <a:gd name="adj" fmla="val 10243"/>
            </a:avLst>
          </a:prstGeom>
          <a:solidFill>
            <a:srgbClr val="000000"/>
          </a:solidFill>
          <a:ln w="19050">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b="1" dirty="0"/>
          </a:p>
        </p:txBody>
      </p:sp>
      <p:sp>
        <p:nvSpPr>
          <p:cNvPr id="22" name="Google Shape;96;p2">
            <a:extLst>
              <a:ext uri="{FF2B5EF4-FFF2-40B4-BE49-F238E27FC236}">
                <a16:creationId xmlns:a16="http://schemas.microsoft.com/office/drawing/2014/main" id="{4E21711C-E169-1371-36F5-F7F6D0D31CC0}"/>
              </a:ext>
            </a:extLst>
          </p:cNvPr>
          <p:cNvSpPr txBox="1">
            <a:spLocks/>
          </p:cNvSpPr>
          <p:nvPr/>
        </p:nvSpPr>
        <p:spPr>
          <a:xfrm>
            <a:off x="838199" y="365125"/>
            <a:ext cx="8950569" cy="1325563"/>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lvl="0">
              <a:lnSpc>
                <a:spcPct val="90000"/>
              </a:lnSpc>
              <a:buSzPts val="4400"/>
              <a:defRPr/>
            </a:pPr>
            <a:r>
              <a:rPr lang="en-US" sz="4400" dirty="0">
                <a:latin typeface="Calibri" panose="020F0502020204030204" pitchFamily="34" charset="0"/>
                <a:cs typeface="Calibri" panose="020F0502020204030204" pitchFamily="34" charset="0"/>
              </a:rPr>
              <a:t>Using the AccelRR8 Framework:</a:t>
            </a:r>
            <a:br>
              <a:rPr lang="en-US" sz="4400" dirty="0">
                <a:latin typeface="Calibri" panose="020F0502020204030204" pitchFamily="34" charset="0"/>
                <a:cs typeface="Calibri" panose="020F0502020204030204" pitchFamily="34" charset="0"/>
              </a:rPr>
            </a:br>
            <a:r>
              <a:rPr lang="en-US" sz="4400" dirty="0">
                <a:latin typeface="Calibri" panose="020F0502020204030204" pitchFamily="34" charset="0"/>
                <a:cs typeface="Calibri" panose="020F0502020204030204" pitchFamily="34" charset="0"/>
              </a:rPr>
              <a:t>Value growth accelerators</a:t>
            </a:r>
          </a:p>
        </p:txBody>
      </p:sp>
      <p:sp>
        <p:nvSpPr>
          <p:cNvPr id="13" name="TextBox 12">
            <a:extLst>
              <a:ext uri="{FF2B5EF4-FFF2-40B4-BE49-F238E27FC236}">
                <a16:creationId xmlns:a16="http://schemas.microsoft.com/office/drawing/2014/main" id="{7506C95B-9C8D-0F2F-289B-255B7C49C4B9}"/>
              </a:ext>
            </a:extLst>
          </p:cNvPr>
          <p:cNvSpPr txBox="1"/>
          <p:nvPr/>
        </p:nvSpPr>
        <p:spPr>
          <a:xfrm>
            <a:off x="359934" y="4080172"/>
            <a:ext cx="2408666" cy="646331"/>
          </a:xfrm>
          <a:prstGeom prst="rect">
            <a:avLst/>
          </a:prstGeom>
          <a:noFill/>
        </p:spPr>
        <p:txBody>
          <a:bodyPr wrap="square" rtlCol="0">
            <a:spAutoFit/>
          </a:bodyPr>
          <a:lstStyle/>
          <a:p>
            <a:r>
              <a:rPr lang="en-US" sz="1800" b="1" i="1" dirty="0">
                <a:solidFill>
                  <a:schemeClr val="bg1"/>
                </a:solidFill>
              </a:rPr>
              <a:t>Practice</a:t>
            </a:r>
            <a:r>
              <a:rPr lang="en-US" sz="1800" b="1" dirty="0">
                <a:solidFill>
                  <a:schemeClr val="bg1"/>
                </a:solidFill>
              </a:rPr>
              <a:t> using </a:t>
            </a:r>
            <a:br>
              <a:rPr lang="en-US" sz="1800" b="1" dirty="0">
                <a:solidFill>
                  <a:schemeClr val="bg1"/>
                </a:solidFill>
              </a:rPr>
            </a:br>
            <a:r>
              <a:rPr lang="en-US" sz="1800" b="1" u="sng" dirty="0">
                <a:solidFill>
                  <a:schemeClr val="bg1"/>
                </a:solidFill>
              </a:rPr>
              <a:t>AI</a:t>
            </a:r>
            <a:r>
              <a:rPr lang="en-US" sz="1800" b="1" dirty="0">
                <a:solidFill>
                  <a:schemeClr val="bg1"/>
                </a:solidFill>
              </a:rPr>
              <a:t> and rocket…</a:t>
            </a:r>
          </a:p>
        </p:txBody>
      </p:sp>
      <p:sp>
        <p:nvSpPr>
          <p:cNvPr id="23" name="Parallelogram 22">
            <a:extLst>
              <a:ext uri="{FF2B5EF4-FFF2-40B4-BE49-F238E27FC236}">
                <a16:creationId xmlns:a16="http://schemas.microsoft.com/office/drawing/2014/main" id="{98DF3116-47A2-DABF-B1CD-0EAE4A9F19A3}"/>
              </a:ext>
            </a:extLst>
          </p:cNvPr>
          <p:cNvSpPr/>
          <p:nvPr/>
        </p:nvSpPr>
        <p:spPr>
          <a:xfrm flipH="1">
            <a:off x="2004106" y="1936848"/>
            <a:ext cx="2713669" cy="342567"/>
          </a:xfrm>
          <a:prstGeom prst="parallelogram">
            <a:avLst>
              <a:gd name="adj" fmla="val 17567"/>
            </a:avLst>
          </a:prstGeom>
          <a:solidFill>
            <a:schemeClr val="tx1">
              <a:alpha val="89804"/>
            </a:schemeClr>
          </a:solidFill>
          <a:ln w="190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800" b="1" dirty="0"/>
              <a:t>Launch</a:t>
            </a:r>
          </a:p>
        </p:txBody>
      </p:sp>
      <p:sp>
        <p:nvSpPr>
          <p:cNvPr id="24" name="Parallelogram 23">
            <a:extLst>
              <a:ext uri="{FF2B5EF4-FFF2-40B4-BE49-F238E27FC236}">
                <a16:creationId xmlns:a16="http://schemas.microsoft.com/office/drawing/2014/main" id="{B070C402-C1DD-672B-6C9E-EC32D790E01C}"/>
              </a:ext>
            </a:extLst>
          </p:cNvPr>
          <p:cNvSpPr/>
          <p:nvPr/>
        </p:nvSpPr>
        <p:spPr>
          <a:xfrm flipH="1">
            <a:off x="4822331" y="1936848"/>
            <a:ext cx="2713669" cy="342567"/>
          </a:xfrm>
          <a:prstGeom prst="parallelogram">
            <a:avLst>
              <a:gd name="adj" fmla="val 17567"/>
            </a:avLst>
          </a:prstGeom>
          <a:solidFill>
            <a:schemeClr val="tx1">
              <a:alpha val="89804"/>
            </a:schemeClr>
          </a:solidFill>
          <a:ln w="190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800" b="1" dirty="0"/>
              <a:t>Climb</a:t>
            </a:r>
          </a:p>
        </p:txBody>
      </p:sp>
      <p:sp>
        <p:nvSpPr>
          <p:cNvPr id="25" name="Parallelogram 24">
            <a:extLst>
              <a:ext uri="{FF2B5EF4-FFF2-40B4-BE49-F238E27FC236}">
                <a16:creationId xmlns:a16="http://schemas.microsoft.com/office/drawing/2014/main" id="{3B6E3BA0-6F49-AEB5-4061-C6D0AE3B34A8}"/>
              </a:ext>
            </a:extLst>
          </p:cNvPr>
          <p:cNvSpPr/>
          <p:nvPr/>
        </p:nvSpPr>
        <p:spPr>
          <a:xfrm flipH="1">
            <a:off x="7649700" y="1936848"/>
            <a:ext cx="2713669" cy="342567"/>
          </a:xfrm>
          <a:prstGeom prst="parallelogram">
            <a:avLst>
              <a:gd name="adj" fmla="val 17567"/>
            </a:avLst>
          </a:prstGeom>
          <a:solidFill>
            <a:schemeClr val="tx1">
              <a:alpha val="89804"/>
            </a:schemeClr>
          </a:solidFill>
          <a:ln w="190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800" b="1" dirty="0"/>
              <a:t>Soar</a:t>
            </a:r>
          </a:p>
        </p:txBody>
      </p:sp>
      <p:sp>
        <p:nvSpPr>
          <p:cNvPr id="59" name="TextBox 58">
            <a:extLst>
              <a:ext uri="{FF2B5EF4-FFF2-40B4-BE49-F238E27FC236}">
                <a16:creationId xmlns:a16="http://schemas.microsoft.com/office/drawing/2014/main" id="{77F5269D-427A-B194-C67A-B7F1DB18FCB9}"/>
              </a:ext>
            </a:extLst>
          </p:cNvPr>
          <p:cNvSpPr txBox="1"/>
          <p:nvPr/>
        </p:nvSpPr>
        <p:spPr>
          <a:xfrm>
            <a:off x="10766880" y="4092261"/>
            <a:ext cx="1562116" cy="646331"/>
          </a:xfrm>
          <a:prstGeom prst="rect">
            <a:avLst/>
          </a:prstGeom>
          <a:noFill/>
        </p:spPr>
        <p:txBody>
          <a:bodyPr wrap="square" rtlCol="0">
            <a:spAutoFit/>
          </a:bodyPr>
          <a:lstStyle/>
          <a:p>
            <a:r>
              <a:rPr lang="en-US" sz="1800" b="1" dirty="0">
                <a:solidFill>
                  <a:schemeClr val="bg1"/>
                </a:solidFill>
              </a:rPr>
              <a:t>…to your</a:t>
            </a:r>
            <a:br>
              <a:rPr lang="en-US" sz="1800" b="1" dirty="0">
                <a:solidFill>
                  <a:schemeClr val="bg1"/>
                </a:solidFill>
              </a:rPr>
            </a:br>
            <a:r>
              <a:rPr lang="en-US" sz="1800" b="1" dirty="0">
                <a:solidFill>
                  <a:schemeClr val="bg1"/>
                </a:solidFill>
              </a:rPr>
              <a:t>success!</a:t>
            </a:r>
          </a:p>
        </p:txBody>
      </p:sp>
      <p:cxnSp>
        <p:nvCxnSpPr>
          <p:cNvPr id="12" name="Straight Connector 11">
            <a:extLst>
              <a:ext uri="{FF2B5EF4-FFF2-40B4-BE49-F238E27FC236}">
                <a16:creationId xmlns:a16="http://schemas.microsoft.com/office/drawing/2014/main" id="{DEF2350C-801D-10B6-56FC-F4E07758DD59}"/>
              </a:ext>
            </a:extLst>
          </p:cNvPr>
          <p:cNvCxnSpPr>
            <a:cxnSpLocks/>
          </p:cNvCxnSpPr>
          <p:nvPr/>
        </p:nvCxnSpPr>
        <p:spPr>
          <a:xfrm>
            <a:off x="7747592" y="2515736"/>
            <a:ext cx="2651760" cy="0"/>
          </a:xfrm>
          <a:prstGeom prst="line">
            <a:avLst/>
          </a:prstGeom>
          <a:ln w="9525">
            <a:solidFill>
              <a:srgbClr val="FFFFFF">
                <a:alpha val="25098"/>
              </a:srgbClr>
            </a:solidFill>
          </a:ln>
        </p:spPr>
        <p:style>
          <a:lnRef idx="1">
            <a:schemeClr val="accent1"/>
          </a:lnRef>
          <a:fillRef idx="0">
            <a:schemeClr val="accent1"/>
          </a:fillRef>
          <a:effectRef idx="0">
            <a:schemeClr val="accent1"/>
          </a:effectRef>
          <a:fontRef idx="minor">
            <a:schemeClr val="tx1"/>
          </a:fontRef>
        </p:style>
      </p:cxnSp>
      <p:pic>
        <p:nvPicPr>
          <p:cNvPr id="7" name="Google Shape;122;p5">
            <a:extLst>
              <a:ext uri="{FF2B5EF4-FFF2-40B4-BE49-F238E27FC236}">
                <a16:creationId xmlns:a16="http://schemas.microsoft.com/office/drawing/2014/main" id="{F8FC10FC-4B78-8729-4C3D-3907B93FAFD3}"/>
              </a:ext>
            </a:extLst>
          </p:cNvPr>
          <p:cNvPicPr preferRelativeResize="0"/>
          <p:nvPr/>
        </p:nvPicPr>
        <p:blipFill rotWithShape="1">
          <a:blip r:embed="rId3">
            <a:alphaModFix/>
          </a:blip>
          <a:srcRect t="2408" r="18813"/>
          <a:stretch/>
        </p:blipFill>
        <p:spPr>
          <a:xfrm>
            <a:off x="2479859" y="2753140"/>
            <a:ext cx="7856837" cy="3327444"/>
          </a:xfrm>
          <a:prstGeom prst="rect">
            <a:avLst/>
          </a:prstGeom>
          <a:noFill/>
          <a:ln>
            <a:noFill/>
          </a:ln>
        </p:spPr>
      </p:pic>
      <p:sp>
        <p:nvSpPr>
          <p:cNvPr id="8" name="Chevron 7">
            <a:extLst>
              <a:ext uri="{FF2B5EF4-FFF2-40B4-BE49-F238E27FC236}">
                <a16:creationId xmlns:a16="http://schemas.microsoft.com/office/drawing/2014/main" id="{6692CFF7-98E5-C894-5367-0472DF0C75A2}"/>
              </a:ext>
            </a:extLst>
          </p:cNvPr>
          <p:cNvSpPr/>
          <p:nvPr/>
        </p:nvSpPr>
        <p:spPr>
          <a:xfrm>
            <a:off x="7719933" y="2310651"/>
            <a:ext cx="3032236" cy="4196180"/>
          </a:xfrm>
          <a:prstGeom prst="chevron">
            <a:avLst>
              <a:gd name="adj" fmla="val 12786"/>
            </a:avLst>
          </a:prstGeom>
          <a:solidFill>
            <a:srgbClr val="00B050">
              <a:alpha val="74902"/>
            </a:srgbClr>
          </a:solidFill>
          <a:ln w="19050">
            <a:solidFill>
              <a:srgbClr val="FFFFFF">
                <a:alpha val="25098"/>
              </a:srgb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b="1" dirty="0"/>
          </a:p>
        </p:txBody>
      </p:sp>
      <p:sp>
        <p:nvSpPr>
          <p:cNvPr id="3" name="Chevron 2">
            <a:extLst>
              <a:ext uri="{FF2B5EF4-FFF2-40B4-BE49-F238E27FC236}">
                <a16:creationId xmlns:a16="http://schemas.microsoft.com/office/drawing/2014/main" id="{1CE07D49-82AC-3A57-7945-2B6E9535879B}"/>
              </a:ext>
            </a:extLst>
          </p:cNvPr>
          <p:cNvSpPr/>
          <p:nvPr/>
        </p:nvSpPr>
        <p:spPr>
          <a:xfrm>
            <a:off x="2079419" y="2310651"/>
            <a:ext cx="3032236" cy="4196180"/>
          </a:xfrm>
          <a:prstGeom prst="chevron">
            <a:avLst>
              <a:gd name="adj" fmla="val 12786"/>
            </a:avLst>
          </a:prstGeom>
          <a:solidFill>
            <a:srgbClr val="00B050">
              <a:alpha val="74902"/>
            </a:srgbClr>
          </a:solidFill>
          <a:ln w="19050">
            <a:solidFill>
              <a:srgbClr val="FFFFFF">
                <a:alpha val="25098"/>
              </a:srgb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b="1" dirty="0"/>
          </a:p>
        </p:txBody>
      </p:sp>
      <p:sp>
        <p:nvSpPr>
          <p:cNvPr id="9" name="Chevron 8">
            <a:extLst>
              <a:ext uri="{FF2B5EF4-FFF2-40B4-BE49-F238E27FC236}">
                <a16:creationId xmlns:a16="http://schemas.microsoft.com/office/drawing/2014/main" id="{BE403CAF-C1E8-2238-290C-2EC232FEB7F4}"/>
              </a:ext>
            </a:extLst>
          </p:cNvPr>
          <p:cNvSpPr/>
          <p:nvPr/>
        </p:nvSpPr>
        <p:spPr>
          <a:xfrm>
            <a:off x="4894596" y="2310651"/>
            <a:ext cx="3032236" cy="4196180"/>
          </a:xfrm>
          <a:prstGeom prst="chevron">
            <a:avLst>
              <a:gd name="adj" fmla="val 12786"/>
            </a:avLst>
          </a:prstGeom>
          <a:solidFill>
            <a:srgbClr val="00B050">
              <a:alpha val="74902"/>
            </a:srgbClr>
          </a:solidFill>
          <a:ln w="19050">
            <a:solidFill>
              <a:srgbClr val="FFFFFF">
                <a:alpha val="25098"/>
              </a:srgb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b="1" dirty="0"/>
          </a:p>
        </p:txBody>
      </p:sp>
      <p:sp>
        <p:nvSpPr>
          <p:cNvPr id="14" name="TextBox 13">
            <a:extLst>
              <a:ext uri="{FF2B5EF4-FFF2-40B4-BE49-F238E27FC236}">
                <a16:creationId xmlns:a16="http://schemas.microsoft.com/office/drawing/2014/main" id="{2EAA8638-9EFF-7626-12A9-3F251CAA8473}"/>
              </a:ext>
            </a:extLst>
          </p:cNvPr>
          <p:cNvSpPr txBox="1"/>
          <p:nvPr/>
        </p:nvSpPr>
        <p:spPr>
          <a:xfrm>
            <a:off x="2479860" y="2741653"/>
            <a:ext cx="1940560" cy="523220"/>
          </a:xfrm>
          <a:prstGeom prst="rect">
            <a:avLst/>
          </a:prstGeom>
          <a:noFill/>
        </p:spPr>
        <p:txBody>
          <a:bodyPr wrap="square" rtlCol="0">
            <a:spAutoFit/>
          </a:bodyPr>
          <a:lstStyle/>
          <a:p>
            <a:r>
              <a:rPr lang="en-US" dirty="0">
                <a:solidFill>
                  <a:schemeClr val="bg1"/>
                </a:solidFill>
              </a:rPr>
              <a:t>Develop concepts</a:t>
            </a:r>
            <a:br>
              <a:rPr lang="en-US" dirty="0">
                <a:solidFill>
                  <a:schemeClr val="bg1"/>
                </a:solidFill>
              </a:rPr>
            </a:br>
            <a:r>
              <a:rPr lang="en-US" dirty="0">
                <a:solidFill>
                  <a:schemeClr val="bg1"/>
                </a:solidFill>
              </a:rPr>
              <a:t>that </a:t>
            </a:r>
            <a:r>
              <a:rPr lang="en-US" b="1" i="1" dirty="0">
                <a:solidFill>
                  <a:schemeClr val="bg1"/>
                </a:solidFill>
              </a:rPr>
              <a:t>resonate</a:t>
            </a:r>
          </a:p>
        </p:txBody>
      </p:sp>
      <p:sp>
        <p:nvSpPr>
          <p:cNvPr id="16" name="TextBox 15">
            <a:extLst>
              <a:ext uri="{FF2B5EF4-FFF2-40B4-BE49-F238E27FC236}">
                <a16:creationId xmlns:a16="http://schemas.microsoft.com/office/drawing/2014/main" id="{50F6D062-3F63-05EE-CBC9-C37A687134AB}"/>
              </a:ext>
            </a:extLst>
          </p:cNvPr>
          <p:cNvSpPr txBox="1"/>
          <p:nvPr/>
        </p:nvSpPr>
        <p:spPr>
          <a:xfrm>
            <a:off x="2645664" y="3656964"/>
            <a:ext cx="2322084" cy="523220"/>
          </a:xfrm>
          <a:prstGeom prst="rect">
            <a:avLst/>
          </a:prstGeom>
          <a:noFill/>
        </p:spPr>
        <p:txBody>
          <a:bodyPr wrap="square" rtlCol="0">
            <a:spAutoFit/>
          </a:bodyPr>
          <a:lstStyle/>
          <a:p>
            <a:r>
              <a:rPr lang="en-US" b="1" i="1" dirty="0">
                <a:solidFill>
                  <a:schemeClr val="bg1"/>
                </a:solidFill>
              </a:rPr>
              <a:t>Reach</a:t>
            </a:r>
            <a:r>
              <a:rPr lang="en-US" dirty="0">
                <a:solidFill>
                  <a:schemeClr val="bg1"/>
                </a:solidFill>
              </a:rPr>
              <a:t> new customers </a:t>
            </a:r>
            <a:br>
              <a:rPr lang="en-US" dirty="0">
                <a:solidFill>
                  <a:schemeClr val="bg1"/>
                </a:solidFill>
              </a:rPr>
            </a:br>
            <a:r>
              <a:rPr lang="en-US" dirty="0">
                <a:solidFill>
                  <a:schemeClr val="bg1"/>
                </a:solidFill>
              </a:rPr>
              <a:t>and supporters</a:t>
            </a:r>
            <a:endParaRPr lang="en-US" b="1" dirty="0">
              <a:solidFill>
                <a:schemeClr val="bg1"/>
              </a:solidFill>
            </a:endParaRPr>
          </a:p>
        </p:txBody>
      </p:sp>
      <p:sp>
        <p:nvSpPr>
          <p:cNvPr id="17" name="TextBox 16">
            <a:extLst>
              <a:ext uri="{FF2B5EF4-FFF2-40B4-BE49-F238E27FC236}">
                <a16:creationId xmlns:a16="http://schemas.microsoft.com/office/drawing/2014/main" id="{7B230F4A-F592-A7A1-B496-B31F88A3F0B0}"/>
              </a:ext>
            </a:extLst>
          </p:cNvPr>
          <p:cNvSpPr txBox="1"/>
          <p:nvPr/>
        </p:nvSpPr>
        <p:spPr>
          <a:xfrm>
            <a:off x="2645664" y="4627139"/>
            <a:ext cx="2322084" cy="523220"/>
          </a:xfrm>
          <a:prstGeom prst="rect">
            <a:avLst/>
          </a:prstGeom>
          <a:noFill/>
        </p:spPr>
        <p:txBody>
          <a:bodyPr wrap="square" rtlCol="0">
            <a:spAutoFit/>
          </a:bodyPr>
          <a:lstStyle/>
          <a:p>
            <a:r>
              <a:rPr lang="en-US" dirty="0">
                <a:solidFill>
                  <a:schemeClr val="bg1"/>
                </a:solidFill>
              </a:rPr>
              <a:t>Build </a:t>
            </a:r>
            <a:r>
              <a:rPr lang="en-US" b="1" i="1" dirty="0">
                <a:solidFill>
                  <a:schemeClr val="bg1"/>
                </a:solidFill>
              </a:rPr>
              <a:t>momentum</a:t>
            </a:r>
            <a:r>
              <a:rPr lang="en-US" dirty="0">
                <a:solidFill>
                  <a:schemeClr val="bg1"/>
                </a:solidFill>
              </a:rPr>
              <a:t> </a:t>
            </a:r>
            <a:br>
              <a:rPr lang="en-US" dirty="0">
                <a:solidFill>
                  <a:schemeClr val="bg1"/>
                </a:solidFill>
              </a:rPr>
            </a:br>
            <a:r>
              <a:rPr lang="en-US" dirty="0">
                <a:solidFill>
                  <a:schemeClr val="bg1"/>
                </a:solidFill>
              </a:rPr>
              <a:t>with ideas that go viral</a:t>
            </a:r>
            <a:endParaRPr lang="en-US" b="1" dirty="0">
              <a:solidFill>
                <a:schemeClr val="bg1"/>
              </a:solidFill>
            </a:endParaRPr>
          </a:p>
        </p:txBody>
      </p:sp>
      <p:sp>
        <p:nvSpPr>
          <p:cNvPr id="21" name="TextBox 20">
            <a:extLst>
              <a:ext uri="{FF2B5EF4-FFF2-40B4-BE49-F238E27FC236}">
                <a16:creationId xmlns:a16="http://schemas.microsoft.com/office/drawing/2014/main" id="{9B503109-8A9A-A4E9-F45B-5DB4B0A52761}"/>
              </a:ext>
            </a:extLst>
          </p:cNvPr>
          <p:cNvSpPr txBox="1"/>
          <p:nvPr/>
        </p:nvSpPr>
        <p:spPr>
          <a:xfrm>
            <a:off x="2479860" y="5551594"/>
            <a:ext cx="2322084" cy="523220"/>
          </a:xfrm>
          <a:prstGeom prst="rect">
            <a:avLst/>
          </a:prstGeom>
          <a:noFill/>
        </p:spPr>
        <p:txBody>
          <a:bodyPr wrap="square" rtlCol="0">
            <a:spAutoFit/>
          </a:bodyPr>
          <a:lstStyle/>
          <a:p>
            <a:r>
              <a:rPr lang="en-US" dirty="0">
                <a:solidFill>
                  <a:schemeClr val="bg1"/>
                </a:solidFill>
              </a:rPr>
              <a:t>Ramp up </a:t>
            </a:r>
            <a:r>
              <a:rPr lang="en-US" b="1" i="1" dirty="0">
                <a:solidFill>
                  <a:schemeClr val="bg1"/>
                </a:solidFill>
              </a:rPr>
              <a:t>productivity</a:t>
            </a:r>
            <a:br>
              <a:rPr lang="en-US" dirty="0">
                <a:solidFill>
                  <a:schemeClr val="bg1"/>
                </a:solidFill>
              </a:rPr>
            </a:br>
            <a:r>
              <a:rPr lang="en-US" dirty="0">
                <a:solidFill>
                  <a:schemeClr val="bg1"/>
                </a:solidFill>
              </a:rPr>
              <a:t>across teams of teams</a:t>
            </a:r>
            <a:endParaRPr lang="en-US" b="1" dirty="0">
              <a:solidFill>
                <a:schemeClr val="bg1"/>
              </a:solidFill>
            </a:endParaRPr>
          </a:p>
        </p:txBody>
      </p:sp>
      <p:sp>
        <p:nvSpPr>
          <p:cNvPr id="35" name="TextBox 34">
            <a:extLst>
              <a:ext uri="{FF2B5EF4-FFF2-40B4-BE49-F238E27FC236}">
                <a16:creationId xmlns:a16="http://schemas.microsoft.com/office/drawing/2014/main" id="{5197BAC8-7C60-DD6D-5A88-4DC44D71772E}"/>
              </a:ext>
            </a:extLst>
          </p:cNvPr>
          <p:cNvSpPr txBox="1"/>
          <p:nvPr/>
        </p:nvSpPr>
        <p:spPr>
          <a:xfrm>
            <a:off x="5027306" y="2741653"/>
            <a:ext cx="2826373" cy="523220"/>
          </a:xfrm>
          <a:prstGeom prst="rect">
            <a:avLst/>
          </a:prstGeom>
          <a:noFill/>
        </p:spPr>
        <p:txBody>
          <a:bodyPr wrap="square" rtlCol="0">
            <a:spAutoFit/>
          </a:bodyPr>
          <a:lstStyle/>
          <a:p>
            <a:r>
              <a:rPr lang="en-US" dirty="0">
                <a:solidFill>
                  <a:schemeClr val="bg1"/>
                </a:solidFill>
              </a:rPr>
              <a:t>Lean </a:t>
            </a:r>
            <a:r>
              <a:rPr lang="en-US" b="1" i="1" dirty="0">
                <a:solidFill>
                  <a:schemeClr val="bg1"/>
                </a:solidFill>
              </a:rPr>
              <a:t>product</a:t>
            </a:r>
            <a:r>
              <a:rPr lang="en-US" dirty="0">
                <a:solidFill>
                  <a:schemeClr val="bg1"/>
                </a:solidFill>
              </a:rPr>
              <a:t> management </a:t>
            </a:r>
            <a:br>
              <a:rPr lang="en-US" dirty="0">
                <a:solidFill>
                  <a:schemeClr val="bg1"/>
                </a:solidFill>
              </a:rPr>
            </a:br>
            <a:r>
              <a:rPr lang="en-US" dirty="0">
                <a:solidFill>
                  <a:schemeClr val="bg1"/>
                </a:solidFill>
              </a:rPr>
              <a:t>gets value and feedback flowing</a:t>
            </a:r>
            <a:endParaRPr lang="en-US" b="1" i="1" dirty="0">
              <a:solidFill>
                <a:schemeClr val="bg1"/>
              </a:solidFill>
            </a:endParaRPr>
          </a:p>
        </p:txBody>
      </p:sp>
      <p:sp>
        <p:nvSpPr>
          <p:cNvPr id="50" name="TextBox 49">
            <a:extLst>
              <a:ext uri="{FF2B5EF4-FFF2-40B4-BE49-F238E27FC236}">
                <a16:creationId xmlns:a16="http://schemas.microsoft.com/office/drawing/2014/main" id="{41C40061-D614-5CC2-20F0-A786974CB2A1}"/>
              </a:ext>
            </a:extLst>
          </p:cNvPr>
          <p:cNvSpPr txBox="1"/>
          <p:nvPr/>
        </p:nvSpPr>
        <p:spPr>
          <a:xfrm>
            <a:off x="5193110" y="3656964"/>
            <a:ext cx="2826373" cy="523220"/>
          </a:xfrm>
          <a:prstGeom prst="rect">
            <a:avLst/>
          </a:prstGeom>
          <a:noFill/>
        </p:spPr>
        <p:txBody>
          <a:bodyPr wrap="square" rtlCol="0">
            <a:spAutoFit/>
          </a:bodyPr>
          <a:lstStyle/>
          <a:p>
            <a:r>
              <a:rPr lang="en-US" b="1" i="1" dirty="0">
                <a:solidFill>
                  <a:schemeClr val="bg1"/>
                </a:solidFill>
              </a:rPr>
              <a:t>Platforms </a:t>
            </a:r>
            <a:r>
              <a:rPr lang="en-US" dirty="0">
                <a:solidFill>
                  <a:schemeClr val="bg1"/>
                </a:solidFill>
              </a:rPr>
              <a:t>link collaborators across silos and ecosystems</a:t>
            </a:r>
          </a:p>
        </p:txBody>
      </p:sp>
      <p:sp>
        <p:nvSpPr>
          <p:cNvPr id="53" name="TextBox 52">
            <a:extLst>
              <a:ext uri="{FF2B5EF4-FFF2-40B4-BE49-F238E27FC236}">
                <a16:creationId xmlns:a16="http://schemas.microsoft.com/office/drawing/2014/main" id="{3EC1A0D6-3046-3B7B-82E1-F43D193A559D}"/>
              </a:ext>
            </a:extLst>
          </p:cNvPr>
          <p:cNvSpPr txBox="1"/>
          <p:nvPr/>
        </p:nvSpPr>
        <p:spPr>
          <a:xfrm>
            <a:off x="5193110" y="4627139"/>
            <a:ext cx="2733721" cy="523220"/>
          </a:xfrm>
          <a:prstGeom prst="rect">
            <a:avLst/>
          </a:prstGeom>
          <a:noFill/>
        </p:spPr>
        <p:txBody>
          <a:bodyPr wrap="square" rtlCol="0">
            <a:spAutoFit/>
          </a:bodyPr>
          <a:lstStyle/>
          <a:p>
            <a:r>
              <a:rPr lang="en-US" b="1" i="1" dirty="0">
                <a:solidFill>
                  <a:schemeClr val="bg1"/>
                </a:solidFill>
              </a:rPr>
              <a:t>Participant</a:t>
            </a:r>
            <a:r>
              <a:rPr lang="en-US" dirty="0">
                <a:solidFill>
                  <a:schemeClr val="bg1"/>
                </a:solidFill>
              </a:rPr>
              <a:t> rewards encourage fearless sharing of viral ideas</a:t>
            </a:r>
            <a:endParaRPr lang="en-US" b="1" dirty="0">
              <a:solidFill>
                <a:schemeClr val="bg1"/>
              </a:solidFill>
            </a:endParaRPr>
          </a:p>
        </p:txBody>
      </p:sp>
      <p:sp>
        <p:nvSpPr>
          <p:cNvPr id="54" name="TextBox 53">
            <a:extLst>
              <a:ext uri="{FF2B5EF4-FFF2-40B4-BE49-F238E27FC236}">
                <a16:creationId xmlns:a16="http://schemas.microsoft.com/office/drawing/2014/main" id="{F977DF87-9F47-C143-347B-959B20C69BBF}"/>
              </a:ext>
            </a:extLst>
          </p:cNvPr>
          <p:cNvSpPr txBox="1"/>
          <p:nvPr/>
        </p:nvSpPr>
        <p:spPr>
          <a:xfrm>
            <a:off x="5027305" y="5551594"/>
            <a:ext cx="2935617" cy="523220"/>
          </a:xfrm>
          <a:prstGeom prst="rect">
            <a:avLst/>
          </a:prstGeom>
          <a:noFill/>
        </p:spPr>
        <p:txBody>
          <a:bodyPr wrap="square" rtlCol="0">
            <a:spAutoFit/>
          </a:bodyPr>
          <a:lstStyle/>
          <a:p>
            <a:r>
              <a:rPr lang="en-US" b="1" i="1" dirty="0">
                <a:solidFill>
                  <a:schemeClr val="bg1"/>
                </a:solidFill>
              </a:rPr>
              <a:t>Practitioners</a:t>
            </a:r>
            <a:r>
              <a:rPr lang="en-US" dirty="0">
                <a:solidFill>
                  <a:schemeClr val="bg1"/>
                </a:solidFill>
              </a:rPr>
              <a:t> of agile-at-scale</a:t>
            </a:r>
            <a:br>
              <a:rPr lang="en-US" dirty="0">
                <a:solidFill>
                  <a:schemeClr val="bg1"/>
                </a:solidFill>
              </a:rPr>
            </a:br>
            <a:r>
              <a:rPr lang="en-US" dirty="0">
                <a:solidFill>
                  <a:schemeClr val="bg1"/>
                </a:solidFill>
              </a:rPr>
              <a:t>keep teams of teams aligned</a:t>
            </a:r>
            <a:endParaRPr lang="en-US" b="1" dirty="0">
              <a:solidFill>
                <a:schemeClr val="bg1"/>
              </a:solidFill>
            </a:endParaRPr>
          </a:p>
        </p:txBody>
      </p:sp>
      <p:sp>
        <p:nvSpPr>
          <p:cNvPr id="55" name="TextBox 54">
            <a:extLst>
              <a:ext uri="{FF2B5EF4-FFF2-40B4-BE49-F238E27FC236}">
                <a16:creationId xmlns:a16="http://schemas.microsoft.com/office/drawing/2014/main" id="{41D685CA-5E08-EC6D-94AB-AAA57C185D4B}"/>
              </a:ext>
            </a:extLst>
          </p:cNvPr>
          <p:cNvSpPr txBox="1"/>
          <p:nvPr/>
        </p:nvSpPr>
        <p:spPr>
          <a:xfrm>
            <a:off x="7909364" y="2741653"/>
            <a:ext cx="2487888" cy="523220"/>
          </a:xfrm>
          <a:prstGeom prst="rect">
            <a:avLst/>
          </a:prstGeom>
          <a:noFill/>
        </p:spPr>
        <p:txBody>
          <a:bodyPr wrap="square" rtlCol="0">
            <a:spAutoFit/>
          </a:bodyPr>
          <a:lstStyle/>
          <a:p>
            <a:r>
              <a:rPr lang="en-US" dirty="0">
                <a:solidFill>
                  <a:schemeClr val="bg1"/>
                </a:solidFill>
              </a:rPr>
              <a:t>Grow </a:t>
            </a:r>
            <a:r>
              <a:rPr lang="en-US" b="1" i="1" dirty="0">
                <a:solidFill>
                  <a:schemeClr val="bg1"/>
                </a:solidFill>
              </a:rPr>
              <a:t>ROI</a:t>
            </a:r>
            <a:r>
              <a:rPr lang="en-US" dirty="0">
                <a:solidFill>
                  <a:schemeClr val="bg1"/>
                </a:solidFill>
              </a:rPr>
              <a:t> exponentially via </a:t>
            </a:r>
            <a:r>
              <a:rPr lang="en-US" u="sng" dirty="0">
                <a:solidFill>
                  <a:schemeClr val="bg1"/>
                </a:solidFill>
              </a:rPr>
              <a:t>Compounding Innovation</a:t>
            </a:r>
            <a:r>
              <a:rPr lang="en-US" dirty="0">
                <a:solidFill>
                  <a:schemeClr val="bg1"/>
                </a:solidFill>
              </a:rPr>
              <a:t> </a:t>
            </a:r>
            <a:endParaRPr lang="en-US" b="1" i="1" dirty="0">
              <a:solidFill>
                <a:schemeClr val="bg1"/>
              </a:solidFill>
            </a:endParaRPr>
          </a:p>
        </p:txBody>
      </p:sp>
      <p:sp>
        <p:nvSpPr>
          <p:cNvPr id="56" name="TextBox 55">
            <a:extLst>
              <a:ext uri="{FF2B5EF4-FFF2-40B4-BE49-F238E27FC236}">
                <a16:creationId xmlns:a16="http://schemas.microsoft.com/office/drawing/2014/main" id="{83D44BC4-3BA7-CD3F-55FD-63AC0D43D60C}"/>
              </a:ext>
            </a:extLst>
          </p:cNvPr>
          <p:cNvSpPr txBox="1"/>
          <p:nvPr/>
        </p:nvSpPr>
        <p:spPr>
          <a:xfrm>
            <a:off x="8075168" y="3656964"/>
            <a:ext cx="2487888" cy="523220"/>
          </a:xfrm>
          <a:prstGeom prst="rect">
            <a:avLst/>
          </a:prstGeom>
          <a:noFill/>
        </p:spPr>
        <p:txBody>
          <a:bodyPr wrap="square" rtlCol="0">
            <a:spAutoFit/>
          </a:bodyPr>
          <a:lstStyle/>
          <a:p>
            <a:r>
              <a:rPr lang="en-US" dirty="0">
                <a:solidFill>
                  <a:schemeClr val="bg1"/>
                </a:solidFill>
              </a:rPr>
              <a:t>Grow </a:t>
            </a:r>
            <a:r>
              <a:rPr lang="en-US" b="1" i="1" dirty="0">
                <a:solidFill>
                  <a:schemeClr val="bg1"/>
                </a:solidFill>
              </a:rPr>
              <a:t>reach </a:t>
            </a:r>
            <a:r>
              <a:rPr lang="en-US" dirty="0">
                <a:solidFill>
                  <a:schemeClr val="bg1"/>
                </a:solidFill>
              </a:rPr>
              <a:t>exponentially via </a:t>
            </a:r>
            <a:r>
              <a:rPr lang="en-US" u="sng" dirty="0">
                <a:solidFill>
                  <a:schemeClr val="bg1"/>
                </a:solidFill>
              </a:rPr>
              <a:t>Network Effects</a:t>
            </a:r>
          </a:p>
        </p:txBody>
      </p:sp>
      <p:sp>
        <p:nvSpPr>
          <p:cNvPr id="57" name="TextBox 56">
            <a:extLst>
              <a:ext uri="{FF2B5EF4-FFF2-40B4-BE49-F238E27FC236}">
                <a16:creationId xmlns:a16="http://schemas.microsoft.com/office/drawing/2014/main" id="{5D01C9F4-6A5D-285C-4B5C-A86D5DB92E8D}"/>
              </a:ext>
            </a:extLst>
          </p:cNvPr>
          <p:cNvSpPr txBox="1"/>
          <p:nvPr/>
        </p:nvSpPr>
        <p:spPr>
          <a:xfrm>
            <a:off x="8075168" y="4627139"/>
            <a:ext cx="2656840" cy="523220"/>
          </a:xfrm>
          <a:prstGeom prst="rect">
            <a:avLst/>
          </a:prstGeom>
          <a:noFill/>
        </p:spPr>
        <p:txBody>
          <a:bodyPr wrap="square" rtlCol="0">
            <a:spAutoFit/>
          </a:bodyPr>
          <a:lstStyle/>
          <a:p>
            <a:r>
              <a:rPr lang="en-US" dirty="0">
                <a:solidFill>
                  <a:schemeClr val="bg1"/>
                </a:solidFill>
              </a:rPr>
              <a:t>Grow </a:t>
            </a:r>
            <a:r>
              <a:rPr lang="en-US" b="1" i="1" dirty="0">
                <a:solidFill>
                  <a:schemeClr val="bg1"/>
                </a:solidFill>
              </a:rPr>
              <a:t>momentum </a:t>
            </a:r>
            <a:r>
              <a:rPr lang="en-US" dirty="0">
                <a:solidFill>
                  <a:schemeClr val="bg1"/>
                </a:solidFill>
              </a:rPr>
              <a:t>exponen-tially via </a:t>
            </a:r>
            <a:r>
              <a:rPr lang="en-US" u="sng" dirty="0">
                <a:solidFill>
                  <a:schemeClr val="bg1"/>
                </a:solidFill>
              </a:rPr>
              <a:t>Viral Ideation</a:t>
            </a:r>
          </a:p>
        </p:txBody>
      </p:sp>
      <p:sp>
        <p:nvSpPr>
          <p:cNvPr id="58" name="TextBox 57">
            <a:extLst>
              <a:ext uri="{FF2B5EF4-FFF2-40B4-BE49-F238E27FC236}">
                <a16:creationId xmlns:a16="http://schemas.microsoft.com/office/drawing/2014/main" id="{E84227A3-EED0-2DCF-7CD3-9202D60DC197}"/>
              </a:ext>
            </a:extLst>
          </p:cNvPr>
          <p:cNvSpPr txBox="1"/>
          <p:nvPr/>
        </p:nvSpPr>
        <p:spPr>
          <a:xfrm>
            <a:off x="7909362" y="5551594"/>
            <a:ext cx="2653693" cy="523220"/>
          </a:xfrm>
          <a:prstGeom prst="rect">
            <a:avLst/>
          </a:prstGeom>
          <a:noFill/>
        </p:spPr>
        <p:txBody>
          <a:bodyPr wrap="square" rtlCol="0">
            <a:spAutoFit/>
          </a:bodyPr>
          <a:lstStyle/>
          <a:p>
            <a:r>
              <a:rPr lang="en-US" dirty="0">
                <a:solidFill>
                  <a:schemeClr val="bg1"/>
                </a:solidFill>
              </a:rPr>
              <a:t>Grow </a:t>
            </a:r>
            <a:r>
              <a:rPr lang="en-US" b="1" i="1" dirty="0">
                <a:solidFill>
                  <a:schemeClr val="bg1"/>
                </a:solidFill>
              </a:rPr>
              <a:t>productivity</a:t>
            </a:r>
            <a:r>
              <a:rPr lang="en-US" dirty="0">
                <a:solidFill>
                  <a:schemeClr val="bg1"/>
                </a:solidFill>
              </a:rPr>
              <a:t> exponen-tially via </a:t>
            </a:r>
            <a:r>
              <a:rPr lang="en-US" u="sng" dirty="0">
                <a:solidFill>
                  <a:schemeClr val="bg1"/>
                </a:solidFill>
              </a:rPr>
              <a:t>Generative Learning</a:t>
            </a:r>
          </a:p>
        </p:txBody>
      </p:sp>
      <p:cxnSp>
        <p:nvCxnSpPr>
          <p:cNvPr id="70" name="Straight Connector 69">
            <a:extLst>
              <a:ext uri="{FF2B5EF4-FFF2-40B4-BE49-F238E27FC236}">
                <a16:creationId xmlns:a16="http://schemas.microsoft.com/office/drawing/2014/main" id="{9C0D868B-E813-2B17-127C-22FA41DEA9F4}"/>
              </a:ext>
            </a:extLst>
          </p:cNvPr>
          <p:cNvCxnSpPr>
            <a:cxnSpLocks/>
          </p:cNvCxnSpPr>
          <p:nvPr/>
        </p:nvCxnSpPr>
        <p:spPr>
          <a:xfrm>
            <a:off x="2126512" y="2515736"/>
            <a:ext cx="2651760" cy="0"/>
          </a:xfrm>
          <a:prstGeom prst="line">
            <a:avLst/>
          </a:prstGeom>
          <a:ln w="9525">
            <a:solidFill>
              <a:srgbClr val="FFFFFF">
                <a:alpha val="25098"/>
              </a:srgb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0BA7F285-CA82-1440-AE97-6D2203F07B82}"/>
              </a:ext>
            </a:extLst>
          </p:cNvPr>
          <p:cNvCxnSpPr>
            <a:cxnSpLocks/>
          </p:cNvCxnSpPr>
          <p:nvPr/>
        </p:nvCxnSpPr>
        <p:spPr>
          <a:xfrm>
            <a:off x="4933508" y="2515736"/>
            <a:ext cx="2651760" cy="0"/>
          </a:xfrm>
          <a:prstGeom prst="line">
            <a:avLst/>
          </a:prstGeom>
          <a:ln w="9525">
            <a:solidFill>
              <a:srgbClr val="FFFFFF">
                <a:alpha val="25098"/>
              </a:srgb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979A4A87-C031-A6C6-752D-171D70C2340C}"/>
              </a:ext>
            </a:extLst>
          </p:cNvPr>
          <p:cNvCxnSpPr>
            <a:cxnSpLocks/>
          </p:cNvCxnSpPr>
          <p:nvPr/>
        </p:nvCxnSpPr>
        <p:spPr>
          <a:xfrm>
            <a:off x="2126512" y="6286750"/>
            <a:ext cx="2651760" cy="0"/>
          </a:xfrm>
          <a:prstGeom prst="line">
            <a:avLst/>
          </a:prstGeom>
          <a:ln w="9525">
            <a:solidFill>
              <a:srgbClr val="FFFFFF">
                <a:alpha val="25098"/>
              </a:srgbClr>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AEF4D4AB-D294-FA2A-337E-88B7B1486EEB}"/>
              </a:ext>
            </a:extLst>
          </p:cNvPr>
          <p:cNvCxnSpPr>
            <a:cxnSpLocks/>
          </p:cNvCxnSpPr>
          <p:nvPr/>
        </p:nvCxnSpPr>
        <p:spPr>
          <a:xfrm>
            <a:off x="4933508" y="6286750"/>
            <a:ext cx="2651760" cy="0"/>
          </a:xfrm>
          <a:prstGeom prst="line">
            <a:avLst/>
          </a:prstGeom>
          <a:ln w="9525">
            <a:solidFill>
              <a:srgbClr val="FFFFFF">
                <a:alpha val="25098"/>
              </a:srgbClr>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8693F64-777D-C535-64BD-8E21460E53DF}"/>
              </a:ext>
            </a:extLst>
          </p:cNvPr>
          <p:cNvCxnSpPr>
            <a:cxnSpLocks/>
          </p:cNvCxnSpPr>
          <p:nvPr/>
        </p:nvCxnSpPr>
        <p:spPr>
          <a:xfrm>
            <a:off x="7747592" y="6286750"/>
            <a:ext cx="2651760" cy="0"/>
          </a:xfrm>
          <a:prstGeom prst="line">
            <a:avLst/>
          </a:prstGeom>
          <a:ln w="9525">
            <a:solidFill>
              <a:srgbClr val="FFFFFF">
                <a:alpha val="25098"/>
              </a:srgbClr>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8211A918-F4A9-0CC9-C0EF-991F0FB9276F}"/>
              </a:ext>
            </a:extLst>
          </p:cNvPr>
          <p:cNvCxnSpPr>
            <a:cxnSpLocks/>
          </p:cNvCxnSpPr>
          <p:nvPr/>
        </p:nvCxnSpPr>
        <p:spPr>
          <a:xfrm>
            <a:off x="2288282" y="5365262"/>
            <a:ext cx="2651760" cy="0"/>
          </a:xfrm>
          <a:prstGeom prst="line">
            <a:avLst/>
          </a:prstGeom>
          <a:ln w="9525">
            <a:solidFill>
              <a:srgbClr val="FFFFFF">
                <a:alpha val="25098"/>
              </a:srgbClr>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59F406D2-B651-A7FD-E83D-0BB18615FCD1}"/>
              </a:ext>
            </a:extLst>
          </p:cNvPr>
          <p:cNvCxnSpPr>
            <a:cxnSpLocks/>
          </p:cNvCxnSpPr>
          <p:nvPr/>
        </p:nvCxnSpPr>
        <p:spPr>
          <a:xfrm>
            <a:off x="5095278" y="5365262"/>
            <a:ext cx="2651760" cy="0"/>
          </a:xfrm>
          <a:prstGeom prst="line">
            <a:avLst/>
          </a:prstGeom>
          <a:ln w="9525">
            <a:solidFill>
              <a:srgbClr val="FFFFFF">
                <a:alpha val="25098"/>
              </a:srgbClr>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DCEA4B99-8044-4E1C-9AF4-68C74C7EBBDF}"/>
              </a:ext>
            </a:extLst>
          </p:cNvPr>
          <p:cNvCxnSpPr>
            <a:cxnSpLocks/>
          </p:cNvCxnSpPr>
          <p:nvPr/>
        </p:nvCxnSpPr>
        <p:spPr>
          <a:xfrm>
            <a:off x="7909362" y="5365262"/>
            <a:ext cx="2651760" cy="0"/>
          </a:xfrm>
          <a:prstGeom prst="line">
            <a:avLst/>
          </a:prstGeom>
          <a:ln w="9525">
            <a:solidFill>
              <a:srgbClr val="FFFFFF">
                <a:alpha val="25098"/>
              </a:srgbClr>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D2881144-6558-E1E2-A9CD-B5D47B36D779}"/>
              </a:ext>
            </a:extLst>
          </p:cNvPr>
          <p:cNvCxnSpPr>
            <a:cxnSpLocks/>
          </p:cNvCxnSpPr>
          <p:nvPr/>
        </p:nvCxnSpPr>
        <p:spPr>
          <a:xfrm>
            <a:off x="2288282" y="3451402"/>
            <a:ext cx="2651760" cy="0"/>
          </a:xfrm>
          <a:prstGeom prst="line">
            <a:avLst/>
          </a:prstGeom>
          <a:ln w="9525">
            <a:solidFill>
              <a:srgbClr val="FFFFFF">
                <a:alpha val="25098"/>
              </a:srgbClr>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A667801B-DD90-D483-5B60-2E7BE6C79C05}"/>
              </a:ext>
            </a:extLst>
          </p:cNvPr>
          <p:cNvCxnSpPr>
            <a:cxnSpLocks/>
          </p:cNvCxnSpPr>
          <p:nvPr/>
        </p:nvCxnSpPr>
        <p:spPr>
          <a:xfrm>
            <a:off x="5095278" y="3451402"/>
            <a:ext cx="2651760" cy="0"/>
          </a:xfrm>
          <a:prstGeom prst="line">
            <a:avLst/>
          </a:prstGeom>
          <a:ln w="9525">
            <a:solidFill>
              <a:srgbClr val="FFFFFF">
                <a:alpha val="25098"/>
              </a:srgbClr>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85C4E9BE-8BBA-32A2-E88B-8496895E5CE0}"/>
              </a:ext>
            </a:extLst>
          </p:cNvPr>
          <p:cNvCxnSpPr>
            <a:cxnSpLocks/>
          </p:cNvCxnSpPr>
          <p:nvPr/>
        </p:nvCxnSpPr>
        <p:spPr>
          <a:xfrm>
            <a:off x="7909362" y="3451402"/>
            <a:ext cx="2651760" cy="0"/>
          </a:xfrm>
          <a:prstGeom prst="line">
            <a:avLst/>
          </a:prstGeom>
          <a:ln w="9525">
            <a:solidFill>
              <a:srgbClr val="FFFFFF">
                <a:alpha val="25098"/>
              </a:srgbClr>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3E681E58-DD4E-EC04-4B2C-1FC00D8FE4ED}"/>
              </a:ext>
            </a:extLst>
          </p:cNvPr>
          <p:cNvCxnSpPr>
            <a:cxnSpLocks/>
          </p:cNvCxnSpPr>
          <p:nvPr/>
        </p:nvCxnSpPr>
        <p:spPr>
          <a:xfrm>
            <a:off x="2459168" y="4401243"/>
            <a:ext cx="2651760" cy="0"/>
          </a:xfrm>
          <a:prstGeom prst="line">
            <a:avLst/>
          </a:prstGeom>
          <a:ln w="9525">
            <a:solidFill>
              <a:srgbClr val="FFFFFF">
                <a:alpha val="25098"/>
              </a:srgbClr>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656D1FD0-2B8C-7743-5992-1260C4C56555}"/>
              </a:ext>
            </a:extLst>
          </p:cNvPr>
          <p:cNvCxnSpPr>
            <a:cxnSpLocks/>
          </p:cNvCxnSpPr>
          <p:nvPr/>
        </p:nvCxnSpPr>
        <p:spPr>
          <a:xfrm>
            <a:off x="5266164" y="4401243"/>
            <a:ext cx="2651760" cy="0"/>
          </a:xfrm>
          <a:prstGeom prst="line">
            <a:avLst/>
          </a:prstGeom>
          <a:ln w="9525">
            <a:solidFill>
              <a:srgbClr val="FFFFFF">
                <a:alpha val="25098"/>
              </a:srgbClr>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F775AEFB-FA87-5518-4D30-8994B61DE8C9}"/>
              </a:ext>
            </a:extLst>
          </p:cNvPr>
          <p:cNvCxnSpPr>
            <a:cxnSpLocks/>
          </p:cNvCxnSpPr>
          <p:nvPr/>
        </p:nvCxnSpPr>
        <p:spPr>
          <a:xfrm>
            <a:off x="8080248" y="4401243"/>
            <a:ext cx="2651760" cy="0"/>
          </a:xfrm>
          <a:prstGeom prst="line">
            <a:avLst/>
          </a:prstGeom>
          <a:ln w="9525">
            <a:solidFill>
              <a:srgbClr val="FFFFFF">
                <a:alpha val="25098"/>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787067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A2C963-9D1E-4F7C-CFD1-A7A9147B3CA1}"/>
            </a:ext>
          </a:extLst>
        </p:cNvPr>
        <p:cNvGrpSpPr/>
        <p:nvPr/>
      </p:nvGrpSpPr>
      <p:grpSpPr>
        <a:xfrm>
          <a:off x="0" y="0"/>
          <a:ext cx="0" cy="0"/>
          <a:chOff x="0" y="0"/>
          <a:chExt cx="0" cy="0"/>
        </a:xfrm>
      </p:grpSpPr>
      <p:sp>
        <p:nvSpPr>
          <p:cNvPr id="22" name="Google Shape;96;p2">
            <a:extLst>
              <a:ext uri="{FF2B5EF4-FFF2-40B4-BE49-F238E27FC236}">
                <a16:creationId xmlns:a16="http://schemas.microsoft.com/office/drawing/2014/main" id="{FA97EDE3-1F68-DCF7-EA88-ED5108C32E6A}"/>
              </a:ext>
            </a:extLst>
          </p:cNvPr>
          <p:cNvSpPr txBox="1">
            <a:spLocks/>
          </p:cNvSpPr>
          <p:nvPr/>
        </p:nvSpPr>
        <p:spPr>
          <a:xfrm>
            <a:off x="838199" y="365125"/>
            <a:ext cx="8950569" cy="1325563"/>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lvl="0">
              <a:lnSpc>
                <a:spcPct val="90000"/>
              </a:lnSpc>
              <a:buSzPts val="4400"/>
              <a:defRPr/>
            </a:pPr>
            <a:r>
              <a:rPr lang="en-US" sz="4400" dirty="0">
                <a:latin typeface="Calibri" panose="020F0502020204030204" pitchFamily="34" charset="0"/>
                <a:cs typeface="Calibri" panose="020F0502020204030204" pitchFamily="34" charset="0"/>
              </a:rPr>
              <a:t>Using the AccelRR8 Framework</a:t>
            </a:r>
            <a:br>
              <a:rPr lang="en-US" sz="4400" dirty="0">
                <a:latin typeface="Calibri" panose="020F0502020204030204" pitchFamily="34" charset="0"/>
                <a:cs typeface="Calibri" panose="020F0502020204030204" pitchFamily="34" charset="0"/>
              </a:rPr>
            </a:br>
            <a:r>
              <a:rPr lang="en-US" sz="4400" dirty="0">
                <a:latin typeface="Calibri" panose="020F0502020204030204" pitchFamily="34" charset="0"/>
                <a:cs typeface="Calibri" panose="020F0502020204030204" pitchFamily="34" charset="0"/>
              </a:rPr>
              <a:t>to grow value exponentially</a:t>
            </a:r>
          </a:p>
        </p:txBody>
      </p:sp>
      <p:pic>
        <p:nvPicPr>
          <p:cNvPr id="6" name="Picture 5">
            <a:extLst>
              <a:ext uri="{FF2B5EF4-FFF2-40B4-BE49-F238E27FC236}">
                <a16:creationId xmlns:a16="http://schemas.microsoft.com/office/drawing/2014/main" id="{AC044A8F-7D1B-924F-0693-7A1164003AFA}"/>
              </a:ext>
            </a:extLst>
          </p:cNvPr>
          <p:cNvPicPr>
            <a:picLocks noChangeAspect="1"/>
          </p:cNvPicPr>
          <p:nvPr/>
        </p:nvPicPr>
        <p:blipFill>
          <a:blip r:embed="rId3"/>
          <a:stretch>
            <a:fillRect/>
          </a:stretch>
        </p:blipFill>
        <p:spPr>
          <a:xfrm>
            <a:off x="1459088" y="1874124"/>
            <a:ext cx="9028970" cy="4868562"/>
          </a:xfrm>
          <a:prstGeom prst="rect">
            <a:avLst/>
          </a:prstGeom>
          <a:solidFill>
            <a:schemeClr val="bg1"/>
          </a:solidFill>
        </p:spPr>
      </p:pic>
      <p:sp>
        <p:nvSpPr>
          <p:cNvPr id="40" name="Rectangle 39">
            <a:extLst>
              <a:ext uri="{FF2B5EF4-FFF2-40B4-BE49-F238E27FC236}">
                <a16:creationId xmlns:a16="http://schemas.microsoft.com/office/drawing/2014/main" id="{E2DFC159-BA7F-920E-C063-C0A65DDBC6E9}"/>
              </a:ext>
            </a:extLst>
          </p:cNvPr>
          <p:cNvSpPr/>
          <p:nvPr/>
        </p:nvSpPr>
        <p:spPr>
          <a:xfrm>
            <a:off x="11902559" y="1987461"/>
            <a:ext cx="1493433" cy="434972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Rectangle 48">
            <a:extLst>
              <a:ext uri="{FF2B5EF4-FFF2-40B4-BE49-F238E27FC236}">
                <a16:creationId xmlns:a16="http://schemas.microsoft.com/office/drawing/2014/main" id="{242E59B5-EDFE-2C3B-8718-ACA2AE80AB00}"/>
              </a:ext>
            </a:extLst>
          </p:cNvPr>
          <p:cNvSpPr/>
          <p:nvPr/>
        </p:nvSpPr>
        <p:spPr>
          <a:xfrm>
            <a:off x="12213888" y="1858298"/>
            <a:ext cx="1822001" cy="4608056"/>
          </a:xfrm>
          <a:prstGeom prst="rect">
            <a:avLst/>
          </a:prstGeom>
          <a:solidFill>
            <a:srgbClr val="28282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2">
            <a:extLst>
              <a:ext uri="{FF2B5EF4-FFF2-40B4-BE49-F238E27FC236}">
                <a16:creationId xmlns:a16="http://schemas.microsoft.com/office/drawing/2014/main" id="{5963BB86-EDFF-F012-7107-D715A7BAABC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15505" y="1781147"/>
            <a:ext cx="1287166" cy="64995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865353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94CD0B-EF49-A4E2-3AF5-8A13C544042C}"/>
            </a:ext>
          </a:extLst>
        </p:cNvPr>
        <p:cNvGrpSpPr/>
        <p:nvPr/>
      </p:nvGrpSpPr>
      <p:grpSpPr>
        <a:xfrm>
          <a:off x="0" y="0"/>
          <a:ext cx="0" cy="0"/>
          <a:chOff x="0" y="0"/>
          <a:chExt cx="0" cy="0"/>
        </a:xfrm>
      </p:grpSpPr>
      <p:pic>
        <p:nvPicPr>
          <p:cNvPr id="1026" name="Picture 2">
            <a:extLst>
              <a:ext uri="{FF2B5EF4-FFF2-40B4-BE49-F238E27FC236}">
                <a16:creationId xmlns:a16="http://schemas.microsoft.com/office/drawing/2014/main" id="{27134B42-0247-6704-4B40-F0D49728CEA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199" y="1843589"/>
            <a:ext cx="1287166" cy="649952"/>
          </a:xfrm>
          <a:prstGeom prst="rect">
            <a:avLst/>
          </a:prstGeom>
          <a:noFill/>
          <a:extLst>
            <a:ext uri="{909E8E84-426E-40DD-AFC4-6F175D3DCCD1}">
              <a14:hiddenFill xmlns:a14="http://schemas.microsoft.com/office/drawing/2010/main">
                <a:solidFill>
                  <a:srgbClr val="FFFFFF"/>
                </a:solidFill>
              </a14:hiddenFill>
            </a:ext>
          </a:extLst>
        </p:spPr>
      </p:pic>
      <p:sp>
        <p:nvSpPr>
          <p:cNvPr id="39" name="Parallelogram 38">
            <a:extLst>
              <a:ext uri="{FF2B5EF4-FFF2-40B4-BE49-F238E27FC236}">
                <a16:creationId xmlns:a16="http://schemas.microsoft.com/office/drawing/2014/main" id="{46C46182-2763-BBDF-8835-C25C9D5A333B}"/>
              </a:ext>
            </a:extLst>
          </p:cNvPr>
          <p:cNvSpPr/>
          <p:nvPr/>
        </p:nvSpPr>
        <p:spPr>
          <a:xfrm>
            <a:off x="9244659" y="2008681"/>
            <a:ext cx="4099806" cy="4221783"/>
          </a:xfrm>
          <a:prstGeom prst="parallelogram">
            <a:avLst>
              <a:gd name="adj" fmla="val 43037"/>
            </a:avLst>
          </a:prstGeom>
          <a:solidFill>
            <a:schemeClr val="bg1">
              <a:lumMod val="50000"/>
              <a:alpha val="89804"/>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Parallelogram 25">
            <a:extLst>
              <a:ext uri="{FF2B5EF4-FFF2-40B4-BE49-F238E27FC236}">
                <a16:creationId xmlns:a16="http://schemas.microsoft.com/office/drawing/2014/main" id="{7C33B853-A56D-C94D-F5B8-51B3B811D860}"/>
              </a:ext>
            </a:extLst>
          </p:cNvPr>
          <p:cNvSpPr/>
          <p:nvPr/>
        </p:nvSpPr>
        <p:spPr>
          <a:xfrm>
            <a:off x="6698065" y="2008681"/>
            <a:ext cx="4099806" cy="4221783"/>
          </a:xfrm>
          <a:prstGeom prst="parallelogram">
            <a:avLst>
              <a:gd name="adj" fmla="val 43037"/>
            </a:avLst>
          </a:prstGeom>
          <a:solidFill>
            <a:schemeClr val="bg1">
              <a:lumMod val="50000"/>
              <a:alpha val="89804"/>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Google Shape;96;p2">
            <a:extLst>
              <a:ext uri="{FF2B5EF4-FFF2-40B4-BE49-F238E27FC236}">
                <a16:creationId xmlns:a16="http://schemas.microsoft.com/office/drawing/2014/main" id="{35928AE3-2ED7-770F-6B38-DBC361706703}"/>
              </a:ext>
            </a:extLst>
          </p:cNvPr>
          <p:cNvSpPr txBox="1">
            <a:spLocks/>
          </p:cNvSpPr>
          <p:nvPr/>
        </p:nvSpPr>
        <p:spPr>
          <a:xfrm>
            <a:off x="838199" y="365125"/>
            <a:ext cx="8950569" cy="1325563"/>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lvl="0">
              <a:lnSpc>
                <a:spcPct val="90000"/>
              </a:lnSpc>
              <a:buSzPts val="4400"/>
              <a:defRPr/>
            </a:pPr>
            <a:r>
              <a:rPr lang="en-US" sz="4400" dirty="0">
                <a:latin typeface="Calibri" panose="020F0502020204030204" pitchFamily="34" charset="0"/>
                <a:cs typeface="Calibri" panose="020F0502020204030204" pitchFamily="34" charset="0"/>
              </a:rPr>
              <a:t>Using the AccelRR8 Framework</a:t>
            </a:r>
            <a:br>
              <a:rPr lang="en-US" sz="4400" dirty="0">
                <a:latin typeface="Calibri" panose="020F0502020204030204" pitchFamily="34" charset="0"/>
                <a:cs typeface="Calibri" panose="020F0502020204030204" pitchFamily="34" charset="0"/>
              </a:rPr>
            </a:br>
            <a:r>
              <a:rPr lang="en-US" sz="4400" dirty="0">
                <a:latin typeface="Calibri" panose="020F0502020204030204" pitchFamily="34" charset="0"/>
                <a:cs typeface="Calibri" panose="020F0502020204030204" pitchFamily="34" charset="0"/>
              </a:rPr>
              <a:t>to grow value exponentially</a:t>
            </a:r>
          </a:p>
        </p:txBody>
      </p:sp>
      <p:pic>
        <p:nvPicPr>
          <p:cNvPr id="6" name="Picture 5">
            <a:extLst>
              <a:ext uri="{FF2B5EF4-FFF2-40B4-BE49-F238E27FC236}">
                <a16:creationId xmlns:a16="http://schemas.microsoft.com/office/drawing/2014/main" id="{53F752B8-A28F-E2C6-ED1D-FA130060BC45}"/>
              </a:ext>
            </a:extLst>
          </p:cNvPr>
          <p:cNvPicPr>
            <a:picLocks noChangeAspect="1"/>
          </p:cNvPicPr>
          <p:nvPr/>
        </p:nvPicPr>
        <p:blipFill>
          <a:blip r:embed="rId4"/>
          <a:stretch>
            <a:fillRect/>
          </a:stretch>
        </p:blipFill>
        <p:spPr>
          <a:xfrm>
            <a:off x="450194" y="2587051"/>
            <a:ext cx="4757057" cy="2565080"/>
          </a:xfrm>
          <a:prstGeom prst="rect">
            <a:avLst/>
          </a:prstGeom>
          <a:solidFill>
            <a:schemeClr val="bg1"/>
          </a:solidFill>
        </p:spPr>
      </p:pic>
      <p:graphicFrame>
        <p:nvGraphicFramePr>
          <p:cNvPr id="15" name="Table 14">
            <a:extLst>
              <a:ext uri="{FF2B5EF4-FFF2-40B4-BE49-F238E27FC236}">
                <a16:creationId xmlns:a16="http://schemas.microsoft.com/office/drawing/2014/main" id="{98C7FD5D-7490-E825-7371-E27BE00A74A8}"/>
              </a:ext>
            </a:extLst>
          </p:cNvPr>
          <p:cNvGraphicFramePr>
            <a:graphicFrameLocks noGrp="1"/>
          </p:cNvGraphicFramePr>
          <p:nvPr/>
        </p:nvGraphicFramePr>
        <p:xfrm>
          <a:off x="5919435" y="2031814"/>
          <a:ext cx="6148368" cy="3779615"/>
        </p:xfrm>
        <a:graphic>
          <a:graphicData uri="http://schemas.openxmlformats.org/drawingml/2006/table">
            <a:tbl>
              <a:tblPr firstRow="1" bandRow="1">
                <a:tableStyleId>{5940675A-B579-460E-94D1-54222C63F5DA}</a:tableStyleId>
              </a:tblPr>
              <a:tblGrid>
                <a:gridCol w="6148368">
                  <a:extLst>
                    <a:ext uri="{9D8B030D-6E8A-4147-A177-3AD203B41FA5}">
                      <a16:colId xmlns:a16="http://schemas.microsoft.com/office/drawing/2014/main" val="20127695"/>
                    </a:ext>
                  </a:extLst>
                </a:gridCol>
              </a:tblGrid>
              <a:tr h="1000635">
                <a:tc>
                  <a:txBody>
                    <a:bodyPr/>
                    <a:lstStyle/>
                    <a:p>
                      <a:pPr marL="285750" marR="0" lvl="0" indent="-285750" algn="l" defTabSz="914400" rtl="0" eaLnBrk="1" fontAlgn="auto" latinLnBrk="0" hangingPunct="1">
                        <a:lnSpc>
                          <a:spcPct val="100000"/>
                        </a:lnSpc>
                        <a:spcBef>
                          <a:spcPts val="0"/>
                        </a:spcBef>
                        <a:spcAft>
                          <a:spcPts val="0"/>
                        </a:spcAft>
                        <a:buClr>
                          <a:srgbClr val="000000"/>
                        </a:buClr>
                        <a:buSzTx/>
                        <a:buFont typeface="Wingdings" pitchFamily="2" charset="2"/>
                        <a:buChar char="q"/>
                        <a:tabLst/>
                        <a:defRPr/>
                      </a:pPr>
                      <a:endParaRPr kumimoji="0" lang="en-US" sz="1400" i="0" u="none" strike="noStrike" kern="1200" cap="none" spc="0" normalizeH="0" baseline="0" noProof="0" dirty="0">
                        <a:ln>
                          <a:noFill/>
                        </a:ln>
                        <a:solidFill>
                          <a:schemeClr val="tx1"/>
                        </a:solidFill>
                        <a:effectLst/>
                        <a:uLnTx/>
                        <a:uFillTx/>
                        <a:latin typeface="Aptos" panose="02110004020202020204"/>
                        <a:ea typeface="+mn-ea"/>
                        <a:cs typeface="Arial"/>
                        <a:sym typeface="Arial"/>
                      </a:endParaRPr>
                    </a:p>
                  </a:txBody>
                  <a:tcPr anchor="ctr">
                    <a:lnL w="12700" cap="flat" cmpd="sng" algn="ctr">
                      <a:no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872717509"/>
                  </a:ext>
                </a:extLst>
              </a:tr>
              <a:tr h="723122">
                <a:tc>
                  <a:txBody>
                    <a:bodyPr/>
                    <a:lstStyle/>
                    <a:p>
                      <a:pPr marL="285750" marR="0" lvl="0" indent="-285750" algn="l" defTabSz="914400" rtl="0" eaLnBrk="1" fontAlgn="auto" latinLnBrk="0" hangingPunct="1">
                        <a:lnSpc>
                          <a:spcPct val="100000"/>
                        </a:lnSpc>
                        <a:spcBef>
                          <a:spcPts val="0"/>
                        </a:spcBef>
                        <a:spcAft>
                          <a:spcPts val="0"/>
                        </a:spcAft>
                        <a:buClr>
                          <a:srgbClr val="000000"/>
                        </a:buClr>
                        <a:buSzTx/>
                        <a:buFont typeface="Wingdings" pitchFamily="2" charset="2"/>
                        <a:buChar char="q"/>
                        <a:tabLst/>
                        <a:defRPr/>
                      </a:pPr>
                      <a:endParaRPr kumimoji="0" lang="en-US" sz="1400" i="0" u="none" strike="noStrike" kern="1200" cap="none" spc="0" normalizeH="0" baseline="0" noProof="0" dirty="0">
                        <a:ln>
                          <a:noFill/>
                        </a:ln>
                        <a:solidFill>
                          <a:schemeClr val="tx1"/>
                        </a:solidFill>
                        <a:effectLst/>
                        <a:uLnTx/>
                        <a:uFillTx/>
                        <a:latin typeface="Aptos" panose="02110004020202020204"/>
                        <a:ea typeface="+mn-ea"/>
                        <a:cs typeface="Arial"/>
                        <a:sym typeface="Arial"/>
                      </a:endParaRPr>
                    </a:p>
                  </a:txBody>
                  <a:tcPr anchor="ctr">
                    <a:lnL w="12700" cap="flat" cmpd="sng" algn="ctr">
                      <a:no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089640372"/>
                  </a:ext>
                </a:extLst>
              </a:tr>
              <a:tr h="709666">
                <a:tc>
                  <a:txBody>
                    <a:bodyPr/>
                    <a:lstStyle/>
                    <a:p>
                      <a:pPr marL="285750" indent="-285750">
                        <a:buFont typeface="Wingdings" pitchFamily="2" charset="2"/>
                        <a:buChar char="q"/>
                        <a:tabLst/>
                      </a:pPr>
                      <a:endParaRPr lang="en-US" dirty="0">
                        <a:solidFill>
                          <a:schemeClr val="tx1"/>
                        </a:solidFill>
                      </a:endParaRPr>
                    </a:p>
                  </a:txBody>
                  <a:tcPr anchor="ctr">
                    <a:lnL w="12700" cap="flat" cmpd="sng" algn="ctr">
                      <a:no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047728929"/>
                  </a:ext>
                </a:extLst>
              </a:tr>
              <a:tr h="683579">
                <a:tc>
                  <a:txBody>
                    <a:bodyPr/>
                    <a:lstStyle/>
                    <a:p>
                      <a:pPr marL="285750" indent="-285750">
                        <a:buFont typeface="Wingdings" pitchFamily="2" charset="2"/>
                        <a:buChar char="q"/>
                        <a:tabLst/>
                      </a:pPr>
                      <a:endParaRPr lang="en-US" dirty="0">
                        <a:solidFill>
                          <a:schemeClr val="tx1"/>
                        </a:solidFill>
                      </a:endParaRPr>
                    </a:p>
                  </a:txBody>
                  <a:tcPr anchor="ctr">
                    <a:lnL w="12700" cap="flat" cmpd="sng" algn="ctr">
                      <a:no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321847728"/>
                  </a:ext>
                </a:extLst>
              </a:tr>
              <a:tr h="662613">
                <a:tc>
                  <a:txBody>
                    <a:bodyPr/>
                    <a:lstStyle/>
                    <a:p>
                      <a:pPr marL="285750" indent="-285750">
                        <a:buFont typeface="Wingdings" pitchFamily="2" charset="2"/>
                        <a:buChar char="q"/>
                        <a:tabLst/>
                      </a:pPr>
                      <a:endParaRPr lang="en-US" dirty="0">
                        <a:solidFill>
                          <a:schemeClr val="tx1"/>
                        </a:solidFill>
                      </a:endParaRPr>
                    </a:p>
                  </a:txBody>
                  <a:tcPr anchor="ctr">
                    <a:lnL w="12700" cap="flat" cmpd="sng" algn="ctr">
                      <a:no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735022269"/>
                  </a:ext>
                </a:extLst>
              </a:tr>
            </a:tbl>
          </a:graphicData>
        </a:graphic>
      </p:graphicFrame>
      <p:cxnSp>
        <p:nvCxnSpPr>
          <p:cNvPr id="33" name="Straight Connector 32">
            <a:extLst>
              <a:ext uri="{FF2B5EF4-FFF2-40B4-BE49-F238E27FC236}">
                <a16:creationId xmlns:a16="http://schemas.microsoft.com/office/drawing/2014/main" id="{C6282368-C4D7-EF1E-29AD-079231D45687}"/>
              </a:ext>
            </a:extLst>
          </p:cNvPr>
          <p:cNvCxnSpPr>
            <a:cxnSpLocks/>
          </p:cNvCxnSpPr>
          <p:nvPr/>
        </p:nvCxnSpPr>
        <p:spPr>
          <a:xfrm flipV="1">
            <a:off x="5110587" y="2030795"/>
            <a:ext cx="805107" cy="99927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A1D1CF51-12FB-E27C-3E41-5215B07E3B97}"/>
              </a:ext>
            </a:extLst>
          </p:cNvPr>
          <p:cNvCxnSpPr>
            <a:cxnSpLocks/>
          </p:cNvCxnSpPr>
          <p:nvPr/>
        </p:nvCxnSpPr>
        <p:spPr>
          <a:xfrm flipV="1">
            <a:off x="5110587" y="3030070"/>
            <a:ext cx="805107" cy="37795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4BA3FEEC-E1F2-AD92-A34E-2A0FA5BCA988}"/>
              </a:ext>
            </a:extLst>
          </p:cNvPr>
          <p:cNvCxnSpPr>
            <a:cxnSpLocks/>
          </p:cNvCxnSpPr>
          <p:nvPr/>
        </p:nvCxnSpPr>
        <p:spPr>
          <a:xfrm>
            <a:off x="5110587" y="3757977"/>
            <a:ext cx="805106"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4B169EF1-44F3-C74D-3088-68514727EBE3}"/>
              </a:ext>
            </a:extLst>
          </p:cNvPr>
          <p:cNvCxnSpPr>
            <a:cxnSpLocks/>
          </p:cNvCxnSpPr>
          <p:nvPr/>
        </p:nvCxnSpPr>
        <p:spPr>
          <a:xfrm>
            <a:off x="5110587" y="4119222"/>
            <a:ext cx="805107" cy="34679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8FF86E01-5BA8-30BB-A5AE-E634ADDD8E9B}"/>
              </a:ext>
            </a:extLst>
          </p:cNvPr>
          <p:cNvCxnSpPr>
            <a:cxnSpLocks/>
          </p:cNvCxnSpPr>
          <p:nvPr/>
        </p:nvCxnSpPr>
        <p:spPr>
          <a:xfrm>
            <a:off x="5110587" y="4463533"/>
            <a:ext cx="805107" cy="68610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139D7E03-4F5B-FD6C-D99E-A98DECC83D4C}"/>
              </a:ext>
            </a:extLst>
          </p:cNvPr>
          <p:cNvCxnSpPr>
            <a:cxnSpLocks/>
          </p:cNvCxnSpPr>
          <p:nvPr/>
        </p:nvCxnSpPr>
        <p:spPr>
          <a:xfrm>
            <a:off x="5110587" y="4830422"/>
            <a:ext cx="805107" cy="98118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786B4F66-111C-2134-9030-87E2E828413D}"/>
              </a:ext>
            </a:extLst>
          </p:cNvPr>
          <p:cNvSpPr txBox="1"/>
          <p:nvPr/>
        </p:nvSpPr>
        <p:spPr>
          <a:xfrm>
            <a:off x="5867986" y="1605488"/>
            <a:ext cx="4882179" cy="307777"/>
          </a:xfrm>
          <a:prstGeom prst="rect">
            <a:avLst/>
          </a:prstGeom>
          <a:noFill/>
        </p:spPr>
        <p:txBody>
          <a:bodyPr wrap="square">
            <a:spAutoFit/>
          </a:bodyPr>
          <a:lstStyle/>
          <a:p>
            <a:pPr algn="ctr"/>
            <a:r>
              <a:rPr kumimoji="0" lang="en-US" sz="1400" b="1" i="0" u="none" strike="noStrike" kern="1200" cap="none" spc="0" normalizeH="0" baseline="0" noProof="0" dirty="0">
                <a:ln>
                  <a:noFill/>
                </a:ln>
                <a:solidFill>
                  <a:schemeClr val="tx1"/>
                </a:solidFill>
                <a:effectLst/>
                <a:uLnTx/>
                <a:uFillTx/>
                <a:latin typeface="Aptos" panose="02110004020202020204"/>
                <a:ea typeface="+mn-ea"/>
                <a:cs typeface="Arial"/>
                <a:sym typeface="Arial"/>
              </a:rPr>
              <a:t>Growing a change initiative’s value exponentially</a:t>
            </a:r>
            <a:endParaRPr lang="en-US" dirty="0">
              <a:solidFill>
                <a:schemeClr val="tx1"/>
              </a:solidFill>
            </a:endParaRPr>
          </a:p>
        </p:txBody>
      </p:sp>
      <p:sp>
        <p:nvSpPr>
          <p:cNvPr id="4" name="Parallelogram 3">
            <a:extLst>
              <a:ext uri="{FF2B5EF4-FFF2-40B4-BE49-F238E27FC236}">
                <a16:creationId xmlns:a16="http://schemas.microsoft.com/office/drawing/2014/main" id="{58906F2E-557D-BD96-9D37-6E00CB7A6031}"/>
              </a:ext>
            </a:extLst>
          </p:cNvPr>
          <p:cNvSpPr/>
          <p:nvPr/>
        </p:nvSpPr>
        <p:spPr>
          <a:xfrm flipH="1">
            <a:off x="5915692" y="1987461"/>
            <a:ext cx="3116989" cy="4254313"/>
          </a:xfrm>
          <a:prstGeom prst="parallelogram">
            <a:avLst/>
          </a:prstGeom>
          <a:solidFill>
            <a:srgbClr val="00B050">
              <a:alpha val="89804"/>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DA7D26E4-DED7-9650-3FA3-4C2F1CAF4AC0}"/>
              </a:ext>
            </a:extLst>
          </p:cNvPr>
          <p:cNvSpPr txBox="1"/>
          <p:nvPr/>
        </p:nvSpPr>
        <p:spPr>
          <a:xfrm>
            <a:off x="6025624" y="2286537"/>
            <a:ext cx="1345240" cy="430887"/>
          </a:xfrm>
          <a:prstGeom prst="rect">
            <a:avLst/>
          </a:prstGeom>
          <a:noFill/>
        </p:spPr>
        <p:txBody>
          <a:bodyPr wrap="none" rtlCol="0">
            <a:spAutoFit/>
          </a:bodyPr>
          <a:lstStyle/>
          <a:p>
            <a:r>
              <a:rPr lang="en-US" sz="1100" dirty="0">
                <a:solidFill>
                  <a:schemeClr val="bg1"/>
                </a:solidFill>
              </a:rPr>
              <a:t>Develop concepts </a:t>
            </a:r>
            <a:br>
              <a:rPr lang="en-US" sz="1100" dirty="0">
                <a:solidFill>
                  <a:schemeClr val="bg1"/>
                </a:solidFill>
              </a:rPr>
            </a:br>
            <a:r>
              <a:rPr lang="en-US" sz="1100" dirty="0">
                <a:solidFill>
                  <a:schemeClr val="bg1"/>
                </a:solidFill>
              </a:rPr>
              <a:t>that </a:t>
            </a:r>
            <a:r>
              <a:rPr lang="en-US" sz="1100" b="1" i="1" dirty="0">
                <a:solidFill>
                  <a:schemeClr val="bg1"/>
                </a:solidFill>
              </a:rPr>
              <a:t>resonate</a:t>
            </a:r>
            <a:r>
              <a:rPr lang="en-US" sz="1100" dirty="0">
                <a:solidFill>
                  <a:schemeClr val="bg1"/>
                </a:solidFill>
              </a:rPr>
              <a:t> </a:t>
            </a:r>
          </a:p>
        </p:txBody>
      </p:sp>
      <p:sp>
        <p:nvSpPr>
          <p:cNvPr id="12" name="TextBox 11">
            <a:extLst>
              <a:ext uri="{FF2B5EF4-FFF2-40B4-BE49-F238E27FC236}">
                <a16:creationId xmlns:a16="http://schemas.microsoft.com/office/drawing/2014/main" id="{FC6ACD19-041D-A5BE-3C45-AD533F2D9D80}"/>
              </a:ext>
            </a:extLst>
          </p:cNvPr>
          <p:cNvSpPr txBox="1"/>
          <p:nvPr/>
        </p:nvSpPr>
        <p:spPr>
          <a:xfrm>
            <a:off x="6184703" y="3150973"/>
            <a:ext cx="1595309" cy="430887"/>
          </a:xfrm>
          <a:prstGeom prst="rect">
            <a:avLst/>
          </a:prstGeom>
          <a:noFill/>
        </p:spPr>
        <p:txBody>
          <a:bodyPr wrap="none" rtlCol="0">
            <a:spAutoFit/>
          </a:bodyPr>
          <a:lstStyle/>
          <a:p>
            <a:r>
              <a:rPr lang="en-US" sz="1100" b="1" i="1" dirty="0">
                <a:solidFill>
                  <a:schemeClr val="bg1"/>
                </a:solidFill>
              </a:rPr>
              <a:t>Reach</a:t>
            </a:r>
            <a:r>
              <a:rPr lang="en-US" sz="1100" dirty="0">
                <a:solidFill>
                  <a:schemeClr val="bg1"/>
                </a:solidFill>
              </a:rPr>
              <a:t> new customers</a:t>
            </a:r>
            <a:br>
              <a:rPr lang="en-US" sz="1100" dirty="0">
                <a:solidFill>
                  <a:schemeClr val="bg1"/>
                </a:solidFill>
              </a:rPr>
            </a:br>
            <a:r>
              <a:rPr lang="en-US" sz="1100" dirty="0">
                <a:solidFill>
                  <a:schemeClr val="bg1"/>
                </a:solidFill>
              </a:rPr>
              <a:t>and supporters</a:t>
            </a:r>
          </a:p>
        </p:txBody>
      </p:sp>
      <p:sp>
        <p:nvSpPr>
          <p:cNvPr id="18" name="TextBox 17">
            <a:extLst>
              <a:ext uri="{FF2B5EF4-FFF2-40B4-BE49-F238E27FC236}">
                <a16:creationId xmlns:a16="http://schemas.microsoft.com/office/drawing/2014/main" id="{90E29748-BCCD-E5CE-357B-5520EDCE566D}"/>
              </a:ext>
            </a:extLst>
          </p:cNvPr>
          <p:cNvSpPr txBox="1"/>
          <p:nvPr/>
        </p:nvSpPr>
        <p:spPr>
          <a:xfrm>
            <a:off x="6322218" y="3869591"/>
            <a:ext cx="1579278" cy="430887"/>
          </a:xfrm>
          <a:prstGeom prst="rect">
            <a:avLst/>
          </a:prstGeom>
          <a:noFill/>
        </p:spPr>
        <p:txBody>
          <a:bodyPr wrap="none" rtlCol="0">
            <a:spAutoFit/>
          </a:bodyPr>
          <a:lstStyle/>
          <a:p>
            <a:r>
              <a:rPr lang="en-US" sz="1100" dirty="0">
                <a:solidFill>
                  <a:schemeClr val="bg1"/>
                </a:solidFill>
              </a:rPr>
              <a:t>Build </a:t>
            </a:r>
            <a:r>
              <a:rPr lang="en-US" sz="1100" b="1" i="1" dirty="0">
                <a:solidFill>
                  <a:schemeClr val="bg1"/>
                </a:solidFill>
              </a:rPr>
              <a:t>momentum</a:t>
            </a:r>
            <a:br>
              <a:rPr lang="en-US" sz="1100" b="1" i="1" dirty="0">
                <a:solidFill>
                  <a:schemeClr val="bg1"/>
                </a:solidFill>
              </a:rPr>
            </a:br>
            <a:r>
              <a:rPr lang="en-US" sz="1100" dirty="0">
                <a:solidFill>
                  <a:schemeClr val="bg1"/>
                </a:solidFill>
              </a:rPr>
              <a:t>with ideas that go viral</a:t>
            </a:r>
          </a:p>
        </p:txBody>
      </p:sp>
      <p:sp>
        <p:nvSpPr>
          <p:cNvPr id="19" name="TextBox 18">
            <a:extLst>
              <a:ext uri="{FF2B5EF4-FFF2-40B4-BE49-F238E27FC236}">
                <a16:creationId xmlns:a16="http://schemas.microsoft.com/office/drawing/2014/main" id="{423609F2-F6A5-CDD8-EA7D-266AC3ACDAA2}"/>
              </a:ext>
            </a:extLst>
          </p:cNvPr>
          <p:cNvSpPr txBox="1"/>
          <p:nvPr/>
        </p:nvSpPr>
        <p:spPr>
          <a:xfrm>
            <a:off x="6468057" y="4562121"/>
            <a:ext cx="1601721" cy="430887"/>
          </a:xfrm>
          <a:prstGeom prst="rect">
            <a:avLst/>
          </a:prstGeom>
          <a:noFill/>
        </p:spPr>
        <p:txBody>
          <a:bodyPr wrap="none" rtlCol="0">
            <a:spAutoFit/>
          </a:bodyPr>
          <a:lstStyle/>
          <a:p>
            <a:r>
              <a:rPr lang="en-US" sz="1100" dirty="0">
                <a:solidFill>
                  <a:schemeClr val="bg1"/>
                </a:solidFill>
              </a:rPr>
              <a:t>Ramp up </a:t>
            </a:r>
            <a:r>
              <a:rPr lang="en-US" sz="1100" b="1" i="1" dirty="0">
                <a:solidFill>
                  <a:schemeClr val="bg1"/>
                </a:solidFill>
              </a:rPr>
              <a:t>productivity</a:t>
            </a:r>
            <a:br>
              <a:rPr lang="en-US" sz="1100" b="1" i="1" dirty="0">
                <a:solidFill>
                  <a:schemeClr val="bg1"/>
                </a:solidFill>
              </a:rPr>
            </a:br>
            <a:r>
              <a:rPr lang="en-US" sz="1100" dirty="0">
                <a:solidFill>
                  <a:schemeClr val="bg1"/>
                </a:solidFill>
              </a:rPr>
              <a:t>across teams of teams</a:t>
            </a:r>
          </a:p>
        </p:txBody>
      </p:sp>
      <p:sp>
        <p:nvSpPr>
          <p:cNvPr id="27" name="Parallelogram 26">
            <a:extLst>
              <a:ext uri="{FF2B5EF4-FFF2-40B4-BE49-F238E27FC236}">
                <a16:creationId xmlns:a16="http://schemas.microsoft.com/office/drawing/2014/main" id="{5DD75B8A-97BB-E107-BEDD-55B71231FA56}"/>
              </a:ext>
            </a:extLst>
          </p:cNvPr>
          <p:cNvSpPr/>
          <p:nvPr/>
        </p:nvSpPr>
        <p:spPr>
          <a:xfrm flipH="1">
            <a:off x="8457003" y="1987461"/>
            <a:ext cx="3116989" cy="4254313"/>
          </a:xfrm>
          <a:prstGeom prst="parallelogram">
            <a:avLst/>
          </a:prstGeom>
          <a:solidFill>
            <a:srgbClr val="F2F2F2">
              <a:alpha val="89804"/>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TextBox 27">
            <a:extLst>
              <a:ext uri="{FF2B5EF4-FFF2-40B4-BE49-F238E27FC236}">
                <a16:creationId xmlns:a16="http://schemas.microsoft.com/office/drawing/2014/main" id="{6CE217E8-629D-40BD-3BD4-0A589055AB3E}"/>
              </a:ext>
            </a:extLst>
          </p:cNvPr>
          <p:cNvSpPr txBox="1"/>
          <p:nvPr/>
        </p:nvSpPr>
        <p:spPr>
          <a:xfrm>
            <a:off x="8548162" y="2286537"/>
            <a:ext cx="2228495" cy="430887"/>
          </a:xfrm>
          <a:prstGeom prst="rect">
            <a:avLst/>
          </a:prstGeom>
          <a:noFill/>
        </p:spPr>
        <p:txBody>
          <a:bodyPr wrap="none" rtlCol="0">
            <a:spAutoFit/>
          </a:bodyPr>
          <a:lstStyle/>
          <a:p>
            <a:r>
              <a:rPr lang="en-US" sz="1100" dirty="0">
                <a:solidFill>
                  <a:schemeClr val="tx1"/>
                </a:solidFill>
              </a:rPr>
              <a:t>Lean </a:t>
            </a:r>
            <a:r>
              <a:rPr lang="en-US" sz="1100" b="1" dirty="0">
                <a:solidFill>
                  <a:srgbClr val="00B050"/>
                </a:solidFill>
              </a:rPr>
              <a:t>product </a:t>
            </a:r>
            <a:r>
              <a:rPr lang="en-US" sz="1100" dirty="0">
                <a:solidFill>
                  <a:schemeClr val="tx1"/>
                </a:solidFill>
              </a:rPr>
              <a:t>management gets</a:t>
            </a:r>
            <a:br>
              <a:rPr lang="en-US" sz="1100" dirty="0">
                <a:solidFill>
                  <a:schemeClr val="tx1"/>
                </a:solidFill>
              </a:rPr>
            </a:br>
            <a:r>
              <a:rPr lang="en-US" sz="1100" dirty="0">
                <a:solidFill>
                  <a:schemeClr val="tx1"/>
                </a:solidFill>
              </a:rPr>
              <a:t>value and feedback flowing</a:t>
            </a:r>
          </a:p>
        </p:txBody>
      </p:sp>
      <p:sp>
        <p:nvSpPr>
          <p:cNvPr id="29" name="TextBox 28">
            <a:extLst>
              <a:ext uri="{FF2B5EF4-FFF2-40B4-BE49-F238E27FC236}">
                <a16:creationId xmlns:a16="http://schemas.microsoft.com/office/drawing/2014/main" id="{F209B5C3-9E75-1E52-0686-112DCEAC3451}"/>
              </a:ext>
            </a:extLst>
          </p:cNvPr>
          <p:cNvSpPr txBox="1"/>
          <p:nvPr/>
        </p:nvSpPr>
        <p:spPr>
          <a:xfrm>
            <a:off x="8701329" y="3150973"/>
            <a:ext cx="1978427" cy="430887"/>
          </a:xfrm>
          <a:prstGeom prst="rect">
            <a:avLst/>
          </a:prstGeom>
          <a:noFill/>
        </p:spPr>
        <p:txBody>
          <a:bodyPr wrap="none" rtlCol="0">
            <a:spAutoFit/>
          </a:bodyPr>
          <a:lstStyle/>
          <a:p>
            <a:r>
              <a:rPr lang="en-US" sz="1100" b="1" dirty="0">
                <a:solidFill>
                  <a:srgbClr val="00B050"/>
                </a:solidFill>
              </a:rPr>
              <a:t>Platforms</a:t>
            </a:r>
            <a:r>
              <a:rPr lang="en-US" sz="1100" dirty="0">
                <a:solidFill>
                  <a:schemeClr val="tx1"/>
                </a:solidFill>
              </a:rPr>
              <a:t> link collaborators</a:t>
            </a:r>
            <a:br>
              <a:rPr lang="en-US" sz="1100" dirty="0">
                <a:solidFill>
                  <a:schemeClr val="tx1"/>
                </a:solidFill>
              </a:rPr>
            </a:br>
            <a:r>
              <a:rPr lang="en-US" sz="1100" dirty="0">
                <a:solidFill>
                  <a:schemeClr val="tx1"/>
                </a:solidFill>
              </a:rPr>
              <a:t>across silos and ecosystems</a:t>
            </a:r>
          </a:p>
        </p:txBody>
      </p:sp>
      <p:sp>
        <p:nvSpPr>
          <p:cNvPr id="30" name="TextBox 29">
            <a:extLst>
              <a:ext uri="{FF2B5EF4-FFF2-40B4-BE49-F238E27FC236}">
                <a16:creationId xmlns:a16="http://schemas.microsoft.com/office/drawing/2014/main" id="{387DA0C3-2E81-FC78-6684-396DE4EF5FC0}"/>
              </a:ext>
            </a:extLst>
          </p:cNvPr>
          <p:cNvSpPr txBox="1"/>
          <p:nvPr/>
        </p:nvSpPr>
        <p:spPr>
          <a:xfrm>
            <a:off x="8864013" y="3869591"/>
            <a:ext cx="2157963" cy="430887"/>
          </a:xfrm>
          <a:prstGeom prst="rect">
            <a:avLst/>
          </a:prstGeom>
          <a:noFill/>
        </p:spPr>
        <p:txBody>
          <a:bodyPr wrap="none" rtlCol="0">
            <a:spAutoFit/>
          </a:bodyPr>
          <a:lstStyle/>
          <a:p>
            <a:r>
              <a:rPr lang="en-US" sz="1100" b="1" dirty="0">
                <a:solidFill>
                  <a:srgbClr val="00B050"/>
                </a:solidFill>
              </a:rPr>
              <a:t>Participant</a:t>
            </a:r>
            <a:r>
              <a:rPr lang="en-US" sz="1100" dirty="0">
                <a:solidFill>
                  <a:schemeClr val="tx1"/>
                </a:solidFill>
              </a:rPr>
              <a:t> rewards encourage</a:t>
            </a:r>
            <a:br>
              <a:rPr lang="en-US" sz="1100" dirty="0">
                <a:solidFill>
                  <a:schemeClr val="tx1"/>
                </a:solidFill>
              </a:rPr>
            </a:br>
            <a:r>
              <a:rPr lang="en-US" sz="1100" dirty="0">
                <a:solidFill>
                  <a:schemeClr val="tx1"/>
                </a:solidFill>
              </a:rPr>
              <a:t>fearless sharing of viral ideas</a:t>
            </a:r>
          </a:p>
        </p:txBody>
      </p:sp>
      <p:sp>
        <p:nvSpPr>
          <p:cNvPr id="31" name="TextBox 30">
            <a:extLst>
              <a:ext uri="{FF2B5EF4-FFF2-40B4-BE49-F238E27FC236}">
                <a16:creationId xmlns:a16="http://schemas.microsoft.com/office/drawing/2014/main" id="{56B3E74D-7D1A-3566-F23F-923B4AFC3E51}"/>
              </a:ext>
            </a:extLst>
          </p:cNvPr>
          <p:cNvSpPr txBox="1"/>
          <p:nvPr/>
        </p:nvSpPr>
        <p:spPr>
          <a:xfrm>
            <a:off x="8973436" y="4562121"/>
            <a:ext cx="2079415" cy="430887"/>
          </a:xfrm>
          <a:prstGeom prst="rect">
            <a:avLst/>
          </a:prstGeom>
          <a:noFill/>
        </p:spPr>
        <p:txBody>
          <a:bodyPr wrap="none" rtlCol="0">
            <a:spAutoFit/>
          </a:bodyPr>
          <a:lstStyle/>
          <a:p>
            <a:r>
              <a:rPr lang="en-US" sz="1100" b="1" dirty="0">
                <a:solidFill>
                  <a:srgbClr val="00B050"/>
                </a:solidFill>
              </a:rPr>
              <a:t>Practitioners </a:t>
            </a:r>
            <a:r>
              <a:rPr lang="en-US" sz="1100" dirty="0">
                <a:solidFill>
                  <a:schemeClr val="tx1"/>
                </a:solidFill>
              </a:rPr>
              <a:t>of agile-at-scale</a:t>
            </a:r>
            <a:br>
              <a:rPr lang="en-US" sz="1100" dirty="0">
                <a:solidFill>
                  <a:schemeClr val="tx1"/>
                </a:solidFill>
              </a:rPr>
            </a:br>
            <a:r>
              <a:rPr lang="en-US" sz="1100" dirty="0">
                <a:solidFill>
                  <a:schemeClr val="tx1"/>
                </a:solidFill>
              </a:rPr>
              <a:t>keep teams of teams aligned </a:t>
            </a:r>
            <a:endParaRPr lang="en-US" sz="1100" b="1" dirty="0">
              <a:solidFill>
                <a:srgbClr val="00B050"/>
              </a:solidFill>
            </a:endParaRPr>
          </a:p>
        </p:txBody>
      </p:sp>
      <p:sp>
        <p:nvSpPr>
          <p:cNvPr id="32" name="TextBox 31">
            <a:extLst>
              <a:ext uri="{FF2B5EF4-FFF2-40B4-BE49-F238E27FC236}">
                <a16:creationId xmlns:a16="http://schemas.microsoft.com/office/drawing/2014/main" id="{1FCC3672-F296-5367-C617-B1A414BFE3B6}"/>
              </a:ext>
            </a:extLst>
          </p:cNvPr>
          <p:cNvSpPr txBox="1"/>
          <p:nvPr/>
        </p:nvSpPr>
        <p:spPr>
          <a:xfrm>
            <a:off x="9087539" y="5235904"/>
            <a:ext cx="2380780" cy="430887"/>
          </a:xfrm>
          <a:prstGeom prst="rect">
            <a:avLst/>
          </a:prstGeom>
          <a:noFill/>
        </p:spPr>
        <p:txBody>
          <a:bodyPr wrap="none" rtlCol="0">
            <a:spAutoFit/>
          </a:bodyPr>
          <a:lstStyle/>
          <a:p>
            <a:r>
              <a:rPr lang="en-US" sz="1100" dirty="0">
                <a:solidFill>
                  <a:schemeClr val="tx1"/>
                </a:solidFill>
              </a:rPr>
              <a:t>… develop </a:t>
            </a:r>
            <a:r>
              <a:rPr lang="en-US" sz="1100" u="sng" dirty="0">
                <a:solidFill>
                  <a:schemeClr val="tx1"/>
                </a:solidFill>
              </a:rPr>
              <a:t>AI</a:t>
            </a:r>
            <a:r>
              <a:rPr lang="en-US" sz="1100" dirty="0">
                <a:solidFill>
                  <a:schemeClr val="tx1"/>
                </a:solidFill>
              </a:rPr>
              <a:t> skills and experience</a:t>
            </a:r>
            <a:br>
              <a:rPr lang="en-US" sz="1100" dirty="0">
                <a:solidFill>
                  <a:schemeClr val="tx1"/>
                </a:solidFill>
              </a:rPr>
            </a:br>
            <a:r>
              <a:rPr lang="en-US" sz="1100" dirty="0">
                <a:solidFill>
                  <a:schemeClr val="tx1"/>
                </a:solidFill>
              </a:rPr>
              <a:t>to climb to new heights …</a:t>
            </a:r>
          </a:p>
        </p:txBody>
      </p:sp>
      <p:sp>
        <p:nvSpPr>
          <p:cNvPr id="36" name="Parallelogram 35">
            <a:extLst>
              <a:ext uri="{FF2B5EF4-FFF2-40B4-BE49-F238E27FC236}">
                <a16:creationId xmlns:a16="http://schemas.microsoft.com/office/drawing/2014/main" id="{58E9F775-18BF-B02C-7C3E-7BE40939A305}"/>
              </a:ext>
            </a:extLst>
          </p:cNvPr>
          <p:cNvSpPr/>
          <p:nvPr/>
        </p:nvSpPr>
        <p:spPr>
          <a:xfrm flipH="1">
            <a:off x="6698062" y="6337190"/>
            <a:ext cx="2390277" cy="190047"/>
          </a:xfrm>
          <a:prstGeom prst="parallelogram">
            <a:avLst/>
          </a:prstGeom>
          <a:solidFill>
            <a:schemeClr val="tx1">
              <a:alpha val="89804"/>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b="1" dirty="0"/>
              <a:t>Launch</a:t>
            </a:r>
          </a:p>
        </p:txBody>
      </p:sp>
      <p:sp>
        <p:nvSpPr>
          <p:cNvPr id="37" name="Parallelogram 36">
            <a:extLst>
              <a:ext uri="{FF2B5EF4-FFF2-40B4-BE49-F238E27FC236}">
                <a16:creationId xmlns:a16="http://schemas.microsoft.com/office/drawing/2014/main" id="{D9C1BC28-356A-7F0D-9596-7CC4021AC545}"/>
              </a:ext>
            </a:extLst>
          </p:cNvPr>
          <p:cNvSpPr/>
          <p:nvPr/>
        </p:nvSpPr>
        <p:spPr>
          <a:xfrm flipH="1">
            <a:off x="9258382" y="6337190"/>
            <a:ext cx="2390277" cy="190047"/>
          </a:xfrm>
          <a:prstGeom prst="parallelogram">
            <a:avLst/>
          </a:prstGeom>
          <a:solidFill>
            <a:schemeClr val="tx1">
              <a:alpha val="89804"/>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b="1" dirty="0"/>
              <a:t>Climb / Scale</a:t>
            </a:r>
          </a:p>
        </p:txBody>
      </p:sp>
      <p:sp>
        <p:nvSpPr>
          <p:cNvPr id="40" name="Rectangle 39">
            <a:extLst>
              <a:ext uri="{FF2B5EF4-FFF2-40B4-BE49-F238E27FC236}">
                <a16:creationId xmlns:a16="http://schemas.microsoft.com/office/drawing/2014/main" id="{B20089B3-788E-41E2-6DBF-86801DF169D8}"/>
              </a:ext>
            </a:extLst>
          </p:cNvPr>
          <p:cNvSpPr/>
          <p:nvPr/>
        </p:nvSpPr>
        <p:spPr>
          <a:xfrm>
            <a:off x="11902559" y="1987461"/>
            <a:ext cx="1493433" cy="434972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TextBox 41">
            <a:extLst>
              <a:ext uri="{FF2B5EF4-FFF2-40B4-BE49-F238E27FC236}">
                <a16:creationId xmlns:a16="http://schemas.microsoft.com/office/drawing/2014/main" id="{6AAE5973-91DE-44A8-709F-F038E3D801B2}"/>
              </a:ext>
            </a:extLst>
          </p:cNvPr>
          <p:cNvSpPr txBox="1"/>
          <p:nvPr/>
        </p:nvSpPr>
        <p:spPr>
          <a:xfrm>
            <a:off x="11486564" y="2297604"/>
            <a:ext cx="389850" cy="338554"/>
          </a:xfrm>
          <a:prstGeom prst="rect">
            <a:avLst/>
          </a:prstGeom>
          <a:noFill/>
        </p:spPr>
        <p:txBody>
          <a:bodyPr wrap="none" rtlCol="0">
            <a:spAutoFit/>
          </a:bodyPr>
          <a:lstStyle/>
          <a:p>
            <a:r>
              <a:rPr lang="en-US" sz="1600" b="1" dirty="0">
                <a:solidFill>
                  <a:schemeClr val="bg1"/>
                </a:solidFill>
              </a:rPr>
              <a:t>…</a:t>
            </a:r>
          </a:p>
        </p:txBody>
      </p:sp>
      <p:sp>
        <p:nvSpPr>
          <p:cNvPr id="44" name="TextBox 43">
            <a:extLst>
              <a:ext uri="{FF2B5EF4-FFF2-40B4-BE49-F238E27FC236}">
                <a16:creationId xmlns:a16="http://schemas.microsoft.com/office/drawing/2014/main" id="{2E796014-E223-403A-6DBB-0649DCE6AF6B}"/>
              </a:ext>
            </a:extLst>
          </p:cNvPr>
          <p:cNvSpPr txBox="1"/>
          <p:nvPr/>
        </p:nvSpPr>
        <p:spPr>
          <a:xfrm>
            <a:off x="11486564" y="3175847"/>
            <a:ext cx="389850" cy="338554"/>
          </a:xfrm>
          <a:prstGeom prst="rect">
            <a:avLst/>
          </a:prstGeom>
          <a:noFill/>
        </p:spPr>
        <p:txBody>
          <a:bodyPr wrap="none" rtlCol="0">
            <a:spAutoFit/>
          </a:bodyPr>
          <a:lstStyle/>
          <a:p>
            <a:r>
              <a:rPr lang="en-US" sz="1600" b="1" dirty="0">
                <a:solidFill>
                  <a:schemeClr val="bg1"/>
                </a:solidFill>
              </a:rPr>
              <a:t>…</a:t>
            </a:r>
          </a:p>
        </p:txBody>
      </p:sp>
      <p:sp>
        <p:nvSpPr>
          <p:cNvPr id="46" name="TextBox 45">
            <a:extLst>
              <a:ext uri="{FF2B5EF4-FFF2-40B4-BE49-F238E27FC236}">
                <a16:creationId xmlns:a16="http://schemas.microsoft.com/office/drawing/2014/main" id="{5C56FEC6-5114-BC1D-176F-BDC3E580E722}"/>
              </a:ext>
            </a:extLst>
          </p:cNvPr>
          <p:cNvSpPr txBox="1"/>
          <p:nvPr/>
        </p:nvSpPr>
        <p:spPr>
          <a:xfrm>
            <a:off x="11486564" y="3916511"/>
            <a:ext cx="389850" cy="338554"/>
          </a:xfrm>
          <a:prstGeom prst="rect">
            <a:avLst/>
          </a:prstGeom>
          <a:noFill/>
        </p:spPr>
        <p:txBody>
          <a:bodyPr wrap="none" rtlCol="0">
            <a:spAutoFit/>
          </a:bodyPr>
          <a:lstStyle/>
          <a:p>
            <a:r>
              <a:rPr lang="en-US" sz="1600" b="1" dirty="0">
                <a:solidFill>
                  <a:schemeClr val="bg1"/>
                </a:solidFill>
              </a:rPr>
              <a:t>…</a:t>
            </a:r>
          </a:p>
        </p:txBody>
      </p:sp>
      <p:sp>
        <p:nvSpPr>
          <p:cNvPr id="47" name="TextBox 46">
            <a:extLst>
              <a:ext uri="{FF2B5EF4-FFF2-40B4-BE49-F238E27FC236}">
                <a16:creationId xmlns:a16="http://schemas.microsoft.com/office/drawing/2014/main" id="{C1F7806E-F678-6F9A-45AB-C40DD4F9EEC3}"/>
              </a:ext>
            </a:extLst>
          </p:cNvPr>
          <p:cNvSpPr txBox="1"/>
          <p:nvPr/>
        </p:nvSpPr>
        <p:spPr>
          <a:xfrm>
            <a:off x="11486564" y="4578266"/>
            <a:ext cx="389850" cy="338554"/>
          </a:xfrm>
          <a:prstGeom prst="rect">
            <a:avLst/>
          </a:prstGeom>
          <a:noFill/>
        </p:spPr>
        <p:txBody>
          <a:bodyPr wrap="none" rtlCol="0">
            <a:spAutoFit/>
          </a:bodyPr>
          <a:lstStyle/>
          <a:p>
            <a:r>
              <a:rPr lang="en-US" sz="1600" b="1" dirty="0">
                <a:solidFill>
                  <a:schemeClr val="bg1"/>
                </a:solidFill>
              </a:rPr>
              <a:t>…</a:t>
            </a:r>
          </a:p>
        </p:txBody>
      </p:sp>
      <p:sp>
        <p:nvSpPr>
          <p:cNvPr id="48" name="TextBox 47">
            <a:extLst>
              <a:ext uri="{FF2B5EF4-FFF2-40B4-BE49-F238E27FC236}">
                <a16:creationId xmlns:a16="http://schemas.microsoft.com/office/drawing/2014/main" id="{EA2EC595-904C-AD02-8522-DB06B713F4B0}"/>
              </a:ext>
            </a:extLst>
          </p:cNvPr>
          <p:cNvSpPr txBox="1"/>
          <p:nvPr/>
        </p:nvSpPr>
        <p:spPr>
          <a:xfrm>
            <a:off x="11486564" y="5263118"/>
            <a:ext cx="389850" cy="338554"/>
          </a:xfrm>
          <a:prstGeom prst="rect">
            <a:avLst/>
          </a:prstGeom>
          <a:noFill/>
        </p:spPr>
        <p:txBody>
          <a:bodyPr wrap="none" rtlCol="0">
            <a:spAutoFit/>
          </a:bodyPr>
          <a:lstStyle/>
          <a:p>
            <a:r>
              <a:rPr lang="en-US" sz="1600" b="1" dirty="0">
                <a:solidFill>
                  <a:schemeClr val="bg1"/>
                </a:solidFill>
              </a:rPr>
              <a:t>…</a:t>
            </a:r>
          </a:p>
        </p:txBody>
      </p:sp>
      <p:sp>
        <p:nvSpPr>
          <p:cNvPr id="49" name="Rectangle 48">
            <a:extLst>
              <a:ext uri="{FF2B5EF4-FFF2-40B4-BE49-F238E27FC236}">
                <a16:creationId xmlns:a16="http://schemas.microsoft.com/office/drawing/2014/main" id="{0A622FE4-6EF2-39B3-A4E3-7A63E9F05E4E}"/>
              </a:ext>
            </a:extLst>
          </p:cNvPr>
          <p:cNvSpPr/>
          <p:nvPr/>
        </p:nvSpPr>
        <p:spPr>
          <a:xfrm>
            <a:off x="12204363" y="1858298"/>
            <a:ext cx="1822001" cy="4608056"/>
          </a:xfrm>
          <a:prstGeom prst="rect">
            <a:avLst/>
          </a:prstGeom>
          <a:solidFill>
            <a:srgbClr val="28282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Parallelogram 51">
            <a:extLst>
              <a:ext uri="{FF2B5EF4-FFF2-40B4-BE49-F238E27FC236}">
                <a16:creationId xmlns:a16="http://schemas.microsoft.com/office/drawing/2014/main" id="{E867DD91-5365-FF1A-0677-05677DE3B050}"/>
              </a:ext>
            </a:extLst>
          </p:cNvPr>
          <p:cNvSpPr/>
          <p:nvPr/>
        </p:nvSpPr>
        <p:spPr>
          <a:xfrm flipH="1">
            <a:off x="6515529" y="5274013"/>
            <a:ext cx="2425924" cy="383763"/>
          </a:xfrm>
          <a:prstGeom prst="parallelogram">
            <a:avLst>
              <a:gd name="adj" fmla="val 18429"/>
            </a:avLst>
          </a:prstGeom>
          <a:solidFill>
            <a:srgbClr val="ED7D3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b="1" dirty="0"/>
          </a:p>
        </p:txBody>
      </p:sp>
      <p:sp>
        <p:nvSpPr>
          <p:cNvPr id="51" name="TextBox 50">
            <a:extLst>
              <a:ext uri="{FF2B5EF4-FFF2-40B4-BE49-F238E27FC236}">
                <a16:creationId xmlns:a16="http://schemas.microsoft.com/office/drawing/2014/main" id="{E343B3FF-6691-D7B4-9E6E-4A1FB32A994A}"/>
              </a:ext>
            </a:extLst>
          </p:cNvPr>
          <p:cNvSpPr txBox="1"/>
          <p:nvPr/>
        </p:nvSpPr>
        <p:spPr>
          <a:xfrm>
            <a:off x="6593633" y="5226889"/>
            <a:ext cx="2081541" cy="430887"/>
          </a:xfrm>
          <a:prstGeom prst="rect">
            <a:avLst/>
          </a:prstGeom>
          <a:noFill/>
        </p:spPr>
        <p:txBody>
          <a:bodyPr wrap="square" rtlCol="0">
            <a:spAutoFit/>
          </a:bodyPr>
          <a:lstStyle/>
          <a:p>
            <a:r>
              <a:rPr lang="en-US" sz="1100" b="1" i="1" dirty="0">
                <a:solidFill>
                  <a:schemeClr val="bg1"/>
                </a:solidFill>
              </a:rPr>
              <a:t>Practice</a:t>
            </a:r>
            <a:r>
              <a:rPr lang="en-US" sz="1100" dirty="0">
                <a:solidFill>
                  <a:schemeClr val="bg1"/>
                </a:solidFill>
              </a:rPr>
              <a:t> using </a:t>
            </a:r>
            <a:r>
              <a:rPr lang="en-US" sz="1100" u="sng" dirty="0">
                <a:solidFill>
                  <a:schemeClr val="bg1"/>
                </a:solidFill>
              </a:rPr>
              <a:t>AI</a:t>
            </a:r>
            <a:r>
              <a:rPr lang="en-US" sz="1100" dirty="0">
                <a:solidFill>
                  <a:schemeClr val="bg1"/>
                </a:solidFill>
              </a:rPr>
              <a:t> to </a:t>
            </a:r>
            <a:br>
              <a:rPr lang="en-US" sz="1100" dirty="0">
                <a:solidFill>
                  <a:schemeClr val="bg1"/>
                </a:solidFill>
              </a:rPr>
            </a:br>
            <a:r>
              <a:rPr lang="en-US" sz="1100" dirty="0">
                <a:solidFill>
                  <a:schemeClr val="bg1"/>
                </a:solidFill>
              </a:rPr>
              <a:t>launch the rocket…</a:t>
            </a:r>
          </a:p>
        </p:txBody>
      </p:sp>
    </p:spTree>
    <p:extLst>
      <p:ext uri="{BB962C8B-B14F-4D97-AF65-F5344CB8AC3E}">
        <p14:creationId xmlns:p14="http://schemas.microsoft.com/office/powerpoint/2010/main" val="64731303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F0013D-B815-B757-54A6-06A18623F012}"/>
            </a:ext>
          </a:extLst>
        </p:cNvPr>
        <p:cNvGrpSpPr/>
        <p:nvPr/>
      </p:nvGrpSpPr>
      <p:grpSpPr>
        <a:xfrm>
          <a:off x="0" y="0"/>
          <a:ext cx="0" cy="0"/>
          <a:chOff x="0" y="0"/>
          <a:chExt cx="0" cy="0"/>
        </a:xfrm>
      </p:grpSpPr>
      <p:sp>
        <p:nvSpPr>
          <p:cNvPr id="22" name="Google Shape;96;p2">
            <a:extLst>
              <a:ext uri="{FF2B5EF4-FFF2-40B4-BE49-F238E27FC236}">
                <a16:creationId xmlns:a16="http://schemas.microsoft.com/office/drawing/2014/main" id="{30FE3D89-F7F8-B66C-F095-173561CFE2D1}"/>
              </a:ext>
            </a:extLst>
          </p:cNvPr>
          <p:cNvSpPr txBox="1">
            <a:spLocks/>
          </p:cNvSpPr>
          <p:nvPr/>
        </p:nvSpPr>
        <p:spPr>
          <a:xfrm>
            <a:off x="838199" y="365125"/>
            <a:ext cx="8950569" cy="1325563"/>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lvl="0">
              <a:lnSpc>
                <a:spcPct val="90000"/>
              </a:lnSpc>
              <a:buSzPts val="4400"/>
              <a:defRPr/>
            </a:pPr>
            <a:r>
              <a:rPr lang="en-US" sz="4400" dirty="0">
                <a:latin typeface="Calibri" panose="020F0502020204030204" pitchFamily="34" charset="0"/>
                <a:cs typeface="Calibri" panose="020F0502020204030204" pitchFamily="34" charset="0"/>
              </a:rPr>
              <a:t>Using the AccelRR8 Framework</a:t>
            </a:r>
            <a:br>
              <a:rPr lang="en-US" sz="4400" dirty="0">
                <a:latin typeface="Calibri" panose="020F0502020204030204" pitchFamily="34" charset="0"/>
                <a:cs typeface="Calibri" panose="020F0502020204030204" pitchFamily="34" charset="0"/>
              </a:rPr>
            </a:br>
            <a:r>
              <a:rPr lang="en-US" sz="4400" dirty="0">
                <a:latin typeface="Calibri" panose="020F0502020204030204" pitchFamily="34" charset="0"/>
                <a:cs typeface="Calibri" panose="020F0502020204030204" pitchFamily="34" charset="0"/>
              </a:rPr>
              <a:t>to grow value exponentially</a:t>
            </a:r>
          </a:p>
        </p:txBody>
      </p:sp>
      <p:pic>
        <p:nvPicPr>
          <p:cNvPr id="6" name="Picture 5">
            <a:extLst>
              <a:ext uri="{FF2B5EF4-FFF2-40B4-BE49-F238E27FC236}">
                <a16:creationId xmlns:a16="http://schemas.microsoft.com/office/drawing/2014/main" id="{DE3CDFE0-63C6-F409-ED56-0B1EE129D5B1}"/>
              </a:ext>
            </a:extLst>
          </p:cNvPr>
          <p:cNvPicPr>
            <a:picLocks noChangeAspect="1"/>
          </p:cNvPicPr>
          <p:nvPr/>
        </p:nvPicPr>
        <p:blipFill>
          <a:blip r:embed="rId3"/>
          <a:stretch>
            <a:fillRect/>
          </a:stretch>
        </p:blipFill>
        <p:spPr>
          <a:xfrm>
            <a:off x="450194" y="2587051"/>
            <a:ext cx="4757057" cy="2565080"/>
          </a:xfrm>
          <a:prstGeom prst="rect">
            <a:avLst/>
          </a:prstGeom>
        </p:spPr>
      </p:pic>
      <p:graphicFrame>
        <p:nvGraphicFramePr>
          <p:cNvPr id="15" name="Table 14">
            <a:extLst>
              <a:ext uri="{FF2B5EF4-FFF2-40B4-BE49-F238E27FC236}">
                <a16:creationId xmlns:a16="http://schemas.microsoft.com/office/drawing/2014/main" id="{E8F34CFA-1613-5C28-6592-F2405E33C0B1}"/>
              </a:ext>
            </a:extLst>
          </p:cNvPr>
          <p:cNvGraphicFramePr>
            <a:graphicFrameLocks noGrp="1"/>
          </p:cNvGraphicFramePr>
          <p:nvPr/>
        </p:nvGraphicFramePr>
        <p:xfrm>
          <a:off x="5919435" y="2031814"/>
          <a:ext cx="5767164" cy="3779615"/>
        </p:xfrm>
        <a:graphic>
          <a:graphicData uri="http://schemas.openxmlformats.org/drawingml/2006/table">
            <a:tbl>
              <a:tblPr firstRow="1" bandRow="1">
                <a:tableStyleId>{5940675A-B579-460E-94D1-54222C63F5DA}</a:tableStyleId>
              </a:tblPr>
              <a:tblGrid>
                <a:gridCol w="5767164">
                  <a:extLst>
                    <a:ext uri="{9D8B030D-6E8A-4147-A177-3AD203B41FA5}">
                      <a16:colId xmlns:a16="http://schemas.microsoft.com/office/drawing/2014/main" val="20127695"/>
                    </a:ext>
                  </a:extLst>
                </a:gridCol>
              </a:tblGrid>
              <a:tr h="1000635">
                <a:tc>
                  <a:txBody>
                    <a:bodyPr/>
                    <a:lstStyle/>
                    <a:p>
                      <a:pPr marL="285750" marR="0" lvl="0" indent="-285750" algn="l" defTabSz="914400" rtl="0" eaLnBrk="1" fontAlgn="auto" latinLnBrk="0" hangingPunct="1">
                        <a:lnSpc>
                          <a:spcPct val="100000"/>
                        </a:lnSpc>
                        <a:spcBef>
                          <a:spcPts val="0"/>
                        </a:spcBef>
                        <a:spcAft>
                          <a:spcPts val="0"/>
                        </a:spcAft>
                        <a:buClr>
                          <a:srgbClr val="000000"/>
                        </a:buClr>
                        <a:buSzTx/>
                        <a:buFont typeface="Wingdings" pitchFamily="2" charset="2"/>
                        <a:buChar char="q"/>
                        <a:tabLst/>
                        <a:defRPr/>
                      </a:pPr>
                      <a:endParaRPr kumimoji="0" lang="en-US" sz="1400" i="0" u="none" strike="noStrike" kern="1200" cap="none" spc="0" normalizeH="0" baseline="0" noProof="0" dirty="0">
                        <a:ln>
                          <a:noFill/>
                        </a:ln>
                        <a:solidFill>
                          <a:schemeClr val="tx1"/>
                        </a:solidFill>
                        <a:effectLst/>
                        <a:uLnTx/>
                        <a:uFillTx/>
                        <a:latin typeface="Aptos" panose="02110004020202020204"/>
                        <a:ea typeface="+mn-ea"/>
                        <a:cs typeface="Arial"/>
                        <a:sym typeface="Arial"/>
                      </a:endParaRPr>
                    </a:p>
                  </a:txBody>
                  <a:tcPr anchor="ctr">
                    <a:lnL w="12700" cap="flat" cmpd="sng" algn="ctr">
                      <a:no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872717509"/>
                  </a:ext>
                </a:extLst>
              </a:tr>
              <a:tr h="723122">
                <a:tc>
                  <a:txBody>
                    <a:bodyPr/>
                    <a:lstStyle/>
                    <a:p>
                      <a:pPr marL="285750" marR="0" lvl="0" indent="-285750" algn="l" defTabSz="914400" rtl="0" eaLnBrk="1" fontAlgn="auto" latinLnBrk="0" hangingPunct="1">
                        <a:lnSpc>
                          <a:spcPct val="100000"/>
                        </a:lnSpc>
                        <a:spcBef>
                          <a:spcPts val="0"/>
                        </a:spcBef>
                        <a:spcAft>
                          <a:spcPts val="0"/>
                        </a:spcAft>
                        <a:buClr>
                          <a:srgbClr val="000000"/>
                        </a:buClr>
                        <a:buSzTx/>
                        <a:buFont typeface="Wingdings" pitchFamily="2" charset="2"/>
                        <a:buChar char="q"/>
                        <a:tabLst/>
                        <a:defRPr/>
                      </a:pPr>
                      <a:endParaRPr kumimoji="0" lang="en-US" sz="1400" i="0" u="none" strike="noStrike" kern="1200" cap="none" spc="0" normalizeH="0" baseline="0" noProof="0" dirty="0">
                        <a:ln>
                          <a:noFill/>
                        </a:ln>
                        <a:solidFill>
                          <a:schemeClr val="tx1"/>
                        </a:solidFill>
                        <a:effectLst/>
                        <a:uLnTx/>
                        <a:uFillTx/>
                        <a:latin typeface="Aptos" panose="02110004020202020204"/>
                        <a:ea typeface="+mn-ea"/>
                        <a:cs typeface="Arial"/>
                        <a:sym typeface="Arial"/>
                      </a:endParaRPr>
                    </a:p>
                  </a:txBody>
                  <a:tcPr anchor="ctr">
                    <a:lnL w="12700" cap="flat" cmpd="sng" algn="ctr">
                      <a:no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089640372"/>
                  </a:ext>
                </a:extLst>
              </a:tr>
              <a:tr h="709666">
                <a:tc>
                  <a:txBody>
                    <a:bodyPr/>
                    <a:lstStyle/>
                    <a:p>
                      <a:pPr marL="285750" indent="-285750">
                        <a:buFont typeface="Wingdings" pitchFamily="2" charset="2"/>
                        <a:buChar char="q"/>
                        <a:tabLst/>
                      </a:pPr>
                      <a:endParaRPr lang="en-US" dirty="0">
                        <a:solidFill>
                          <a:schemeClr val="tx1"/>
                        </a:solidFill>
                      </a:endParaRPr>
                    </a:p>
                  </a:txBody>
                  <a:tcPr anchor="ctr">
                    <a:lnL w="12700" cap="flat" cmpd="sng" algn="ctr">
                      <a:no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047728929"/>
                  </a:ext>
                </a:extLst>
              </a:tr>
              <a:tr h="683579">
                <a:tc>
                  <a:txBody>
                    <a:bodyPr/>
                    <a:lstStyle/>
                    <a:p>
                      <a:pPr marL="285750" indent="-285750">
                        <a:buFont typeface="Wingdings" pitchFamily="2" charset="2"/>
                        <a:buChar char="q"/>
                        <a:tabLst/>
                      </a:pPr>
                      <a:endParaRPr lang="en-US" dirty="0">
                        <a:solidFill>
                          <a:schemeClr val="tx1"/>
                        </a:solidFill>
                      </a:endParaRPr>
                    </a:p>
                  </a:txBody>
                  <a:tcPr anchor="ctr">
                    <a:lnL w="12700" cap="flat" cmpd="sng" algn="ctr">
                      <a:no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321847728"/>
                  </a:ext>
                </a:extLst>
              </a:tr>
              <a:tr h="662613">
                <a:tc>
                  <a:txBody>
                    <a:bodyPr/>
                    <a:lstStyle/>
                    <a:p>
                      <a:pPr marL="285750" indent="-285750">
                        <a:buFont typeface="Wingdings" pitchFamily="2" charset="2"/>
                        <a:buChar char="q"/>
                        <a:tabLst/>
                      </a:pPr>
                      <a:endParaRPr lang="en-US" dirty="0">
                        <a:solidFill>
                          <a:schemeClr val="tx1"/>
                        </a:solidFill>
                      </a:endParaRPr>
                    </a:p>
                  </a:txBody>
                  <a:tcPr anchor="ctr">
                    <a:lnL w="12700" cap="flat" cmpd="sng" algn="ctr">
                      <a:no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735022269"/>
                  </a:ext>
                </a:extLst>
              </a:tr>
            </a:tbl>
          </a:graphicData>
        </a:graphic>
      </p:graphicFrame>
      <p:cxnSp>
        <p:nvCxnSpPr>
          <p:cNvPr id="33" name="Straight Connector 32">
            <a:extLst>
              <a:ext uri="{FF2B5EF4-FFF2-40B4-BE49-F238E27FC236}">
                <a16:creationId xmlns:a16="http://schemas.microsoft.com/office/drawing/2014/main" id="{1A799712-90E6-8CD7-DD8C-BA40AE6F4A4F}"/>
              </a:ext>
            </a:extLst>
          </p:cNvPr>
          <p:cNvCxnSpPr>
            <a:cxnSpLocks/>
          </p:cNvCxnSpPr>
          <p:nvPr/>
        </p:nvCxnSpPr>
        <p:spPr>
          <a:xfrm flipV="1">
            <a:off x="5110587" y="2030795"/>
            <a:ext cx="805107" cy="99927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39492A9E-5F13-F7C1-3BEC-E979E9E7AB50}"/>
              </a:ext>
            </a:extLst>
          </p:cNvPr>
          <p:cNvCxnSpPr>
            <a:cxnSpLocks/>
          </p:cNvCxnSpPr>
          <p:nvPr/>
        </p:nvCxnSpPr>
        <p:spPr>
          <a:xfrm flipV="1">
            <a:off x="5110587" y="3030070"/>
            <a:ext cx="805107" cy="37795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E9E17A34-8F50-7DAC-D8DF-E0D5E7CCF4BC}"/>
              </a:ext>
            </a:extLst>
          </p:cNvPr>
          <p:cNvCxnSpPr>
            <a:cxnSpLocks/>
          </p:cNvCxnSpPr>
          <p:nvPr/>
        </p:nvCxnSpPr>
        <p:spPr>
          <a:xfrm>
            <a:off x="5110587" y="3757977"/>
            <a:ext cx="805106"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FA63DCA6-24AC-CD79-6459-B6AECF884E5A}"/>
              </a:ext>
            </a:extLst>
          </p:cNvPr>
          <p:cNvCxnSpPr>
            <a:cxnSpLocks/>
          </p:cNvCxnSpPr>
          <p:nvPr/>
        </p:nvCxnSpPr>
        <p:spPr>
          <a:xfrm>
            <a:off x="5110587" y="4119222"/>
            <a:ext cx="805107" cy="34679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3BE003F2-02B9-0F27-8D28-6880B25044FA}"/>
              </a:ext>
            </a:extLst>
          </p:cNvPr>
          <p:cNvCxnSpPr>
            <a:cxnSpLocks/>
          </p:cNvCxnSpPr>
          <p:nvPr/>
        </p:nvCxnSpPr>
        <p:spPr>
          <a:xfrm>
            <a:off x="5110587" y="4463533"/>
            <a:ext cx="805107" cy="68610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A4004319-8560-7C04-874D-ADC57E6C3A9B}"/>
              </a:ext>
            </a:extLst>
          </p:cNvPr>
          <p:cNvCxnSpPr>
            <a:cxnSpLocks/>
          </p:cNvCxnSpPr>
          <p:nvPr/>
        </p:nvCxnSpPr>
        <p:spPr>
          <a:xfrm>
            <a:off x="5110587" y="4830422"/>
            <a:ext cx="805107" cy="98118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5" name="Pentagon 4">
            <a:extLst>
              <a:ext uri="{FF2B5EF4-FFF2-40B4-BE49-F238E27FC236}">
                <a16:creationId xmlns:a16="http://schemas.microsoft.com/office/drawing/2014/main" id="{DE4F1CCE-58AE-4DAD-FCDA-F615DFB9322D}"/>
              </a:ext>
            </a:extLst>
          </p:cNvPr>
          <p:cNvSpPr/>
          <p:nvPr/>
        </p:nvSpPr>
        <p:spPr>
          <a:xfrm>
            <a:off x="5949052" y="3260284"/>
            <a:ext cx="1920240" cy="457200"/>
          </a:xfrm>
          <a:prstGeom prst="homePlate">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bg1"/>
                </a:solidFill>
              </a:rPr>
              <a:t>Who are the people involved?  Are they connected to one other?</a:t>
            </a:r>
          </a:p>
        </p:txBody>
      </p:sp>
      <p:sp>
        <p:nvSpPr>
          <p:cNvPr id="7" name="Pentagon 6">
            <a:extLst>
              <a:ext uri="{FF2B5EF4-FFF2-40B4-BE49-F238E27FC236}">
                <a16:creationId xmlns:a16="http://schemas.microsoft.com/office/drawing/2014/main" id="{131AFC22-972B-FAE4-6629-D5F70FD66069}"/>
              </a:ext>
            </a:extLst>
          </p:cNvPr>
          <p:cNvSpPr/>
          <p:nvPr/>
        </p:nvSpPr>
        <p:spPr>
          <a:xfrm>
            <a:off x="6225166" y="3976372"/>
            <a:ext cx="1828800" cy="457200"/>
          </a:xfrm>
          <a:prstGeom prst="homePlate">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bg1"/>
                </a:solidFill>
              </a:rPr>
              <a:t>Are they sharing viral </a:t>
            </a:r>
            <a:br>
              <a:rPr lang="en-US" sz="1000" dirty="0">
                <a:solidFill>
                  <a:schemeClr val="bg1"/>
                </a:solidFill>
              </a:rPr>
            </a:br>
            <a:r>
              <a:rPr lang="en-US" sz="1000" dirty="0">
                <a:solidFill>
                  <a:schemeClr val="bg1"/>
                </a:solidFill>
              </a:rPr>
              <a:t>ideas with one another?</a:t>
            </a:r>
          </a:p>
        </p:txBody>
      </p:sp>
      <p:sp>
        <p:nvSpPr>
          <p:cNvPr id="9" name="Pentagon 8">
            <a:extLst>
              <a:ext uri="{FF2B5EF4-FFF2-40B4-BE49-F238E27FC236}">
                <a16:creationId xmlns:a16="http://schemas.microsoft.com/office/drawing/2014/main" id="{828E8761-9558-DDE6-0114-D78DE6D54376}"/>
              </a:ext>
            </a:extLst>
          </p:cNvPr>
          <p:cNvSpPr/>
          <p:nvPr/>
        </p:nvSpPr>
        <p:spPr>
          <a:xfrm>
            <a:off x="8689531" y="2589535"/>
            <a:ext cx="2286000" cy="372545"/>
          </a:xfrm>
          <a:prstGeom prst="homePlate">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bg1"/>
                </a:solidFill>
              </a:rPr>
              <a:t>Are they innovating continuously?</a:t>
            </a:r>
          </a:p>
        </p:txBody>
      </p:sp>
      <p:sp>
        <p:nvSpPr>
          <p:cNvPr id="13" name="Pentagon 12">
            <a:extLst>
              <a:ext uri="{FF2B5EF4-FFF2-40B4-BE49-F238E27FC236}">
                <a16:creationId xmlns:a16="http://schemas.microsoft.com/office/drawing/2014/main" id="{28815D89-3920-646E-51D0-6F08A6FBD6A5}"/>
              </a:ext>
            </a:extLst>
          </p:cNvPr>
          <p:cNvSpPr/>
          <p:nvPr/>
        </p:nvSpPr>
        <p:spPr>
          <a:xfrm>
            <a:off x="9250713" y="3260285"/>
            <a:ext cx="1828800" cy="445707"/>
          </a:xfrm>
          <a:prstGeom prst="homePlate">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Are others jumping </a:t>
            </a:r>
            <a:br>
              <a:rPr lang="en-US" sz="1000" dirty="0">
                <a:solidFill>
                  <a:schemeClr val="tx1"/>
                </a:solidFill>
              </a:rPr>
            </a:br>
            <a:r>
              <a:rPr lang="en-US" sz="1000" dirty="0">
                <a:solidFill>
                  <a:schemeClr val="tx1"/>
                </a:solidFill>
              </a:rPr>
              <a:t>on the bandwagon?</a:t>
            </a:r>
          </a:p>
        </p:txBody>
      </p:sp>
      <p:sp>
        <p:nvSpPr>
          <p:cNvPr id="14" name="Pentagon 13">
            <a:extLst>
              <a:ext uri="{FF2B5EF4-FFF2-40B4-BE49-F238E27FC236}">
                <a16:creationId xmlns:a16="http://schemas.microsoft.com/office/drawing/2014/main" id="{F9892BE5-510B-E723-5EC2-2A92A3987FF8}"/>
              </a:ext>
            </a:extLst>
          </p:cNvPr>
          <p:cNvSpPr/>
          <p:nvPr/>
        </p:nvSpPr>
        <p:spPr>
          <a:xfrm>
            <a:off x="8942075" y="3976372"/>
            <a:ext cx="1938767" cy="457200"/>
          </a:xfrm>
          <a:prstGeom prst="homePlate">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Are they sharing their innovations?</a:t>
            </a:r>
          </a:p>
        </p:txBody>
      </p:sp>
      <p:sp>
        <p:nvSpPr>
          <p:cNvPr id="20" name="TextBox 19">
            <a:extLst>
              <a:ext uri="{FF2B5EF4-FFF2-40B4-BE49-F238E27FC236}">
                <a16:creationId xmlns:a16="http://schemas.microsoft.com/office/drawing/2014/main" id="{961FB910-67A6-3BE3-E323-CFA45084280B}"/>
              </a:ext>
            </a:extLst>
          </p:cNvPr>
          <p:cNvSpPr txBox="1"/>
          <p:nvPr/>
        </p:nvSpPr>
        <p:spPr>
          <a:xfrm>
            <a:off x="5797774" y="1701998"/>
            <a:ext cx="6129162" cy="307777"/>
          </a:xfrm>
          <a:prstGeom prst="rect">
            <a:avLst/>
          </a:prstGeom>
          <a:noFill/>
        </p:spPr>
        <p:txBody>
          <a:bodyPr wrap="square">
            <a:spAutoFit/>
          </a:bodyPr>
          <a:lstStyle/>
          <a:p>
            <a:pPr algn="ctr"/>
            <a:r>
              <a:rPr kumimoji="0" lang="en-US" sz="1400" b="1" i="0" u="none" strike="noStrike" kern="1200" cap="none" spc="0" normalizeH="0" baseline="0" noProof="0" dirty="0">
                <a:ln>
                  <a:noFill/>
                </a:ln>
                <a:solidFill>
                  <a:schemeClr val="tx1"/>
                </a:solidFill>
                <a:effectLst/>
                <a:uLnTx/>
                <a:uFillTx/>
                <a:latin typeface="Aptos" panose="02110004020202020204"/>
                <a:ea typeface="+mn-ea"/>
                <a:cs typeface="Arial"/>
                <a:sym typeface="Arial"/>
              </a:rPr>
              <a:t>Growing a change initiative’s value exponentially</a:t>
            </a:r>
            <a:endParaRPr lang="en-US" dirty="0">
              <a:solidFill>
                <a:schemeClr val="tx1"/>
              </a:solidFill>
            </a:endParaRPr>
          </a:p>
        </p:txBody>
      </p:sp>
      <p:sp>
        <p:nvSpPr>
          <p:cNvPr id="23" name="Pentagon 22">
            <a:extLst>
              <a:ext uri="{FF2B5EF4-FFF2-40B4-BE49-F238E27FC236}">
                <a16:creationId xmlns:a16="http://schemas.microsoft.com/office/drawing/2014/main" id="{B50C03DD-D7DC-11D9-496A-2F5A0E924307}"/>
              </a:ext>
            </a:extLst>
          </p:cNvPr>
          <p:cNvSpPr/>
          <p:nvPr/>
        </p:nvSpPr>
        <p:spPr>
          <a:xfrm>
            <a:off x="5915693" y="5909615"/>
            <a:ext cx="5212080" cy="164592"/>
          </a:xfrm>
          <a:prstGeom prst="homePlat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bg1"/>
                </a:solidFill>
              </a:rPr>
              <a:t>Launch:  build credibility and momentum</a:t>
            </a:r>
          </a:p>
        </p:txBody>
      </p:sp>
      <p:sp>
        <p:nvSpPr>
          <p:cNvPr id="24" name="Pentagon 23">
            <a:extLst>
              <a:ext uri="{FF2B5EF4-FFF2-40B4-BE49-F238E27FC236}">
                <a16:creationId xmlns:a16="http://schemas.microsoft.com/office/drawing/2014/main" id="{4895E082-C5C9-F20C-887E-4A759FEE16EF}"/>
              </a:ext>
            </a:extLst>
          </p:cNvPr>
          <p:cNvSpPr/>
          <p:nvPr/>
        </p:nvSpPr>
        <p:spPr>
          <a:xfrm>
            <a:off x="8942075" y="6134999"/>
            <a:ext cx="2843784" cy="164592"/>
          </a:xfrm>
          <a:prstGeom prst="homePlat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bg1"/>
                </a:solidFill>
              </a:rPr>
              <a:t>Climb / Scale:  create a virtuous cycle</a:t>
            </a:r>
          </a:p>
        </p:txBody>
      </p:sp>
      <p:sp>
        <p:nvSpPr>
          <p:cNvPr id="11" name="Triangle 10">
            <a:extLst>
              <a:ext uri="{FF2B5EF4-FFF2-40B4-BE49-F238E27FC236}">
                <a16:creationId xmlns:a16="http://schemas.microsoft.com/office/drawing/2014/main" id="{32710456-4721-EDB0-FE42-92D575238A2F}"/>
              </a:ext>
            </a:extLst>
          </p:cNvPr>
          <p:cNvSpPr/>
          <p:nvPr/>
        </p:nvSpPr>
        <p:spPr>
          <a:xfrm rot="551475">
            <a:off x="8122337" y="2579161"/>
            <a:ext cx="755979" cy="2526546"/>
          </a:xfrm>
          <a:prstGeom prst="triangle">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7" name="Triangle 16">
            <a:extLst>
              <a:ext uri="{FF2B5EF4-FFF2-40B4-BE49-F238E27FC236}">
                <a16:creationId xmlns:a16="http://schemas.microsoft.com/office/drawing/2014/main" id="{CCD00273-5D9E-F312-3CC9-BE56C84B367E}"/>
              </a:ext>
            </a:extLst>
          </p:cNvPr>
          <p:cNvSpPr/>
          <p:nvPr/>
        </p:nvSpPr>
        <p:spPr>
          <a:xfrm rot="551475">
            <a:off x="10906527" y="2579161"/>
            <a:ext cx="755979" cy="2526546"/>
          </a:xfrm>
          <a:prstGeom prst="triangle">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8" name="Pentagon 7">
            <a:extLst>
              <a:ext uri="{FF2B5EF4-FFF2-40B4-BE49-F238E27FC236}">
                <a16:creationId xmlns:a16="http://schemas.microsoft.com/office/drawing/2014/main" id="{66F10767-7111-A6CE-E349-C4A8E60A5282}"/>
              </a:ext>
            </a:extLst>
          </p:cNvPr>
          <p:cNvSpPr/>
          <p:nvPr/>
        </p:nvSpPr>
        <p:spPr>
          <a:xfrm>
            <a:off x="6561349" y="4555278"/>
            <a:ext cx="2103120" cy="1204475"/>
          </a:xfrm>
          <a:prstGeom prst="homePlate">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bg1"/>
                </a:solidFill>
              </a:rPr>
              <a:t>Are they forming teams?  </a:t>
            </a:r>
            <a:br>
              <a:rPr lang="en-US" sz="1000" dirty="0">
                <a:solidFill>
                  <a:schemeClr val="bg1"/>
                </a:solidFill>
              </a:rPr>
            </a:br>
            <a:r>
              <a:rPr lang="en-US" sz="1000" dirty="0">
                <a:solidFill>
                  <a:schemeClr val="bg1"/>
                </a:solidFill>
              </a:rPr>
              <a:t>Are they learning together?  Are they using AI?</a:t>
            </a:r>
          </a:p>
        </p:txBody>
      </p:sp>
      <p:sp>
        <p:nvSpPr>
          <p:cNvPr id="16" name="Pentagon 15">
            <a:extLst>
              <a:ext uri="{FF2B5EF4-FFF2-40B4-BE49-F238E27FC236}">
                <a16:creationId xmlns:a16="http://schemas.microsoft.com/office/drawing/2014/main" id="{F19E3B36-3B8C-DDD9-47E3-A79EA19D7310}"/>
              </a:ext>
            </a:extLst>
          </p:cNvPr>
          <p:cNvSpPr/>
          <p:nvPr/>
        </p:nvSpPr>
        <p:spPr>
          <a:xfrm>
            <a:off x="9507280" y="4538111"/>
            <a:ext cx="1938767" cy="1221642"/>
          </a:xfrm>
          <a:prstGeom prst="homePlate">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Are investors opening their wallets to fund</a:t>
            </a:r>
            <a:br>
              <a:rPr lang="en-US" sz="1000" dirty="0">
                <a:solidFill>
                  <a:schemeClr val="tx1"/>
                </a:solidFill>
              </a:rPr>
            </a:br>
            <a:r>
              <a:rPr lang="en-US" sz="1000" dirty="0">
                <a:solidFill>
                  <a:schemeClr val="tx1"/>
                </a:solidFill>
              </a:rPr>
              <a:t>more agile teams, AI, </a:t>
            </a:r>
            <a:br>
              <a:rPr lang="en-US" sz="1000" dirty="0">
                <a:solidFill>
                  <a:schemeClr val="tx1"/>
                </a:solidFill>
              </a:rPr>
            </a:br>
            <a:r>
              <a:rPr lang="en-US" sz="1000" dirty="0">
                <a:solidFill>
                  <a:schemeClr val="tx1"/>
                </a:solidFill>
              </a:rPr>
              <a:t>and innovation?</a:t>
            </a:r>
          </a:p>
        </p:txBody>
      </p:sp>
      <p:sp>
        <p:nvSpPr>
          <p:cNvPr id="21" name="Rectangle 20">
            <a:extLst>
              <a:ext uri="{FF2B5EF4-FFF2-40B4-BE49-F238E27FC236}">
                <a16:creationId xmlns:a16="http://schemas.microsoft.com/office/drawing/2014/main" id="{176D7176-24E9-75F4-27E9-D8780AE13ABA}"/>
              </a:ext>
            </a:extLst>
          </p:cNvPr>
          <p:cNvSpPr/>
          <p:nvPr/>
        </p:nvSpPr>
        <p:spPr>
          <a:xfrm>
            <a:off x="11477426" y="2576656"/>
            <a:ext cx="209173" cy="374904"/>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58" name="Oval 57">
            <a:extLst>
              <a:ext uri="{FF2B5EF4-FFF2-40B4-BE49-F238E27FC236}">
                <a16:creationId xmlns:a16="http://schemas.microsoft.com/office/drawing/2014/main" id="{99AA4806-737B-7E6F-FFD5-9505E0E850D9}"/>
              </a:ext>
            </a:extLst>
          </p:cNvPr>
          <p:cNvSpPr/>
          <p:nvPr/>
        </p:nvSpPr>
        <p:spPr>
          <a:xfrm>
            <a:off x="5766244" y="3324855"/>
            <a:ext cx="281382" cy="281382"/>
          </a:xfrm>
          <a:prstGeom prst="ellipse">
            <a:avLst/>
          </a:prstGeom>
          <a:solidFill>
            <a:schemeClr val="bg1"/>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65" name="Oval 64">
            <a:extLst>
              <a:ext uri="{FF2B5EF4-FFF2-40B4-BE49-F238E27FC236}">
                <a16:creationId xmlns:a16="http://schemas.microsoft.com/office/drawing/2014/main" id="{DB885C33-D712-7565-CEB3-2821EBDFD038}"/>
              </a:ext>
            </a:extLst>
          </p:cNvPr>
          <p:cNvSpPr/>
          <p:nvPr/>
        </p:nvSpPr>
        <p:spPr>
          <a:xfrm>
            <a:off x="6069485" y="4033193"/>
            <a:ext cx="281382" cy="281382"/>
          </a:xfrm>
          <a:prstGeom prst="ellipse">
            <a:avLst/>
          </a:prstGeom>
          <a:solidFill>
            <a:schemeClr val="bg1"/>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66" name="Oval 65">
            <a:extLst>
              <a:ext uri="{FF2B5EF4-FFF2-40B4-BE49-F238E27FC236}">
                <a16:creationId xmlns:a16="http://schemas.microsoft.com/office/drawing/2014/main" id="{02A98C36-7EE7-FED6-3974-5F051689E4BE}"/>
              </a:ext>
            </a:extLst>
          </p:cNvPr>
          <p:cNvSpPr/>
          <p:nvPr/>
        </p:nvSpPr>
        <p:spPr>
          <a:xfrm>
            <a:off x="6412732" y="5021855"/>
            <a:ext cx="281382" cy="281382"/>
          </a:xfrm>
          <a:prstGeom prst="ellipse">
            <a:avLst/>
          </a:prstGeom>
          <a:solidFill>
            <a:schemeClr val="bg1"/>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67" name="Oval 66">
            <a:extLst>
              <a:ext uri="{FF2B5EF4-FFF2-40B4-BE49-F238E27FC236}">
                <a16:creationId xmlns:a16="http://schemas.microsoft.com/office/drawing/2014/main" id="{53704300-6786-4116-2513-B042A152C60B}"/>
              </a:ext>
            </a:extLst>
          </p:cNvPr>
          <p:cNvSpPr/>
          <p:nvPr/>
        </p:nvSpPr>
        <p:spPr>
          <a:xfrm>
            <a:off x="8783288" y="4046072"/>
            <a:ext cx="281382" cy="281382"/>
          </a:xfrm>
          <a:prstGeom prst="ellipse">
            <a:avLst/>
          </a:prstGeom>
          <a:solidFill>
            <a:schemeClr val="bg1"/>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68" name="Oval 67">
            <a:extLst>
              <a:ext uri="{FF2B5EF4-FFF2-40B4-BE49-F238E27FC236}">
                <a16:creationId xmlns:a16="http://schemas.microsoft.com/office/drawing/2014/main" id="{BD21A103-DF00-A6D7-9F9E-8F29DECF9B45}"/>
              </a:ext>
            </a:extLst>
          </p:cNvPr>
          <p:cNvSpPr/>
          <p:nvPr/>
        </p:nvSpPr>
        <p:spPr>
          <a:xfrm>
            <a:off x="9098485" y="3337734"/>
            <a:ext cx="281382" cy="281382"/>
          </a:xfrm>
          <a:prstGeom prst="ellipse">
            <a:avLst/>
          </a:prstGeom>
          <a:solidFill>
            <a:schemeClr val="bg1"/>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69" name="Oval 68">
            <a:extLst>
              <a:ext uri="{FF2B5EF4-FFF2-40B4-BE49-F238E27FC236}">
                <a16:creationId xmlns:a16="http://schemas.microsoft.com/office/drawing/2014/main" id="{D449E4D7-ACB7-7765-0378-16BE4C9CC8BF}"/>
              </a:ext>
            </a:extLst>
          </p:cNvPr>
          <p:cNvSpPr/>
          <p:nvPr/>
        </p:nvSpPr>
        <p:spPr>
          <a:xfrm>
            <a:off x="9346571" y="5021855"/>
            <a:ext cx="281382" cy="281382"/>
          </a:xfrm>
          <a:prstGeom prst="ellipse">
            <a:avLst/>
          </a:prstGeom>
          <a:solidFill>
            <a:schemeClr val="bg1"/>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2" name="Pentagon 1">
            <a:extLst>
              <a:ext uri="{FF2B5EF4-FFF2-40B4-BE49-F238E27FC236}">
                <a16:creationId xmlns:a16="http://schemas.microsoft.com/office/drawing/2014/main" id="{81B624C9-8835-22EB-0987-C03DF2E81CEF}"/>
              </a:ext>
            </a:extLst>
          </p:cNvPr>
          <p:cNvSpPr/>
          <p:nvPr/>
        </p:nvSpPr>
        <p:spPr>
          <a:xfrm>
            <a:off x="5919601" y="2127510"/>
            <a:ext cx="5852160" cy="164387"/>
          </a:xfrm>
          <a:prstGeom prst="homePlate">
            <a:avLst/>
          </a:prstGeom>
          <a:solidFill>
            <a:schemeClr val="bg1">
              <a:lumMod val="50000"/>
            </a:schemeClr>
          </a:solidFill>
          <a:ln w="12700">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bg1"/>
                </a:solidFill>
              </a:rPr>
              <a:t>Use LPM to guide the change initiative and ignite compounding innovation</a:t>
            </a:r>
          </a:p>
        </p:txBody>
      </p:sp>
      <p:sp>
        <p:nvSpPr>
          <p:cNvPr id="3" name="Pentagon 2">
            <a:extLst>
              <a:ext uri="{FF2B5EF4-FFF2-40B4-BE49-F238E27FC236}">
                <a16:creationId xmlns:a16="http://schemas.microsoft.com/office/drawing/2014/main" id="{18758E80-6D12-E6A0-1B46-98105E5ED0FC}"/>
              </a:ext>
            </a:extLst>
          </p:cNvPr>
          <p:cNvSpPr/>
          <p:nvPr/>
        </p:nvSpPr>
        <p:spPr>
          <a:xfrm>
            <a:off x="5949052" y="2576656"/>
            <a:ext cx="1920240" cy="389604"/>
          </a:xfrm>
          <a:prstGeom prst="homePlate">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bg1"/>
                </a:solidFill>
              </a:rPr>
              <a:t>Do the concepts </a:t>
            </a:r>
            <a:br>
              <a:rPr lang="en-US" sz="1000" dirty="0">
                <a:solidFill>
                  <a:schemeClr val="bg1"/>
                </a:solidFill>
              </a:rPr>
            </a:br>
            <a:r>
              <a:rPr lang="en-US" sz="1000" dirty="0">
                <a:solidFill>
                  <a:schemeClr val="bg1"/>
                </a:solidFill>
              </a:rPr>
              <a:t>resonate?</a:t>
            </a:r>
          </a:p>
        </p:txBody>
      </p:sp>
      <p:sp>
        <p:nvSpPr>
          <p:cNvPr id="4" name="Oval 3">
            <a:extLst>
              <a:ext uri="{FF2B5EF4-FFF2-40B4-BE49-F238E27FC236}">
                <a16:creationId xmlns:a16="http://schemas.microsoft.com/office/drawing/2014/main" id="{8A0B5021-449D-7CB1-4580-74506DDD01F7}"/>
              </a:ext>
            </a:extLst>
          </p:cNvPr>
          <p:cNvSpPr/>
          <p:nvPr/>
        </p:nvSpPr>
        <p:spPr>
          <a:xfrm>
            <a:off x="5766244" y="2641439"/>
            <a:ext cx="281382" cy="281382"/>
          </a:xfrm>
          <a:prstGeom prst="ellipse">
            <a:avLst/>
          </a:prstGeom>
          <a:solidFill>
            <a:schemeClr val="bg1"/>
          </a:solid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10" name="Rectangle 9">
            <a:extLst>
              <a:ext uri="{FF2B5EF4-FFF2-40B4-BE49-F238E27FC236}">
                <a16:creationId xmlns:a16="http://schemas.microsoft.com/office/drawing/2014/main" id="{E3BAD6BF-A97E-3057-F142-70326091D4F1}"/>
              </a:ext>
            </a:extLst>
          </p:cNvPr>
          <p:cNvSpPr/>
          <p:nvPr/>
        </p:nvSpPr>
        <p:spPr>
          <a:xfrm>
            <a:off x="6894576" y="5239229"/>
            <a:ext cx="1159390" cy="146587"/>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sz="1000" dirty="0">
                <a:solidFill>
                  <a:schemeClr val="bg1"/>
                </a:solidFill>
              </a:rPr>
              <a:t>Are they using AI?</a:t>
            </a:r>
            <a:endParaRPr lang="en-US" sz="1000" dirty="0"/>
          </a:p>
        </p:txBody>
      </p:sp>
      <p:pic>
        <p:nvPicPr>
          <p:cNvPr id="12" name="Picture 2">
            <a:extLst>
              <a:ext uri="{FF2B5EF4-FFF2-40B4-BE49-F238E27FC236}">
                <a16:creationId xmlns:a16="http://schemas.microsoft.com/office/drawing/2014/main" id="{E25EBF3B-8420-55B3-32E2-299269806A0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38199" y="1843589"/>
            <a:ext cx="1287166" cy="64995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35389885"/>
      </p:ext>
    </p:extLst>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62689</TotalTime>
  <Words>2078</Words>
  <Application>Microsoft Macintosh PowerPoint</Application>
  <PresentationFormat>Widescreen</PresentationFormat>
  <Paragraphs>242</Paragraphs>
  <Slides>12</Slides>
  <Notes>12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Aptos</vt:lpstr>
      <vt:lpstr>Arial</vt:lpstr>
      <vt:lpstr>Calibri</vt:lpstr>
      <vt:lpstr>Helvetica Neue</vt:lpstr>
      <vt:lpstr>Wingdings</vt:lpstr>
      <vt:lpstr>1_Office Theme</vt:lpstr>
      <vt:lpstr>  AccelRR8 Framework Grow Value Exponentially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Proposal for Digital Architect Consulting Services</dc:title>
  <dc:creator>Rich Reba</dc:creator>
  <cp:lastModifiedBy>Rich Reba</cp:lastModifiedBy>
  <cp:revision>138</cp:revision>
  <cp:lastPrinted>2025-10-26T03:25:25Z</cp:lastPrinted>
  <dcterms:created xsi:type="dcterms:W3CDTF">2023-08-22T19:09:59Z</dcterms:created>
  <dcterms:modified xsi:type="dcterms:W3CDTF">2026-08-06T20:18:37Z</dcterms:modified>
</cp:coreProperties>
</file>